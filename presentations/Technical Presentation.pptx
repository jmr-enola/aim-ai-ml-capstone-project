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68" r:id="rId2"/>
    <p:sldId id="257" r:id="rId3"/>
    <p:sldId id="258" r:id="rId4"/>
    <p:sldId id="259" r:id="rId5"/>
    <p:sldId id="260" r:id="rId6"/>
    <p:sldId id="261" r:id="rId7"/>
    <p:sldId id="269" r:id="rId8"/>
    <p:sldId id="262" r:id="rId9"/>
    <p:sldId id="263" r:id="rId10"/>
    <p:sldId id="264" r:id="rId11"/>
    <p:sldId id="265" r:id="rId12"/>
    <p:sldId id="266" r:id="rId13"/>
    <p:sldId id="267" r:id="rId14"/>
  </p:sldIdLst>
  <p:sldSz cx="17475200" cy="9753600"/>
  <p:notesSz cx="17475200" cy="9753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F2EC"/>
    <a:srgbClr val="9A542F"/>
    <a:srgbClr val="07243D"/>
    <a:srgbClr val="F2F3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6" d="100"/>
          <a:sy n="66" d="100"/>
        </p:scale>
        <p:origin x="384" y="2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572375" cy="488950"/>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9898063" y="0"/>
            <a:ext cx="7572375" cy="488950"/>
          </a:xfrm>
          <a:prstGeom prst="rect">
            <a:avLst/>
          </a:prstGeom>
        </p:spPr>
        <p:txBody>
          <a:bodyPr vert="horz" lIns="91440" tIns="45720" rIns="91440" bIns="45720" rtlCol="0"/>
          <a:lstStyle>
            <a:lvl1pPr algn="r">
              <a:defRPr sz="1200"/>
            </a:lvl1pPr>
          </a:lstStyle>
          <a:p>
            <a:fld id="{EDD625CB-B8D2-4A7E-B6A4-02CD233A53CB}" type="datetimeFigureOut">
              <a:rPr lang="en-PH" smtClean="0"/>
              <a:t>1/11/2026</a:t>
            </a:fld>
            <a:endParaRPr lang="en-PH"/>
          </a:p>
        </p:txBody>
      </p:sp>
      <p:sp>
        <p:nvSpPr>
          <p:cNvPr id="4" name="Slide Image Placeholder 3"/>
          <p:cNvSpPr>
            <a:spLocks noGrp="1" noRot="1" noChangeAspect="1"/>
          </p:cNvSpPr>
          <p:nvPr>
            <p:ph type="sldImg" idx="2"/>
          </p:nvPr>
        </p:nvSpPr>
        <p:spPr>
          <a:xfrm>
            <a:off x="5788025" y="1219200"/>
            <a:ext cx="5899150" cy="3292475"/>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1747838" y="4694238"/>
            <a:ext cx="13979525" cy="38401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9264650"/>
            <a:ext cx="7572375" cy="488950"/>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9898063" y="9264650"/>
            <a:ext cx="7572375" cy="488950"/>
          </a:xfrm>
          <a:prstGeom prst="rect">
            <a:avLst/>
          </a:prstGeom>
        </p:spPr>
        <p:txBody>
          <a:bodyPr vert="horz" lIns="91440" tIns="45720" rIns="91440" bIns="45720" rtlCol="0" anchor="b"/>
          <a:lstStyle>
            <a:lvl1pPr algn="r">
              <a:defRPr sz="1200"/>
            </a:lvl1pPr>
          </a:lstStyle>
          <a:p>
            <a:fld id="{665FC742-C81F-40B2-A4F7-F0B7BA682A7D}" type="slidenum">
              <a:rPr lang="en-PH" smtClean="0"/>
              <a:t>‹#›</a:t>
            </a:fld>
            <a:endParaRPr lang="en-PH"/>
          </a:p>
        </p:txBody>
      </p:sp>
    </p:spTree>
    <p:extLst>
      <p:ext uri="{BB962C8B-B14F-4D97-AF65-F5344CB8AC3E}">
        <p14:creationId xmlns:p14="http://schemas.microsoft.com/office/powerpoint/2010/main" val="2240755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a:p>
        </p:txBody>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665FC742-C81F-40B2-A4F7-F0B7BA682A7D}" type="slidenum">
              <a:rPr lang="en-PH" smtClean="0"/>
              <a:t>5</a:t>
            </a:fld>
            <a:endParaRPr lang="en-PH"/>
          </a:p>
        </p:txBody>
      </p:sp>
    </p:spTree>
    <p:extLst>
      <p:ext uri="{BB962C8B-B14F-4D97-AF65-F5344CB8AC3E}">
        <p14:creationId xmlns:p14="http://schemas.microsoft.com/office/powerpoint/2010/main" val="201851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a:p>
        </p:txBody>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665FC742-C81F-40B2-A4F7-F0B7BA682A7D}" type="slidenum">
              <a:rPr lang="en-PH" smtClean="0"/>
              <a:t>8</a:t>
            </a:fld>
            <a:endParaRPr lang="en-PH"/>
          </a:p>
        </p:txBody>
      </p:sp>
    </p:spTree>
    <p:extLst>
      <p:ext uri="{BB962C8B-B14F-4D97-AF65-F5344CB8AC3E}">
        <p14:creationId xmlns:p14="http://schemas.microsoft.com/office/powerpoint/2010/main" val="2291769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665FC742-C81F-40B2-A4F7-F0B7BA682A7D}" type="slidenum">
              <a:rPr lang="en-PH" smtClean="0"/>
              <a:t>10</a:t>
            </a:fld>
            <a:endParaRPr lang="en-PH"/>
          </a:p>
        </p:txBody>
      </p:sp>
    </p:spTree>
    <p:extLst>
      <p:ext uri="{BB962C8B-B14F-4D97-AF65-F5344CB8AC3E}">
        <p14:creationId xmlns:p14="http://schemas.microsoft.com/office/powerpoint/2010/main" val="10194874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jp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108700" y="5613400"/>
            <a:ext cx="4191000" cy="1536700"/>
          </a:xfrm>
          <a:prstGeom prst="rect">
            <a:avLst/>
          </a:prstGeom>
        </p:spPr>
      </p:pic>
      <p:pic>
        <p:nvPicPr>
          <p:cNvPr id="17" name="bg object 17"/>
          <p:cNvPicPr/>
          <p:nvPr/>
        </p:nvPicPr>
        <p:blipFill>
          <a:blip r:embed="rId3" cstate="print"/>
          <a:stretch>
            <a:fillRect/>
          </a:stretch>
        </p:blipFill>
        <p:spPr>
          <a:xfrm>
            <a:off x="11125200" y="4064000"/>
            <a:ext cx="508000" cy="520700"/>
          </a:xfrm>
          <a:prstGeom prst="rect">
            <a:avLst/>
          </a:prstGeom>
        </p:spPr>
      </p:pic>
      <p:pic>
        <p:nvPicPr>
          <p:cNvPr id="18" name="bg object 18"/>
          <p:cNvPicPr/>
          <p:nvPr/>
        </p:nvPicPr>
        <p:blipFill>
          <a:blip r:embed="rId4" cstate="print"/>
          <a:stretch>
            <a:fillRect/>
          </a:stretch>
        </p:blipFill>
        <p:spPr>
          <a:xfrm>
            <a:off x="5130800" y="1562100"/>
            <a:ext cx="1879600" cy="2324100"/>
          </a:xfrm>
          <a:prstGeom prst="rect">
            <a:avLst/>
          </a:prstGeom>
        </p:spPr>
      </p:pic>
      <p:pic>
        <p:nvPicPr>
          <p:cNvPr id="19" name="bg object 19"/>
          <p:cNvPicPr/>
          <p:nvPr/>
        </p:nvPicPr>
        <p:blipFill>
          <a:blip r:embed="rId5" cstate="print"/>
          <a:stretch>
            <a:fillRect/>
          </a:stretch>
        </p:blipFill>
        <p:spPr>
          <a:xfrm>
            <a:off x="7848600" y="1066800"/>
            <a:ext cx="4508500" cy="2819400"/>
          </a:xfrm>
          <a:prstGeom prst="rect">
            <a:avLst/>
          </a:prstGeom>
        </p:spPr>
      </p:pic>
      <p:sp>
        <p:nvSpPr>
          <p:cNvPr id="2" name="Holder 2"/>
          <p:cNvSpPr>
            <a:spLocks noGrp="1"/>
          </p:cNvSpPr>
          <p:nvPr>
            <p:ph type="ctrTitle"/>
          </p:nvPr>
        </p:nvSpPr>
        <p:spPr>
          <a:xfrm>
            <a:off x="1535043" y="3707694"/>
            <a:ext cx="14291310" cy="1907539"/>
          </a:xfrm>
          <a:prstGeom prst="rect">
            <a:avLst/>
          </a:prstGeom>
        </p:spPr>
        <p:txBody>
          <a:bodyPr wrap="square" lIns="0" tIns="0" rIns="0" bIns="0">
            <a:spAutoFit/>
          </a:bodyPr>
          <a:lstStyle>
            <a:lvl1pPr>
              <a:defRPr sz="4800" b="0" i="0">
                <a:solidFill>
                  <a:schemeClr val="tx1"/>
                </a:solidFill>
                <a:latin typeface="Cambria"/>
                <a:cs typeface="Cambria"/>
              </a:defRPr>
            </a:lvl1pPr>
          </a:lstStyle>
          <a:p>
            <a:endParaRPr/>
          </a:p>
        </p:txBody>
      </p:sp>
      <p:sp>
        <p:nvSpPr>
          <p:cNvPr id="3" name="Holder 3"/>
          <p:cNvSpPr>
            <a:spLocks noGrp="1"/>
          </p:cNvSpPr>
          <p:nvPr>
            <p:ph type="subTitle" idx="4"/>
          </p:nvPr>
        </p:nvSpPr>
        <p:spPr>
          <a:xfrm>
            <a:off x="2756586" y="7311319"/>
            <a:ext cx="11962026" cy="1120140"/>
          </a:xfrm>
          <a:prstGeom prst="rect">
            <a:avLst/>
          </a:prstGeom>
        </p:spPr>
        <p:txBody>
          <a:bodyPr wrap="square" lIns="0" tIns="0" rIns="0" bIns="0">
            <a:spAutoFit/>
          </a:bodyPr>
          <a:lstStyle>
            <a:lvl1pPr>
              <a:defRPr sz="255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tx1"/>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255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tx1"/>
                </a:solidFill>
                <a:latin typeface="Cambria"/>
                <a:cs typeface="Cambria"/>
              </a:defRPr>
            </a:lvl1pPr>
          </a:lstStyle>
          <a:p>
            <a:endParaRPr/>
          </a:p>
        </p:txBody>
      </p:sp>
      <p:sp>
        <p:nvSpPr>
          <p:cNvPr id="3" name="Holder 3"/>
          <p:cNvSpPr>
            <a:spLocks noGrp="1"/>
          </p:cNvSpPr>
          <p:nvPr>
            <p:ph sz="half" idx="2"/>
          </p:nvPr>
        </p:nvSpPr>
        <p:spPr>
          <a:xfrm>
            <a:off x="873760" y="2243328"/>
            <a:ext cx="7601712" cy="643737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76886" y="3728508"/>
            <a:ext cx="6442709" cy="5177155"/>
          </a:xfrm>
          <a:prstGeom prst="rect">
            <a:avLst/>
          </a:prstGeom>
        </p:spPr>
        <p:txBody>
          <a:bodyPr wrap="square" lIns="0" tIns="0" rIns="0" bIns="0">
            <a:spAutoFit/>
          </a:bodyPr>
          <a:lstStyle>
            <a:lvl1pPr>
              <a:defRPr sz="2350" b="0" i="0">
                <a:solidFill>
                  <a:schemeClr val="tx1"/>
                </a:solidFill>
                <a:latin typeface="Arial MT"/>
                <a:cs typeface="Arial MT"/>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tx1"/>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29684" y="337608"/>
            <a:ext cx="15672435" cy="755650"/>
          </a:xfrm>
          <a:prstGeom prst="rect">
            <a:avLst/>
          </a:prstGeom>
        </p:spPr>
        <p:txBody>
          <a:bodyPr wrap="square" lIns="0" tIns="0" rIns="0" bIns="0">
            <a:spAutoFit/>
          </a:bodyPr>
          <a:lstStyle>
            <a:lvl1pPr>
              <a:defRPr sz="4800" b="0" i="0">
                <a:solidFill>
                  <a:schemeClr val="tx1"/>
                </a:solidFill>
                <a:latin typeface="Cambria"/>
                <a:cs typeface="Cambria"/>
              </a:defRPr>
            </a:lvl1pPr>
          </a:lstStyle>
          <a:p>
            <a:endParaRPr/>
          </a:p>
        </p:txBody>
      </p:sp>
      <p:sp>
        <p:nvSpPr>
          <p:cNvPr id="3" name="Holder 3"/>
          <p:cNvSpPr>
            <a:spLocks noGrp="1"/>
          </p:cNvSpPr>
          <p:nvPr>
            <p:ph type="body" idx="1"/>
          </p:nvPr>
        </p:nvSpPr>
        <p:spPr>
          <a:xfrm>
            <a:off x="933194" y="1864430"/>
            <a:ext cx="15608810" cy="5034280"/>
          </a:xfrm>
          <a:prstGeom prst="rect">
            <a:avLst/>
          </a:prstGeom>
        </p:spPr>
        <p:txBody>
          <a:bodyPr wrap="square" lIns="0" tIns="0" rIns="0" bIns="0">
            <a:spAutoFit/>
          </a:bodyPr>
          <a:lstStyle>
            <a:lvl1pPr>
              <a:defRPr sz="255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5941568" y="9070848"/>
            <a:ext cx="5592064" cy="4876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873760" y="9070848"/>
            <a:ext cx="4019296" cy="4876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1/11/2026</a:t>
            </a:fld>
            <a:endParaRPr lang="en-US"/>
          </a:p>
        </p:txBody>
      </p:sp>
      <p:sp>
        <p:nvSpPr>
          <p:cNvPr id="6" name="Holder 6"/>
          <p:cNvSpPr>
            <a:spLocks noGrp="1"/>
          </p:cNvSpPr>
          <p:nvPr>
            <p:ph type="sldNum" sz="quarter" idx="7"/>
          </p:nvPr>
        </p:nvSpPr>
        <p:spPr>
          <a:xfrm>
            <a:off x="12582144" y="9070848"/>
            <a:ext cx="4019296" cy="4876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F2EC"/>
        </a:solidFill>
        <a:effectLst/>
      </p:bgPr>
    </p:bg>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52F77BAE-F72A-A6F3-2169-02047A95EE0C}"/>
              </a:ext>
            </a:extLst>
          </p:cNvPr>
          <p:cNvSpPr txBox="1">
            <a:spLocks/>
          </p:cNvSpPr>
          <p:nvPr/>
        </p:nvSpPr>
        <p:spPr>
          <a:xfrm>
            <a:off x="1535043" y="3120954"/>
            <a:ext cx="14291310" cy="2780889"/>
          </a:xfrm>
          <a:prstGeom prst="rect">
            <a:avLst/>
          </a:prstGeom>
        </p:spPr>
        <p:txBody>
          <a:bodyPr vert="horz" wrap="square" lIns="0" tIns="201295" rIns="0" bIns="0" rtlCol="0">
            <a:spAutoFit/>
          </a:bodyPr>
          <a:lstStyle>
            <a:lvl1pPr>
              <a:defRPr sz="4800" b="0" i="0">
                <a:solidFill>
                  <a:schemeClr val="tx1"/>
                </a:solidFill>
                <a:latin typeface="Cambria"/>
                <a:ea typeface="+mj-ea"/>
                <a:cs typeface="Cambria"/>
              </a:defRPr>
            </a:lvl1pPr>
          </a:lstStyle>
          <a:p>
            <a:pPr marR="5080" algn="ctr">
              <a:lnSpc>
                <a:spcPts val="6650"/>
              </a:lnSpc>
              <a:spcBef>
                <a:spcPts val="1585"/>
              </a:spcBef>
              <a:tabLst>
                <a:tab pos="10260965" algn="l"/>
              </a:tabLst>
            </a:pPr>
            <a:r>
              <a:rPr lang="en-US" sz="6800" b="1" spc="-25" dirty="0">
                <a:solidFill>
                  <a:srgbClr val="1D1D1D"/>
                </a:solidFill>
                <a:latin typeface="Times New Roman"/>
                <a:cs typeface="Times New Roman"/>
              </a:rPr>
              <a:t>Predicting</a:t>
            </a:r>
            <a:r>
              <a:rPr lang="en-US" sz="6800" b="1" spc="-355" dirty="0">
                <a:solidFill>
                  <a:srgbClr val="1D1D1D"/>
                </a:solidFill>
                <a:latin typeface="Times New Roman"/>
                <a:cs typeface="Times New Roman"/>
              </a:rPr>
              <a:t> </a:t>
            </a:r>
            <a:r>
              <a:rPr lang="en-US" sz="6800" b="1" dirty="0">
                <a:solidFill>
                  <a:srgbClr val="1C1C1C"/>
                </a:solidFill>
                <a:latin typeface="Times New Roman"/>
                <a:cs typeface="Times New Roman"/>
              </a:rPr>
              <a:t>Student</a:t>
            </a:r>
            <a:r>
              <a:rPr lang="en-US" sz="6800" b="1" spc="-310" dirty="0">
                <a:solidFill>
                  <a:srgbClr val="1C1C1C"/>
                </a:solidFill>
                <a:latin typeface="Times New Roman"/>
                <a:cs typeface="Times New Roman"/>
              </a:rPr>
              <a:t> </a:t>
            </a:r>
            <a:r>
              <a:rPr lang="en-US" sz="6800" b="1" spc="-10" dirty="0">
                <a:solidFill>
                  <a:srgbClr val="1A1A1A"/>
                </a:solidFill>
                <a:latin typeface="Times New Roman"/>
                <a:cs typeface="Times New Roman"/>
              </a:rPr>
              <a:t>Success: A </a:t>
            </a:r>
            <a:r>
              <a:rPr lang="en-US" sz="6800" b="1" spc="-220" dirty="0">
                <a:solidFill>
                  <a:srgbClr val="1C1C1C"/>
                </a:solidFill>
                <a:latin typeface="Times New Roman"/>
                <a:cs typeface="Times New Roman"/>
              </a:rPr>
              <a:t>Data </a:t>
            </a:r>
            <a:r>
              <a:rPr lang="en-US" sz="6800" b="1" spc="-225" dirty="0">
                <a:solidFill>
                  <a:srgbClr val="1C1C1C"/>
                </a:solidFill>
                <a:latin typeface="Times New Roman"/>
                <a:cs typeface="Times New Roman"/>
              </a:rPr>
              <a:t>Driven </a:t>
            </a:r>
            <a:r>
              <a:rPr lang="en-US" sz="6800" b="1" spc="-70" dirty="0">
                <a:solidFill>
                  <a:srgbClr val="1A1A1A"/>
                </a:solidFill>
                <a:latin typeface="Times New Roman"/>
                <a:cs typeface="Times New Roman"/>
              </a:rPr>
              <a:t>Approach</a:t>
            </a:r>
            <a:r>
              <a:rPr lang="en-US" sz="6800" b="1" spc="-315" dirty="0">
                <a:solidFill>
                  <a:srgbClr val="1A1A1A"/>
                </a:solidFill>
                <a:latin typeface="Times New Roman"/>
                <a:cs typeface="Times New Roman"/>
              </a:rPr>
              <a:t> </a:t>
            </a:r>
            <a:r>
              <a:rPr lang="en-US" sz="6800" b="1" spc="105" dirty="0">
                <a:solidFill>
                  <a:srgbClr val="1C1C1C"/>
                </a:solidFill>
                <a:latin typeface="Times New Roman"/>
                <a:cs typeface="Times New Roman"/>
              </a:rPr>
              <a:t>to</a:t>
            </a:r>
            <a:r>
              <a:rPr lang="en-US" sz="6800" b="1" spc="-610" dirty="0">
                <a:solidFill>
                  <a:srgbClr val="1C1C1C"/>
                </a:solidFill>
                <a:latin typeface="Times New Roman"/>
                <a:cs typeface="Times New Roman"/>
              </a:rPr>
              <a:t> </a:t>
            </a:r>
            <a:r>
              <a:rPr lang="en-US" sz="6800" b="1" spc="-45" dirty="0">
                <a:solidFill>
                  <a:srgbClr val="1D1D1D"/>
                </a:solidFill>
                <a:latin typeface="Times New Roman"/>
                <a:cs typeface="Times New Roman"/>
              </a:rPr>
              <a:t>Improving</a:t>
            </a:r>
            <a:r>
              <a:rPr lang="en-US" sz="6800" b="1" spc="-350" dirty="0">
                <a:solidFill>
                  <a:srgbClr val="1D1D1D"/>
                </a:solidFill>
                <a:latin typeface="Times New Roman"/>
                <a:cs typeface="Times New Roman"/>
              </a:rPr>
              <a:t> </a:t>
            </a:r>
            <a:r>
              <a:rPr lang="en-US" sz="6800" b="1" spc="-10" dirty="0">
                <a:solidFill>
                  <a:srgbClr val="1C1C1C"/>
                </a:solidFill>
                <a:latin typeface="Times New Roman"/>
                <a:cs typeface="Times New Roman"/>
              </a:rPr>
              <a:t>Retention</a:t>
            </a:r>
            <a:endParaRPr lang="en-US" sz="6800" b="1" dirty="0">
              <a:latin typeface="Times New Roman"/>
              <a:cs typeface="Times New Roman"/>
            </a:endParaRPr>
          </a:p>
        </p:txBody>
      </p:sp>
      <p:sp>
        <p:nvSpPr>
          <p:cNvPr id="5" name="object 3">
            <a:extLst>
              <a:ext uri="{FF2B5EF4-FFF2-40B4-BE49-F238E27FC236}">
                <a16:creationId xmlns:a16="http://schemas.microsoft.com/office/drawing/2014/main" id="{14B0F001-87CB-4414-29A0-D10B63A6D2F9}"/>
              </a:ext>
            </a:extLst>
          </p:cNvPr>
          <p:cNvSpPr txBox="1">
            <a:spLocks/>
          </p:cNvSpPr>
          <p:nvPr/>
        </p:nvSpPr>
        <p:spPr>
          <a:xfrm>
            <a:off x="2756587" y="6271260"/>
            <a:ext cx="11962026" cy="1120140"/>
          </a:xfrm>
          <a:prstGeom prst="rect">
            <a:avLst/>
          </a:prstGeom>
        </p:spPr>
        <p:txBody>
          <a:bodyPr vert="horz" wrap="square" lIns="0" tIns="52705" rIns="0" bIns="0" rtlCol="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797560" marR="5080" indent="-785495">
              <a:lnSpc>
                <a:spcPts val="4200"/>
              </a:lnSpc>
              <a:spcBef>
                <a:spcPts val="415"/>
              </a:spcBef>
            </a:pPr>
            <a:r>
              <a:rPr lang="en-US" sz="3650" spc="-105" dirty="0"/>
              <a:t>An</a:t>
            </a:r>
            <a:r>
              <a:rPr lang="en-US" sz="3650" spc="-150" dirty="0"/>
              <a:t> </a:t>
            </a:r>
            <a:r>
              <a:rPr lang="en-US" sz="3650" spc="-10" dirty="0"/>
              <a:t>advanced</a:t>
            </a:r>
            <a:r>
              <a:rPr lang="en-US" sz="3650" spc="60" dirty="0"/>
              <a:t> </a:t>
            </a:r>
            <a:r>
              <a:rPr lang="en-US" sz="3650" dirty="0"/>
              <a:t>analytics</a:t>
            </a:r>
            <a:r>
              <a:rPr lang="en-US" sz="3650" spc="-65" dirty="0"/>
              <a:t> </a:t>
            </a:r>
            <a:r>
              <a:rPr lang="en-US" sz="3650" dirty="0"/>
              <a:t>model</a:t>
            </a:r>
            <a:r>
              <a:rPr lang="en-US" sz="3650" spc="-55" dirty="0"/>
              <a:t> </a:t>
            </a:r>
            <a:r>
              <a:rPr lang="en-US" sz="3650" spc="55" dirty="0"/>
              <a:t>to</a:t>
            </a:r>
            <a:r>
              <a:rPr lang="en-US" sz="3650" spc="-220" dirty="0"/>
              <a:t> </a:t>
            </a:r>
            <a:r>
              <a:rPr lang="en-US" sz="3650" dirty="0"/>
              <a:t>proactively</a:t>
            </a:r>
            <a:r>
              <a:rPr lang="en-US" sz="3650" spc="110" dirty="0"/>
              <a:t> </a:t>
            </a:r>
            <a:r>
              <a:rPr lang="en-US" sz="3650" dirty="0"/>
              <a:t>identify at-</a:t>
            </a:r>
            <a:r>
              <a:rPr lang="en-US" sz="3650" spc="-20" dirty="0"/>
              <a:t>risk </a:t>
            </a:r>
            <a:r>
              <a:rPr lang="en-US" sz="3650" dirty="0"/>
              <a:t>students</a:t>
            </a:r>
            <a:r>
              <a:rPr lang="en-US" sz="3650" spc="5" dirty="0"/>
              <a:t> </a:t>
            </a:r>
            <a:r>
              <a:rPr lang="en-US" sz="3650" dirty="0"/>
              <a:t>and</a:t>
            </a:r>
            <a:r>
              <a:rPr lang="en-US" sz="3650" spc="-110" dirty="0"/>
              <a:t> </a:t>
            </a:r>
            <a:r>
              <a:rPr lang="en-US" sz="3650" dirty="0"/>
              <a:t>enable</a:t>
            </a:r>
            <a:r>
              <a:rPr lang="en-US" sz="3650" spc="-65" dirty="0"/>
              <a:t> </a:t>
            </a:r>
            <a:r>
              <a:rPr lang="en-US" sz="3650" dirty="0"/>
              <a:t>targeted,</a:t>
            </a:r>
            <a:r>
              <a:rPr lang="en-US" sz="3650" spc="5" dirty="0"/>
              <a:t> </a:t>
            </a:r>
            <a:r>
              <a:rPr lang="en-US" sz="3650" dirty="0"/>
              <a:t>timely</a:t>
            </a:r>
            <a:r>
              <a:rPr lang="en-US" sz="3650" spc="-114" dirty="0"/>
              <a:t> </a:t>
            </a:r>
            <a:r>
              <a:rPr lang="en-US" sz="3650" spc="-10" dirty="0"/>
              <a:t>interventions.</a:t>
            </a:r>
            <a:endParaRPr lang="en-US" sz="3650" dirty="0"/>
          </a:p>
        </p:txBody>
      </p:sp>
    </p:spTree>
    <p:extLst>
      <p:ext uri="{BB962C8B-B14F-4D97-AF65-F5344CB8AC3E}">
        <p14:creationId xmlns:p14="http://schemas.microsoft.com/office/powerpoint/2010/main" val="2187660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1F2EC"/>
        </a:solidFill>
        <a:effectLst/>
      </p:bgPr>
    </p:bg>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035800" y="3644900"/>
            <a:ext cx="1143000" cy="1295400"/>
          </a:xfrm>
          <a:prstGeom prst="rect">
            <a:avLst/>
          </a:prstGeom>
        </p:spPr>
      </p:pic>
      <p:pic>
        <p:nvPicPr>
          <p:cNvPr id="3" name="object 3"/>
          <p:cNvPicPr/>
          <p:nvPr/>
        </p:nvPicPr>
        <p:blipFill>
          <a:blip r:embed="rId3" cstate="print"/>
          <a:stretch>
            <a:fillRect/>
          </a:stretch>
        </p:blipFill>
        <p:spPr>
          <a:xfrm>
            <a:off x="10388600" y="3670300"/>
            <a:ext cx="1206500" cy="1257300"/>
          </a:xfrm>
          <a:prstGeom prst="rect">
            <a:avLst/>
          </a:prstGeom>
        </p:spPr>
      </p:pic>
      <p:pic>
        <p:nvPicPr>
          <p:cNvPr id="4" name="object 4"/>
          <p:cNvPicPr/>
          <p:nvPr/>
        </p:nvPicPr>
        <p:blipFill>
          <a:blip r:embed="rId4" cstate="print"/>
          <a:stretch>
            <a:fillRect/>
          </a:stretch>
        </p:blipFill>
        <p:spPr>
          <a:xfrm>
            <a:off x="13754100" y="3670300"/>
            <a:ext cx="1587500" cy="1244600"/>
          </a:xfrm>
          <a:prstGeom prst="rect">
            <a:avLst/>
          </a:prstGeom>
        </p:spPr>
      </p:pic>
      <p:sp>
        <p:nvSpPr>
          <p:cNvPr id="5" name="object 5"/>
          <p:cNvSpPr/>
          <p:nvPr/>
        </p:nvSpPr>
        <p:spPr>
          <a:xfrm>
            <a:off x="977900" y="2425700"/>
            <a:ext cx="15519400" cy="0"/>
          </a:xfrm>
          <a:custGeom>
            <a:avLst/>
            <a:gdLst/>
            <a:ahLst/>
            <a:cxnLst/>
            <a:rect l="l" t="t" r="r" b="b"/>
            <a:pathLst>
              <a:path w="15519400">
                <a:moveTo>
                  <a:pt x="0" y="0"/>
                </a:moveTo>
                <a:lnTo>
                  <a:pt x="15519400" y="0"/>
                </a:lnTo>
              </a:path>
            </a:pathLst>
          </a:custGeom>
          <a:ln w="25400">
            <a:solidFill>
              <a:srgbClr val="26465E"/>
            </a:solidFill>
          </a:ln>
        </p:spPr>
        <p:txBody>
          <a:bodyPr wrap="square" lIns="0" tIns="0" rIns="0" bIns="0" rtlCol="0"/>
          <a:lstStyle/>
          <a:p>
            <a:endParaRPr>
              <a:latin typeface="+mn-lt"/>
            </a:endParaRPr>
          </a:p>
        </p:txBody>
      </p:sp>
      <p:sp>
        <p:nvSpPr>
          <p:cNvPr id="6" name="object 6"/>
          <p:cNvSpPr txBox="1">
            <a:spLocks noGrp="1"/>
          </p:cNvSpPr>
          <p:nvPr>
            <p:ph type="title"/>
          </p:nvPr>
        </p:nvSpPr>
        <p:spPr>
          <a:xfrm>
            <a:off x="961570" y="598663"/>
            <a:ext cx="8003540" cy="1575944"/>
          </a:xfrm>
          <a:prstGeom prst="rect">
            <a:avLst/>
          </a:prstGeom>
        </p:spPr>
        <p:txBody>
          <a:bodyPr vert="horz" wrap="square" lIns="0" tIns="155575" rIns="0" bIns="0" rtlCol="0">
            <a:spAutoFit/>
          </a:bodyPr>
          <a:lstStyle/>
          <a:p>
            <a:pPr marL="29845" marR="5080" indent="-17780">
              <a:lnSpc>
                <a:spcPts val="5450"/>
              </a:lnSpc>
              <a:spcBef>
                <a:spcPts val="1225"/>
              </a:spcBef>
            </a:pPr>
            <a:r>
              <a:rPr sz="5450" spc="-75" dirty="0">
                <a:solidFill>
                  <a:srgbClr val="1F1F1F"/>
                </a:solidFill>
                <a:latin typeface="+mj-lt"/>
                <a:cs typeface="Arial MT"/>
              </a:rPr>
              <a:t>The</a:t>
            </a:r>
            <a:r>
              <a:rPr sz="5450" spc="-395" dirty="0">
                <a:solidFill>
                  <a:srgbClr val="1F1F1F"/>
                </a:solidFill>
                <a:latin typeface="+mj-lt"/>
                <a:cs typeface="Arial MT"/>
              </a:rPr>
              <a:t> </a:t>
            </a:r>
            <a:r>
              <a:rPr sz="5450" dirty="0">
                <a:solidFill>
                  <a:srgbClr val="1D1D1D"/>
                </a:solidFill>
                <a:latin typeface="+mj-lt"/>
                <a:cs typeface="Arial MT"/>
              </a:rPr>
              <a:t>High</a:t>
            </a:r>
            <a:r>
              <a:rPr sz="5450" spc="-235" dirty="0">
                <a:solidFill>
                  <a:srgbClr val="1D1D1D"/>
                </a:solidFill>
                <a:latin typeface="+mj-lt"/>
                <a:cs typeface="Arial MT"/>
              </a:rPr>
              <a:t> </a:t>
            </a:r>
            <a:r>
              <a:rPr sz="5450" dirty="0">
                <a:solidFill>
                  <a:srgbClr val="232323"/>
                </a:solidFill>
                <a:latin typeface="+mj-lt"/>
                <a:cs typeface="Arial MT"/>
              </a:rPr>
              <a:t>Cost</a:t>
            </a:r>
            <a:r>
              <a:rPr sz="5450" spc="30" dirty="0">
                <a:solidFill>
                  <a:srgbClr val="232323"/>
                </a:solidFill>
                <a:latin typeface="+mj-lt"/>
                <a:cs typeface="Arial MT"/>
              </a:rPr>
              <a:t> </a:t>
            </a:r>
            <a:r>
              <a:rPr sz="5450" dirty="0">
                <a:solidFill>
                  <a:srgbClr val="1C1C1C"/>
                </a:solidFill>
                <a:latin typeface="+mj-lt"/>
                <a:cs typeface="Arial MT"/>
              </a:rPr>
              <a:t>of</a:t>
            </a:r>
            <a:r>
              <a:rPr sz="5450" spc="70" dirty="0">
                <a:solidFill>
                  <a:srgbClr val="1C1C1C"/>
                </a:solidFill>
                <a:latin typeface="+mj-lt"/>
                <a:cs typeface="Arial MT"/>
              </a:rPr>
              <a:t> </a:t>
            </a:r>
            <a:r>
              <a:rPr sz="5450" spc="60" dirty="0">
                <a:solidFill>
                  <a:srgbClr val="1D1D1D"/>
                </a:solidFill>
                <a:latin typeface="+mj-lt"/>
                <a:cs typeface="Arial MT"/>
              </a:rPr>
              <a:t>Attrition: </a:t>
            </a:r>
            <a:r>
              <a:rPr sz="5450" spc="-110" dirty="0">
                <a:solidFill>
                  <a:srgbClr val="1F1F1F"/>
                </a:solidFill>
                <a:latin typeface="+mj-lt"/>
                <a:cs typeface="Arial MT"/>
              </a:rPr>
              <a:t>An</a:t>
            </a:r>
            <a:r>
              <a:rPr sz="5450" spc="-420" dirty="0">
                <a:solidFill>
                  <a:srgbClr val="1F1F1F"/>
                </a:solidFill>
                <a:latin typeface="+mj-lt"/>
                <a:cs typeface="Arial MT"/>
              </a:rPr>
              <a:t> </a:t>
            </a:r>
            <a:r>
              <a:rPr sz="5450" spc="55" dirty="0">
                <a:solidFill>
                  <a:srgbClr val="1C1C1C"/>
                </a:solidFill>
                <a:latin typeface="+mj-lt"/>
                <a:cs typeface="Arial MT"/>
              </a:rPr>
              <a:t>Institutionai</a:t>
            </a:r>
            <a:r>
              <a:rPr sz="5450" spc="-10" dirty="0">
                <a:solidFill>
                  <a:srgbClr val="1C1C1C"/>
                </a:solidFill>
                <a:latin typeface="+mj-lt"/>
                <a:cs typeface="Arial MT"/>
              </a:rPr>
              <a:t> Challenge</a:t>
            </a:r>
            <a:endParaRPr sz="5450" dirty="0">
              <a:latin typeface="+mj-lt"/>
              <a:cs typeface="Arial MT"/>
            </a:endParaRPr>
          </a:p>
        </p:txBody>
      </p:sp>
      <p:sp>
        <p:nvSpPr>
          <p:cNvPr id="7" name="object 7"/>
          <p:cNvSpPr txBox="1"/>
          <p:nvPr/>
        </p:nvSpPr>
        <p:spPr>
          <a:xfrm>
            <a:off x="955484" y="2677936"/>
            <a:ext cx="4461510" cy="2821350"/>
          </a:xfrm>
          <a:prstGeom prst="rect">
            <a:avLst/>
          </a:prstGeom>
        </p:spPr>
        <p:txBody>
          <a:bodyPr vert="horz" wrap="square" lIns="0" tIns="13970" rIns="0" bIns="0" rtlCol="0">
            <a:spAutoFit/>
          </a:bodyPr>
          <a:lstStyle/>
          <a:p>
            <a:pPr marL="12700">
              <a:lnSpc>
                <a:spcPct val="100000"/>
              </a:lnSpc>
              <a:spcBef>
                <a:spcPts val="110"/>
              </a:spcBef>
            </a:pPr>
            <a:r>
              <a:rPr sz="3250" dirty="0">
                <a:solidFill>
                  <a:srgbClr val="0F0F0F"/>
                </a:solidFill>
                <a:latin typeface="+mn-lt"/>
                <a:cs typeface="Arial MT"/>
              </a:rPr>
              <a:t>The Business </a:t>
            </a:r>
            <a:r>
              <a:rPr sz="3250" dirty="0">
                <a:solidFill>
                  <a:srgbClr val="111111"/>
                </a:solidFill>
                <a:latin typeface="+mn-lt"/>
                <a:cs typeface="Arial MT"/>
              </a:rPr>
              <a:t>Problem</a:t>
            </a:r>
            <a:endParaRPr sz="3250" dirty="0">
              <a:latin typeface="+mn-lt"/>
              <a:cs typeface="Arial MT"/>
            </a:endParaRPr>
          </a:p>
          <a:p>
            <a:pPr marL="422275" marR="5080" indent="-267970">
              <a:lnSpc>
                <a:spcPct val="87000"/>
              </a:lnSpc>
              <a:spcBef>
                <a:spcPts val="3005"/>
              </a:spcBef>
              <a:buChar char="•"/>
              <a:tabLst>
                <a:tab pos="430530" algn="l"/>
              </a:tabLst>
            </a:pPr>
            <a:r>
              <a:rPr sz="2900" dirty="0">
                <a:latin typeface="+mn-lt"/>
                <a:cs typeface="Arial MT"/>
              </a:rPr>
              <a:t>How can an institution 	</a:t>
            </a:r>
            <a:r>
              <a:rPr sz="2750" dirty="0">
                <a:latin typeface="+mn-lt"/>
                <a:cs typeface="Arial MT"/>
              </a:rPr>
              <a:t>optimise its student support 	</a:t>
            </a:r>
            <a:r>
              <a:rPr sz="2850" dirty="0">
                <a:latin typeface="+mn-lt"/>
                <a:cs typeface="Arial MT"/>
              </a:rPr>
              <a:t>services to improve</a:t>
            </a:r>
            <a:r>
              <a:rPr lang="en-PH" sz="2850" dirty="0">
                <a:latin typeface="+mn-lt"/>
                <a:cs typeface="Arial MT"/>
              </a:rPr>
              <a:t> </a:t>
            </a:r>
            <a:r>
              <a:rPr sz="2850" dirty="0">
                <a:latin typeface="+mn-lt"/>
                <a:cs typeface="Arial MT"/>
              </a:rPr>
              <a:t>retention rates and protect tuition revenue?</a:t>
            </a:r>
          </a:p>
        </p:txBody>
      </p:sp>
      <p:sp>
        <p:nvSpPr>
          <p:cNvPr id="8" name="object 8"/>
          <p:cNvSpPr txBox="1"/>
          <p:nvPr/>
        </p:nvSpPr>
        <p:spPr>
          <a:xfrm>
            <a:off x="1098356" y="5766152"/>
            <a:ext cx="4486910" cy="2763449"/>
          </a:xfrm>
          <a:prstGeom prst="rect">
            <a:avLst/>
          </a:prstGeom>
        </p:spPr>
        <p:txBody>
          <a:bodyPr vert="horz" wrap="square" lIns="0" tIns="70485" rIns="0" bIns="0" rtlCol="0">
            <a:spAutoFit/>
          </a:bodyPr>
          <a:lstStyle/>
          <a:p>
            <a:pPr marL="281305" marR="5080" indent="-269240">
              <a:lnSpc>
                <a:spcPct val="86600"/>
              </a:lnSpc>
              <a:spcBef>
                <a:spcPts val="555"/>
              </a:spcBef>
              <a:buChar char="•"/>
              <a:tabLst>
                <a:tab pos="286385" algn="l"/>
              </a:tabLst>
            </a:pPr>
            <a:r>
              <a:rPr sz="2850" dirty="0">
                <a:latin typeface="+mn-lt"/>
                <a:cs typeface="Arial MT"/>
              </a:rPr>
              <a:t>Faculty and counsellors have </a:t>
            </a:r>
            <a:r>
              <a:rPr sz="2750" dirty="0">
                <a:latin typeface="+mn-lt"/>
                <a:cs typeface="Arial MT"/>
              </a:rPr>
              <a:t>limited time; they require a </a:t>
            </a:r>
            <a:r>
              <a:rPr lang="en-PH" sz="2900" dirty="0">
                <a:latin typeface="+mn-lt"/>
                <a:cs typeface="Arial MT"/>
              </a:rPr>
              <a:t>prioritized </a:t>
            </a:r>
            <a:r>
              <a:rPr sz="2900" dirty="0">
                <a:latin typeface="+mn-lt"/>
                <a:cs typeface="Arial MT"/>
              </a:rPr>
              <a:t>list of students who </a:t>
            </a:r>
            <a:r>
              <a:rPr sz="2850" dirty="0">
                <a:latin typeface="+mn-lt"/>
                <a:cs typeface="Arial MT"/>
              </a:rPr>
              <a:t>are most likely to drop out, 	allowing for proactive 	</a:t>
            </a:r>
            <a:r>
              <a:rPr sz="2900" dirty="0">
                <a:latin typeface="+mn-lt"/>
                <a:cs typeface="Arial MT"/>
              </a:rPr>
              <a:t>intervention.</a:t>
            </a:r>
          </a:p>
        </p:txBody>
      </p:sp>
      <p:sp>
        <p:nvSpPr>
          <p:cNvPr id="9" name="object 9"/>
          <p:cNvSpPr txBox="1"/>
          <p:nvPr/>
        </p:nvSpPr>
        <p:spPr>
          <a:xfrm>
            <a:off x="6890491" y="2669116"/>
            <a:ext cx="8794115" cy="533400"/>
          </a:xfrm>
          <a:prstGeom prst="rect">
            <a:avLst/>
          </a:prstGeom>
        </p:spPr>
        <p:txBody>
          <a:bodyPr vert="horz" wrap="square" lIns="0" tIns="16510" rIns="0" bIns="0" rtlCol="0">
            <a:spAutoFit/>
          </a:bodyPr>
          <a:lstStyle/>
          <a:p>
            <a:pPr marL="12700">
              <a:lnSpc>
                <a:spcPct val="100000"/>
              </a:lnSpc>
              <a:spcBef>
                <a:spcPts val="130"/>
              </a:spcBef>
            </a:pPr>
            <a:r>
              <a:rPr sz="3300" spc="-80" dirty="0">
                <a:solidFill>
                  <a:srgbClr val="181818"/>
                </a:solidFill>
                <a:latin typeface="+mn-lt"/>
                <a:cs typeface="Arial MT"/>
              </a:rPr>
              <a:t>Key</a:t>
            </a:r>
            <a:r>
              <a:rPr sz="3300" spc="-65" dirty="0">
                <a:solidFill>
                  <a:srgbClr val="181818"/>
                </a:solidFill>
                <a:latin typeface="+mn-lt"/>
                <a:cs typeface="Arial MT"/>
              </a:rPr>
              <a:t> </a:t>
            </a:r>
            <a:r>
              <a:rPr sz="3300" dirty="0">
                <a:solidFill>
                  <a:srgbClr val="0E0E0E"/>
                </a:solidFill>
                <a:latin typeface="+mn-lt"/>
                <a:cs typeface="Arial MT"/>
              </a:rPr>
              <a:t>Performance</a:t>
            </a:r>
            <a:r>
              <a:rPr sz="3300" spc="45" dirty="0">
                <a:solidFill>
                  <a:srgbClr val="0E0E0E"/>
                </a:solidFill>
                <a:latin typeface="+mn-lt"/>
                <a:cs typeface="Arial MT"/>
              </a:rPr>
              <a:t> </a:t>
            </a:r>
            <a:r>
              <a:rPr sz="3300" dirty="0">
                <a:solidFill>
                  <a:srgbClr val="131313"/>
                </a:solidFill>
                <a:latin typeface="+mn-lt"/>
                <a:cs typeface="Arial MT"/>
              </a:rPr>
              <a:t>Indicators</a:t>
            </a:r>
            <a:r>
              <a:rPr sz="3300" spc="145" dirty="0">
                <a:solidFill>
                  <a:srgbClr val="131313"/>
                </a:solidFill>
                <a:latin typeface="+mn-lt"/>
                <a:cs typeface="Arial MT"/>
              </a:rPr>
              <a:t> </a:t>
            </a:r>
            <a:r>
              <a:rPr sz="3300" spc="-50" dirty="0">
                <a:solidFill>
                  <a:srgbClr val="0F0F0F"/>
                </a:solidFill>
                <a:latin typeface="+mn-lt"/>
                <a:cs typeface="Arial MT"/>
              </a:rPr>
              <a:t>(KPIs)</a:t>
            </a:r>
            <a:r>
              <a:rPr sz="3300" spc="130" dirty="0">
                <a:solidFill>
                  <a:srgbClr val="0F0F0F"/>
                </a:solidFill>
                <a:latin typeface="+mn-lt"/>
                <a:cs typeface="Arial MT"/>
              </a:rPr>
              <a:t> </a:t>
            </a:r>
            <a:r>
              <a:rPr sz="3300" spc="50" dirty="0">
                <a:solidFill>
                  <a:srgbClr val="0E0E0E"/>
                </a:solidFill>
                <a:latin typeface="+mn-lt"/>
                <a:cs typeface="Arial MT"/>
              </a:rPr>
              <a:t>for</a:t>
            </a:r>
            <a:r>
              <a:rPr sz="3300" spc="-125" dirty="0">
                <a:solidFill>
                  <a:srgbClr val="0E0E0E"/>
                </a:solidFill>
                <a:latin typeface="+mn-lt"/>
                <a:cs typeface="Arial MT"/>
              </a:rPr>
              <a:t> </a:t>
            </a:r>
            <a:r>
              <a:rPr sz="3300" spc="-10" dirty="0">
                <a:solidFill>
                  <a:srgbClr val="131313"/>
                </a:solidFill>
                <a:latin typeface="+mn-lt"/>
                <a:cs typeface="Arial MT"/>
              </a:rPr>
              <a:t>Success</a:t>
            </a:r>
            <a:endParaRPr sz="3300">
              <a:latin typeface="+mn-lt"/>
              <a:cs typeface="Arial MT"/>
            </a:endParaRPr>
          </a:p>
        </p:txBody>
      </p:sp>
      <p:sp>
        <p:nvSpPr>
          <p:cNvPr id="10" name="object 10"/>
          <p:cNvSpPr txBox="1"/>
          <p:nvPr/>
        </p:nvSpPr>
        <p:spPr>
          <a:xfrm>
            <a:off x="6979202" y="5100813"/>
            <a:ext cx="2903855" cy="3027045"/>
          </a:xfrm>
          <a:prstGeom prst="rect">
            <a:avLst/>
          </a:prstGeom>
        </p:spPr>
        <p:txBody>
          <a:bodyPr vert="horz" wrap="square" lIns="0" tIns="17145" rIns="0" bIns="0" rtlCol="0">
            <a:spAutoFit/>
          </a:bodyPr>
          <a:lstStyle/>
          <a:p>
            <a:pPr marL="13970">
              <a:lnSpc>
                <a:spcPts val="3295"/>
              </a:lnSpc>
              <a:spcBef>
                <a:spcPts val="135"/>
              </a:spcBef>
            </a:pPr>
            <a:r>
              <a:rPr sz="2950" spc="-10" dirty="0">
                <a:latin typeface="+mn-lt"/>
                <a:cs typeface="Arial MT"/>
              </a:rPr>
              <a:t>Retention</a:t>
            </a:r>
            <a:endParaRPr sz="2950" dirty="0">
              <a:latin typeface="+mn-lt"/>
              <a:cs typeface="Arial MT"/>
            </a:endParaRPr>
          </a:p>
          <a:p>
            <a:pPr marL="12700">
              <a:lnSpc>
                <a:spcPts val="3475"/>
              </a:lnSpc>
            </a:pPr>
            <a:r>
              <a:rPr sz="3100" spc="-10" dirty="0">
                <a:latin typeface="+mn-lt"/>
                <a:cs typeface="Arial MT"/>
              </a:rPr>
              <a:t>Uplift</a:t>
            </a:r>
            <a:endParaRPr sz="3100" dirty="0">
              <a:latin typeface="+mn-lt"/>
              <a:cs typeface="Arial MT"/>
            </a:endParaRPr>
          </a:p>
          <a:p>
            <a:pPr marL="20320" marR="5080" indent="3810">
              <a:lnSpc>
                <a:spcPct val="97700"/>
              </a:lnSpc>
              <a:spcBef>
                <a:spcPts val="1340"/>
              </a:spcBef>
            </a:pPr>
            <a:r>
              <a:rPr sz="2200" dirty="0">
                <a:latin typeface="+mn-lt"/>
                <a:cs typeface="Arial MT"/>
              </a:rPr>
              <a:t>The</a:t>
            </a:r>
            <a:r>
              <a:rPr sz="2200" spc="-150" dirty="0">
                <a:latin typeface="+mn-lt"/>
                <a:cs typeface="Arial MT"/>
              </a:rPr>
              <a:t> </a:t>
            </a:r>
            <a:r>
              <a:rPr sz="2200" spc="-10" dirty="0">
                <a:latin typeface="+mn-lt"/>
                <a:cs typeface="Arial MT"/>
              </a:rPr>
              <a:t>measurable </a:t>
            </a:r>
            <a:r>
              <a:rPr sz="2150" dirty="0">
                <a:latin typeface="+mn-lt"/>
                <a:cs typeface="Arial MT"/>
              </a:rPr>
              <a:t>percentage</a:t>
            </a:r>
            <a:r>
              <a:rPr sz="2150" spc="-15" dirty="0">
                <a:latin typeface="+mn-lt"/>
                <a:cs typeface="Arial MT"/>
              </a:rPr>
              <a:t> </a:t>
            </a:r>
            <a:r>
              <a:rPr sz="2150" spc="-10" dirty="0">
                <a:latin typeface="+mn-lt"/>
                <a:cs typeface="Arial MT"/>
              </a:rPr>
              <a:t>increase</a:t>
            </a:r>
            <a:r>
              <a:rPr sz="2150" spc="-85" dirty="0">
                <a:latin typeface="+mn-lt"/>
                <a:cs typeface="Arial MT"/>
              </a:rPr>
              <a:t> </a:t>
            </a:r>
            <a:r>
              <a:rPr sz="2150" spc="-25" dirty="0">
                <a:latin typeface="+mn-lt"/>
                <a:cs typeface="Arial MT"/>
              </a:rPr>
              <a:t>in </a:t>
            </a:r>
            <a:r>
              <a:rPr sz="2200" dirty="0">
                <a:latin typeface="+mn-lt"/>
                <a:cs typeface="Arial MT"/>
              </a:rPr>
              <a:t>students</a:t>
            </a:r>
            <a:r>
              <a:rPr sz="2200" spc="-35" dirty="0">
                <a:latin typeface="+mn-lt"/>
                <a:cs typeface="Arial MT"/>
              </a:rPr>
              <a:t> </a:t>
            </a:r>
            <a:r>
              <a:rPr sz="2200" dirty="0">
                <a:latin typeface="+mn-lt"/>
                <a:cs typeface="Arial MT"/>
              </a:rPr>
              <a:t>who</a:t>
            </a:r>
            <a:r>
              <a:rPr sz="2200" spc="-155" dirty="0">
                <a:latin typeface="+mn-lt"/>
                <a:cs typeface="Arial MT"/>
              </a:rPr>
              <a:t> </a:t>
            </a:r>
            <a:r>
              <a:rPr sz="2200" spc="-10" dirty="0">
                <a:latin typeface="+mn-lt"/>
                <a:cs typeface="Arial MT"/>
              </a:rPr>
              <a:t>remain </a:t>
            </a:r>
            <a:r>
              <a:rPr sz="2300" spc="-50" dirty="0">
                <a:latin typeface="+mn-lt"/>
                <a:cs typeface="Arial MT"/>
              </a:rPr>
              <a:t>enrolled</a:t>
            </a:r>
            <a:r>
              <a:rPr sz="2300" spc="10" dirty="0">
                <a:latin typeface="+mn-lt"/>
                <a:cs typeface="Arial MT"/>
              </a:rPr>
              <a:t> </a:t>
            </a:r>
            <a:r>
              <a:rPr sz="2300" spc="-70" dirty="0">
                <a:latin typeface="+mn-lt"/>
                <a:cs typeface="Arial MT"/>
              </a:rPr>
              <a:t>year-over-</a:t>
            </a:r>
            <a:r>
              <a:rPr sz="2300" spc="-20" dirty="0">
                <a:latin typeface="+mn-lt"/>
                <a:cs typeface="Arial MT"/>
              </a:rPr>
              <a:t>year </a:t>
            </a:r>
            <a:r>
              <a:rPr sz="2150" dirty="0">
                <a:latin typeface="+mn-lt"/>
                <a:cs typeface="Arial MT"/>
              </a:rPr>
              <a:t>compared</a:t>
            </a:r>
            <a:r>
              <a:rPr sz="2150" spc="85" dirty="0">
                <a:latin typeface="+mn-lt"/>
                <a:cs typeface="Arial MT"/>
              </a:rPr>
              <a:t> </a:t>
            </a:r>
            <a:r>
              <a:rPr sz="2150" dirty="0">
                <a:latin typeface="+mn-lt"/>
                <a:cs typeface="Arial MT"/>
              </a:rPr>
              <a:t>to</a:t>
            </a:r>
            <a:r>
              <a:rPr sz="2150" spc="-90" dirty="0">
                <a:latin typeface="+mn-lt"/>
                <a:cs typeface="Arial MT"/>
              </a:rPr>
              <a:t> </a:t>
            </a:r>
            <a:r>
              <a:rPr sz="2150" dirty="0">
                <a:latin typeface="+mn-lt"/>
                <a:cs typeface="Arial MT"/>
              </a:rPr>
              <a:t>a</a:t>
            </a:r>
            <a:r>
              <a:rPr sz="2150" spc="-65" dirty="0">
                <a:latin typeface="+mn-lt"/>
                <a:cs typeface="Arial MT"/>
              </a:rPr>
              <a:t> </a:t>
            </a:r>
            <a:r>
              <a:rPr sz="2150" spc="-10" dirty="0">
                <a:latin typeface="+mn-lt"/>
                <a:cs typeface="Arial MT"/>
              </a:rPr>
              <a:t>pre-</a:t>
            </a:r>
            <a:r>
              <a:rPr sz="2150" spc="-25" dirty="0">
                <a:latin typeface="+mn-lt"/>
                <a:cs typeface="Arial MT"/>
              </a:rPr>
              <a:t>AI </a:t>
            </a:r>
            <a:r>
              <a:rPr sz="2200" spc="-10" dirty="0">
                <a:latin typeface="+mn-lt"/>
                <a:cs typeface="Arial MT"/>
              </a:rPr>
              <a:t>baseline.</a:t>
            </a:r>
            <a:endParaRPr sz="2200" dirty="0">
              <a:latin typeface="+mn-lt"/>
              <a:cs typeface="Arial MT"/>
            </a:endParaRPr>
          </a:p>
        </p:txBody>
      </p:sp>
      <p:sp>
        <p:nvSpPr>
          <p:cNvPr id="11" name="object 11"/>
          <p:cNvSpPr txBox="1"/>
          <p:nvPr/>
        </p:nvSpPr>
        <p:spPr>
          <a:xfrm>
            <a:off x="10354874" y="5118452"/>
            <a:ext cx="2908300" cy="3665220"/>
          </a:xfrm>
          <a:prstGeom prst="rect">
            <a:avLst/>
          </a:prstGeom>
        </p:spPr>
        <p:txBody>
          <a:bodyPr vert="horz" wrap="square" lIns="0" tIns="48895" rIns="0" bIns="0" rtlCol="0">
            <a:spAutoFit/>
          </a:bodyPr>
          <a:lstStyle/>
          <a:p>
            <a:pPr marL="19685" marR="885190" indent="-7620">
              <a:lnSpc>
                <a:spcPts val="3200"/>
              </a:lnSpc>
              <a:spcBef>
                <a:spcPts val="385"/>
              </a:spcBef>
            </a:pPr>
            <a:r>
              <a:rPr sz="2850" spc="45" dirty="0">
                <a:latin typeface="+mn-lt"/>
                <a:cs typeface="Arial MT"/>
              </a:rPr>
              <a:t>Intervention </a:t>
            </a:r>
            <a:r>
              <a:rPr sz="2850" dirty="0">
                <a:latin typeface="+mn-lt"/>
                <a:cs typeface="Arial MT"/>
              </a:rPr>
              <a:t>Lead</a:t>
            </a:r>
            <a:r>
              <a:rPr sz="2850" spc="-165" dirty="0">
                <a:latin typeface="+mn-lt"/>
                <a:cs typeface="Arial MT"/>
              </a:rPr>
              <a:t> </a:t>
            </a:r>
            <a:r>
              <a:rPr sz="2850" spc="-20" dirty="0">
                <a:latin typeface="+mn-lt"/>
                <a:cs typeface="Arial MT"/>
              </a:rPr>
              <a:t>Time</a:t>
            </a:r>
            <a:endParaRPr sz="2850" dirty="0">
              <a:latin typeface="+mn-lt"/>
              <a:cs typeface="Arial MT"/>
            </a:endParaRPr>
          </a:p>
          <a:p>
            <a:pPr marL="13970" marR="5080" indent="12065">
              <a:lnSpc>
                <a:spcPct val="96200"/>
              </a:lnSpc>
              <a:spcBef>
                <a:spcPts val="1360"/>
              </a:spcBef>
            </a:pPr>
            <a:r>
              <a:rPr sz="2200" spc="-50" dirty="0">
                <a:latin typeface="+mn-lt"/>
                <a:cs typeface="Arial MT"/>
              </a:rPr>
              <a:t>The</a:t>
            </a:r>
            <a:r>
              <a:rPr sz="2200" spc="-105" dirty="0">
                <a:latin typeface="+mn-lt"/>
                <a:cs typeface="Arial MT"/>
              </a:rPr>
              <a:t> </a:t>
            </a:r>
            <a:r>
              <a:rPr sz="2200" spc="-20" dirty="0">
                <a:latin typeface="+mn-lt"/>
                <a:cs typeface="Arial MT"/>
              </a:rPr>
              <a:t>number</a:t>
            </a:r>
            <a:r>
              <a:rPr sz="2200" spc="25" dirty="0">
                <a:latin typeface="+mn-lt"/>
                <a:cs typeface="Arial MT"/>
              </a:rPr>
              <a:t> </a:t>
            </a:r>
            <a:r>
              <a:rPr sz="2200" dirty="0">
                <a:latin typeface="+mn-lt"/>
                <a:cs typeface="Arial MT"/>
              </a:rPr>
              <a:t>of</a:t>
            </a:r>
            <a:r>
              <a:rPr sz="2200" spc="25" dirty="0">
                <a:latin typeface="+mn-lt"/>
                <a:cs typeface="Arial MT"/>
              </a:rPr>
              <a:t> </a:t>
            </a:r>
            <a:r>
              <a:rPr sz="2200" spc="-10" dirty="0">
                <a:latin typeface="+mn-lt"/>
                <a:cs typeface="Arial MT"/>
              </a:rPr>
              <a:t>weeks </a:t>
            </a:r>
            <a:r>
              <a:rPr sz="2150" dirty="0">
                <a:latin typeface="+mn-lt"/>
                <a:cs typeface="Arial MT"/>
              </a:rPr>
              <a:t>of</a:t>
            </a:r>
            <a:r>
              <a:rPr sz="2150" spc="10" dirty="0">
                <a:latin typeface="+mn-lt"/>
                <a:cs typeface="Arial MT"/>
              </a:rPr>
              <a:t> </a:t>
            </a:r>
            <a:r>
              <a:rPr sz="2150" dirty="0">
                <a:latin typeface="+mn-lt"/>
                <a:cs typeface="Arial MT"/>
              </a:rPr>
              <a:t>advance</a:t>
            </a:r>
            <a:r>
              <a:rPr sz="2150" spc="65" dirty="0">
                <a:latin typeface="+mn-lt"/>
                <a:cs typeface="Arial MT"/>
              </a:rPr>
              <a:t> </a:t>
            </a:r>
            <a:r>
              <a:rPr sz="2150" dirty="0">
                <a:latin typeface="+mn-lt"/>
                <a:cs typeface="Arial MT"/>
              </a:rPr>
              <a:t>warning</a:t>
            </a:r>
            <a:r>
              <a:rPr sz="2150" spc="-80" dirty="0">
                <a:latin typeface="+mn-lt"/>
                <a:cs typeface="Arial MT"/>
              </a:rPr>
              <a:t> </a:t>
            </a:r>
            <a:r>
              <a:rPr sz="2150" spc="-25" dirty="0">
                <a:latin typeface="+mn-lt"/>
                <a:cs typeface="Arial MT"/>
              </a:rPr>
              <a:t>the </a:t>
            </a:r>
            <a:r>
              <a:rPr sz="2200" spc="-35" dirty="0">
                <a:latin typeface="+mn-lt"/>
                <a:cs typeface="Arial MT"/>
              </a:rPr>
              <a:t>model</a:t>
            </a:r>
            <a:r>
              <a:rPr sz="2200" spc="-120" dirty="0">
                <a:latin typeface="+mn-lt"/>
                <a:cs typeface="Arial MT"/>
              </a:rPr>
              <a:t> </a:t>
            </a:r>
            <a:r>
              <a:rPr sz="2200" dirty="0">
                <a:latin typeface="+mn-lt"/>
                <a:cs typeface="Arial MT"/>
              </a:rPr>
              <a:t>provides</a:t>
            </a:r>
            <a:r>
              <a:rPr sz="2200" spc="-95" dirty="0">
                <a:latin typeface="+mn-lt"/>
                <a:cs typeface="Arial MT"/>
              </a:rPr>
              <a:t> </a:t>
            </a:r>
            <a:r>
              <a:rPr sz="2200" spc="-10" dirty="0">
                <a:latin typeface="+mn-lt"/>
                <a:cs typeface="Arial MT"/>
              </a:rPr>
              <a:t>before </a:t>
            </a:r>
            <a:r>
              <a:rPr sz="2300" spc="-30" dirty="0">
                <a:latin typeface="+mn-lt"/>
                <a:cs typeface="Arial MT"/>
              </a:rPr>
              <a:t>final</a:t>
            </a:r>
            <a:r>
              <a:rPr sz="2300" spc="-95" dirty="0">
                <a:latin typeface="+mn-lt"/>
                <a:cs typeface="Arial MT"/>
              </a:rPr>
              <a:t> </a:t>
            </a:r>
            <a:r>
              <a:rPr sz="2300" spc="-114" dirty="0">
                <a:latin typeface="+mn-lt"/>
                <a:cs typeface="Arial MT"/>
              </a:rPr>
              <a:t>exams,</a:t>
            </a:r>
            <a:r>
              <a:rPr sz="2300" spc="-45" dirty="0">
                <a:latin typeface="+mn-lt"/>
                <a:cs typeface="Arial MT"/>
              </a:rPr>
              <a:t> </a:t>
            </a:r>
            <a:r>
              <a:rPr sz="2300" spc="-10" dirty="0">
                <a:latin typeface="+mn-lt"/>
                <a:cs typeface="Arial MT"/>
              </a:rPr>
              <a:t>giving </a:t>
            </a:r>
            <a:r>
              <a:rPr sz="2200" spc="-10" dirty="0">
                <a:latin typeface="+mn-lt"/>
                <a:cs typeface="Arial MT"/>
              </a:rPr>
              <a:t>giving</a:t>
            </a:r>
            <a:r>
              <a:rPr sz="2200" spc="-145" dirty="0">
                <a:latin typeface="+mn-lt"/>
                <a:cs typeface="Arial MT"/>
              </a:rPr>
              <a:t> </a:t>
            </a:r>
            <a:r>
              <a:rPr sz="2200" spc="-10" dirty="0">
                <a:latin typeface="+mn-lt"/>
                <a:cs typeface="Arial MT"/>
              </a:rPr>
              <a:t>counsellors</a:t>
            </a:r>
            <a:r>
              <a:rPr sz="2200" spc="-85" dirty="0">
                <a:latin typeface="+mn-lt"/>
                <a:cs typeface="Arial MT"/>
              </a:rPr>
              <a:t> </a:t>
            </a:r>
            <a:r>
              <a:rPr sz="2200" spc="-50" dirty="0">
                <a:latin typeface="+mn-lt"/>
                <a:cs typeface="Arial MT"/>
              </a:rPr>
              <a:t>a </a:t>
            </a:r>
            <a:r>
              <a:rPr sz="2200" spc="-20" dirty="0">
                <a:latin typeface="+mn-lt"/>
                <a:cs typeface="Arial MT"/>
              </a:rPr>
              <a:t>viable</a:t>
            </a:r>
            <a:r>
              <a:rPr sz="2200" spc="-90" dirty="0">
                <a:latin typeface="+mn-lt"/>
                <a:cs typeface="Arial MT"/>
              </a:rPr>
              <a:t> </a:t>
            </a:r>
            <a:r>
              <a:rPr sz="2200" dirty="0">
                <a:latin typeface="+mn-lt"/>
                <a:cs typeface="Arial MT"/>
              </a:rPr>
              <a:t>window</a:t>
            </a:r>
            <a:r>
              <a:rPr sz="2200" spc="100" dirty="0">
                <a:latin typeface="+mn-lt"/>
                <a:cs typeface="Arial MT"/>
              </a:rPr>
              <a:t> </a:t>
            </a:r>
            <a:r>
              <a:rPr sz="2200" dirty="0">
                <a:latin typeface="+mn-lt"/>
                <a:cs typeface="Arial MT"/>
              </a:rPr>
              <a:t>to</a:t>
            </a:r>
            <a:r>
              <a:rPr sz="2200" spc="-110" dirty="0">
                <a:latin typeface="+mn-lt"/>
                <a:cs typeface="Arial MT"/>
              </a:rPr>
              <a:t> </a:t>
            </a:r>
            <a:r>
              <a:rPr sz="2200" dirty="0">
                <a:latin typeface="+mn-lt"/>
                <a:cs typeface="Arial MT"/>
              </a:rPr>
              <a:t>act.</a:t>
            </a:r>
            <a:r>
              <a:rPr sz="2200" spc="-10" dirty="0">
                <a:latin typeface="+mn-lt"/>
                <a:cs typeface="Arial MT"/>
              </a:rPr>
              <a:t> </a:t>
            </a:r>
            <a:r>
              <a:rPr sz="2200" spc="-50" dirty="0">
                <a:latin typeface="+mn-lt"/>
                <a:cs typeface="Arial MT"/>
              </a:rPr>
              <a:t>A </a:t>
            </a:r>
            <a:r>
              <a:rPr sz="2300" spc="-85" dirty="0">
                <a:latin typeface="+mn-lt"/>
                <a:cs typeface="Arial MT"/>
              </a:rPr>
              <a:t>minimum</a:t>
            </a:r>
            <a:r>
              <a:rPr sz="2300" dirty="0">
                <a:latin typeface="+mn-lt"/>
                <a:cs typeface="Arial MT"/>
              </a:rPr>
              <a:t> </a:t>
            </a:r>
            <a:r>
              <a:rPr sz="2300" spc="-60" dirty="0">
                <a:latin typeface="+mn-lt"/>
                <a:cs typeface="Arial MT"/>
              </a:rPr>
              <a:t>4-</a:t>
            </a:r>
            <a:r>
              <a:rPr sz="2300" spc="-20" dirty="0">
                <a:latin typeface="+mn-lt"/>
                <a:cs typeface="Arial MT"/>
              </a:rPr>
              <a:t>week </a:t>
            </a:r>
            <a:r>
              <a:rPr sz="2300" spc="-80" dirty="0">
                <a:latin typeface="+mn-lt"/>
                <a:cs typeface="Arial MT"/>
              </a:rPr>
              <a:t>window</a:t>
            </a:r>
            <a:r>
              <a:rPr sz="2300" spc="-60" dirty="0">
                <a:latin typeface="+mn-lt"/>
                <a:cs typeface="Arial MT"/>
              </a:rPr>
              <a:t> </a:t>
            </a:r>
            <a:r>
              <a:rPr sz="2300" dirty="0">
                <a:latin typeface="+mn-lt"/>
                <a:cs typeface="Arial MT"/>
              </a:rPr>
              <a:t>is</a:t>
            </a:r>
            <a:r>
              <a:rPr sz="2300" spc="-110" dirty="0">
                <a:latin typeface="+mn-lt"/>
                <a:cs typeface="Arial MT"/>
              </a:rPr>
              <a:t> </a:t>
            </a:r>
            <a:r>
              <a:rPr sz="2300" spc="-25" dirty="0">
                <a:latin typeface="+mn-lt"/>
                <a:cs typeface="Arial MT"/>
              </a:rPr>
              <a:t>the</a:t>
            </a:r>
            <a:r>
              <a:rPr sz="2300" spc="-114" dirty="0">
                <a:latin typeface="+mn-lt"/>
                <a:cs typeface="Arial MT"/>
              </a:rPr>
              <a:t> </a:t>
            </a:r>
            <a:r>
              <a:rPr sz="2300" spc="-10" dirty="0">
                <a:latin typeface="+mn-lt"/>
                <a:cs typeface="Arial MT"/>
              </a:rPr>
              <a:t>goal.</a:t>
            </a:r>
            <a:endParaRPr sz="2300" dirty="0">
              <a:latin typeface="+mn-lt"/>
              <a:cs typeface="Arial MT"/>
            </a:endParaRPr>
          </a:p>
        </p:txBody>
      </p:sp>
      <p:sp>
        <p:nvSpPr>
          <p:cNvPr id="12" name="object 12"/>
          <p:cNvSpPr txBox="1"/>
          <p:nvPr/>
        </p:nvSpPr>
        <p:spPr>
          <a:xfrm>
            <a:off x="13734186" y="5091994"/>
            <a:ext cx="2839085" cy="2736775"/>
          </a:xfrm>
          <a:prstGeom prst="rect">
            <a:avLst/>
          </a:prstGeom>
        </p:spPr>
        <p:txBody>
          <a:bodyPr vert="horz" wrap="square" lIns="0" tIns="75565" rIns="0" bIns="0" rtlCol="0">
            <a:spAutoFit/>
          </a:bodyPr>
          <a:lstStyle/>
          <a:p>
            <a:pPr marL="14604" marR="749935" indent="-1905">
              <a:lnSpc>
                <a:spcPts val="3200"/>
              </a:lnSpc>
              <a:spcBef>
                <a:spcPts val="595"/>
              </a:spcBef>
            </a:pPr>
            <a:r>
              <a:rPr sz="3050" spc="-55" dirty="0">
                <a:latin typeface="+mn-lt"/>
                <a:cs typeface="Arial MT"/>
              </a:rPr>
              <a:t>Cost-</a:t>
            </a:r>
            <a:r>
              <a:rPr sz="3050" spc="-50" dirty="0">
                <a:latin typeface="+mn-lt"/>
                <a:cs typeface="Arial MT"/>
              </a:rPr>
              <a:t>Benefit </a:t>
            </a:r>
            <a:r>
              <a:rPr sz="3050" spc="-10" dirty="0">
                <a:latin typeface="+mn-lt"/>
                <a:cs typeface="Arial MT"/>
              </a:rPr>
              <a:t>Ratio</a:t>
            </a:r>
            <a:endParaRPr sz="3050" dirty="0">
              <a:latin typeface="+mn-lt"/>
              <a:cs typeface="Arial MT"/>
            </a:endParaRPr>
          </a:p>
          <a:p>
            <a:pPr marL="12700" marR="5080" indent="12700">
              <a:lnSpc>
                <a:spcPct val="92800"/>
              </a:lnSpc>
              <a:spcBef>
                <a:spcPts val="1360"/>
              </a:spcBef>
            </a:pPr>
            <a:r>
              <a:rPr sz="2300" spc="-125" dirty="0">
                <a:latin typeface="+mn-lt"/>
                <a:cs typeface="Arial MT"/>
              </a:rPr>
              <a:t>The</a:t>
            </a:r>
            <a:r>
              <a:rPr sz="2300" spc="-35" dirty="0">
                <a:latin typeface="+mn-lt"/>
                <a:cs typeface="Arial MT"/>
              </a:rPr>
              <a:t> </a:t>
            </a:r>
            <a:r>
              <a:rPr sz="2300" spc="-60" dirty="0">
                <a:latin typeface="+mn-lt"/>
                <a:cs typeface="Arial MT"/>
              </a:rPr>
              <a:t>financial</a:t>
            </a:r>
            <a:r>
              <a:rPr sz="2300" spc="-75" dirty="0">
                <a:latin typeface="+mn-lt"/>
                <a:cs typeface="Arial MT"/>
              </a:rPr>
              <a:t> gain</a:t>
            </a:r>
            <a:r>
              <a:rPr sz="2300" spc="-85" dirty="0">
                <a:latin typeface="+mn-lt"/>
                <a:cs typeface="Arial MT"/>
              </a:rPr>
              <a:t> </a:t>
            </a:r>
            <a:r>
              <a:rPr sz="2300" spc="-20" dirty="0">
                <a:latin typeface="+mn-lt"/>
                <a:cs typeface="Arial MT"/>
              </a:rPr>
              <a:t>from </a:t>
            </a:r>
            <a:r>
              <a:rPr sz="2300" spc="-55" dirty="0">
                <a:latin typeface="+mn-lt"/>
                <a:cs typeface="Arial MT"/>
              </a:rPr>
              <a:t>retained</a:t>
            </a:r>
            <a:r>
              <a:rPr sz="2300" spc="-105" dirty="0">
                <a:latin typeface="+mn-lt"/>
                <a:cs typeface="Arial MT"/>
              </a:rPr>
              <a:t> </a:t>
            </a:r>
            <a:r>
              <a:rPr sz="2300" dirty="0">
                <a:latin typeface="+mn-lt"/>
                <a:cs typeface="Arial MT"/>
              </a:rPr>
              <a:t>tuition</a:t>
            </a:r>
            <a:r>
              <a:rPr sz="2300" spc="-125" dirty="0">
                <a:latin typeface="+mn-lt"/>
                <a:cs typeface="Arial MT"/>
              </a:rPr>
              <a:t> </a:t>
            </a:r>
            <a:r>
              <a:rPr sz="2300" spc="-10" dirty="0">
                <a:latin typeface="+mn-lt"/>
                <a:cs typeface="Arial MT"/>
              </a:rPr>
              <a:t>versus </a:t>
            </a:r>
            <a:r>
              <a:rPr sz="2300" spc="-30" dirty="0">
                <a:latin typeface="+mn-lt"/>
                <a:cs typeface="Arial MT"/>
              </a:rPr>
              <a:t>the</a:t>
            </a:r>
            <a:r>
              <a:rPr sz="2300" spc="-130" dirty="0">
                <a:latin typeface="+mn-lt"/>
                <a:cs typeface="Arial MT"/>
              </a:rPr>
              <a:t> </a:t>
            </a:r>
            <a:r>
              <a:rPr sz="2300" spc="-10" dirty="0">
                <a:latin typeface="+mn-lt"/>
                <a:cs typeface="Arial MT"/>
              </a:rPr>
              <a:t>cost</a:t>
            </a:r>
            <a:r>
              <a:rPr sz="2300" spc="-140" dirty="0">
                <a:latin typeface="+mn-lt"/>
                <a:cs typeface="Arial MT"/>
              </a:rPr>
              <a:t> </a:t>
            </a:r>
            <a:r>
              <a:rPr sz="2300" spc="-25" dirty="0">
                <a:latin typeface="+mn-lt"/>
                <a:cs typeface="Arial MT"/>
              </a:rPr>
              <a:t>of</a:t>
            </a:r>
            <a:r>
              <a:rPr sz="2300" spc="575" dirty="0">
                <a:latin typeface="+mn-lt"/>
                <a:cs typeface="Arial MT"/>
              </a:rPr>
              <a:t> </a:t>
            </a:r>
            <a:r>
              <a:rPr sz="2350" spc="-60" dirty="0">
                <a:latin typeface="+mn-lt"/>
                <a:cs typeface="Arial MT"/>
              </a:rPr>
              <a:t>intervention</a:t>
            </a:r>
            <a:r>
              <a:rPr sz="2350" spc="-30" dirty="0">
                <a:latin typeface="+mn-lt"/>
                <a:cs typeface="Arial MT"/>
              </a:rPr>
              <a:t> </a:t>
            </a:r>
            <a:r>
              <a:rPr sz="2350" spc="-155" dirty="0">
                <a:latin typeface="+mn-lt"/>
                <a:cs typeface="Arial MT"/>
              </a:rPr>
              <a:t>and</a:t>
            </a:r>
            <a:r>
              <a:rPr sz="2350" spc="-5" dirty="0">
                <a:latin typeface="+mn-lt"/>
                <a:cs typeface="Arial MT"/>
              </a:rPr>
              <a:t> </a:t>
            </a:r>
            <a:r>
              <a:rPr sz="2350" spc="-110" dirty="0">
                <a:latin typeface="+mn-lt"/>
                <a:cs typeface="Arial MT"/>
              </a:rPr>
              <a:t>model </a:t>
            </a:r>
            <a:r>
              <a:rPr sz="2300" spc="-10" dirty="0">
                <a:latin typeface="+mn-lt"/>
                <a:cs typeface="Arial MT"/>
              </a:rPr>
              <a:t>maintenance.</a:t>
            </a:r>
            <a:endParaRPr sz="2300" dirty="0">
              <a:latin typeface="+mn-lt"/>
              <a:cs typeface="Arial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1F2EC"/>
        </a:solidFill>
        <a:effectLst/>
      </p:bgPr>
    </p:bg>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77900" y="2019300"/>
            <a:ext cx="15519400" cy="25400"/>
          </a:xfrm>
          <a:prstGeom prst="rect">
            <a:avLst/>
          </a:prstGeom>
        </p:spPr>
      </p:pic>
      <p:sp>
        <p:nvSpPr>
          <p:cNvPr id="3" name="object 3"/>
          <p:cNvSpPr txBox="1">
            <a:spLocks noGrp="1"/>
          </p:cNvSpPr>
          <p:nvPr>
            <p:ph type="title"/>
          </p:nvPr>
        </p:nvSpPr>
        <p:spPr>
          <a:xfrm>
            <a:off x="944748" y="697088"/>
            <a:ext cx="10765155" cy="956944"/>
          </a:xfrm>
          <a:prstGeom prst="rect">
            <a:avLst/>
          </a:prstGeom>
        </p:spPr>
        <p:txBody>
          <a:bodyPr vert="horz" wrap="square" lIns="0" tIns="13970" rIns="0" bIns="0" rtlCol="0">
            <a:spAutoFit/>
          </a:bodyPr>
          <a:lstStyle/>
          <a:p>
            <a:pPr marL="12700">
              <a:lnSpc>
                <a:spcPct val="100000"/>
              </a:lnSpc>
              <a:spcBef>
                <a:spcPts val="110"/>
              </a:spcBef>
            </a:pPr>
            <a:r>
              <a:rPr sz="6100" spc="-185" dirty="0">
                <a:solidFill>
                  <a:srgbClr val="1C1C1C"/>
                </a:solidFill>
                <a:latin typeface="+mj-lt"/>
              </a:rPr>
              <a:t>Framing</a:t>
            </a:r>
            <a:r>
              <a:rPr sz="6100" spc="-150" dirty="0">
                <a:solidFill>
                  <a:srgbClr val="1C1C1C"/>
                </a:solidFill>
                <a:latin typeface="+mj-lt"/>
              </a:rPr>
              <a:t> </a:t>
            </a:r>
            <a:r>
              <a:rPr sz="6100" spc="-150" dirty="0">
                <a:solidFill>
                  <a:srgbClr val="1F1F1F"/>
                </a:solidFill>
                <a:latin typeface="+mj-lt"/>
              </a:rPr>
              <a:t>the</a:t>
            </a:r>
            <a:r>
              <a:rPr sz="6100" spc="-185" dirty="0">
                <a:solidFill>
                  <a:srgbClr val="1F1F1F"/>
                </a:solidFill>
                <a:latin typeface="+mj-lt"/>
              </a:rPr>
              <a:t> </a:t>
            </a:r>
            <a:r>
              <a:rPr sz="6100" spc="-60" dirty="0">
                <a:solidFill>
                  <a:srgbClr val="1C1C1C"/>
                </a:solidFill>
                <a:latin typeface="+mj-lt"/>
              </a:rPr>
              <a:t>Data</a:t>
            </a:r>
            <a:r>
              <a:rPr sz="6100" spc="-275" dirty="0">
                <a:solidFill>
                  <a:srgbClr val="1C1C1C"/>
                </a:solidFill>
                <a:latin typeface="+mj-lt"/>
              </a:rPr>
              <a:t> </a:t>
            </a:r>
            <a:r>
              <a:rPr sz="6100" spc="-105" dirty="0">
                <a:solidFill>
                  <a:srgbClr val="1A1A1A"/>
                </a:solidFill>
                <a:latin typeface="+mj-lt"/>
              </a:rPr>
              <a:t>Science</a:t>
            </a:r>
            <a:r>
              <a:rPr sz="6100" spc="-160" dirty="0">
                <a:solidFill>
                  <a:srgbClr val="1A1A1A"/>
                </a:solidFill>
                <a:latin typeface="+mj-lt"/>
              </a:rPr>
              <a:t> </a:t>
            </a:r>
            <a:r>
              <a:rPr sz="6100" spc="-105" dirty="0">
                <a:solidFill>
                  <a:srgbClr val="1A1A1A"/>
                </a:solidFill>
                <a:latin typeface="+mj-lt"/>
              </a:rPr>
              <a:t>Solution</a:t>
            </a:r>
            <a:endParaRPr sz="6100" dirty="0">
              <a:latin typeface="+mj-lt"/>
            </a:endParaRPr>
          </a:p>
        </p:txBody>
      </p:sp>
      <p:sp>
        <p:nvSpPr>
          <p:cNvPr id="4" name="object 4"/>
          <p:cNvSpPr txBox="1"/>
          <p:nvPr/>
        </p:nvSpPr>
        <p:spPr>
          <a:xfrm>
            <a:off x="969218" y="2429933"/>
            <a:ext cx="3053715" cy="469900"/>
          </a:xfrm>
          <a:prstGeom prst="rect">
            <a:avLst/>
          </a:prstGeom>
        </p:spPr>
        <p:txBody>
          <a:bodyPr vert="horz" wrap="square" lIns="0" tIns="14604" rIns="0" bIns="0" rtlCol="0">
            <a:spAutoFit/>
          </a:bodyPr>
          <a:lstStyle/>
          <a:p>
            <a:pPr marL="12700">
              <a:lnSpc>
                <a:spcPct val="100000"/>
              </a:lnSpc>
              <a:spcBef>
                <a:spcPts val="114"/>
              </a:spcBef>
            </a:pPr>
            <a:r>
              <a:rPr sz="2900" b="1" dirty="0">
                <a:latin typeface="+mn-lt"/>
                <a:cs typeface="Arial MT"/>
              </a:rPr>
              <a:t>The</a:t>
            </a:r>
            <a:r>
              <a:rPr sz="2900" b="1" spc="-85" dirty="0">
                <a:latin typeface="+mn-lt"/>
                <a:cs typeface="Arial MT"/>
              </a:rPr>
              <a:t> </a:t>
            </a:r>
            <a:r>
              <a:rPr sz="2900" b="1" dirty="0">
                <a:latin typeface="+mn-lt"/>
                <a:cs typeface="Arial MT"/>
              </a:rPr>
              <a:t>Learning</a:t>
            </a:r>
            <a:r>
              <a:rPr sz="2900" b="1" spc="-55" dirty="0">
                <a:latin typeface="+mn-lt"/>
                <a:cs typeface="Arial MT"/>
              </a:rPr>
              <a:t> </a:t>
            </a:r>
            <a:r>
              <a:rPr sz="2900" b="1" spc="-45" dirty="0">
                <a:latin typeface="+mn-lt"/>
                <a:cs typeface="Arial MT"/>
              </a:rPr>
              <a:t>Task</a:t>
            </a:r>
            <a:endParaRPr sz="2900" b="1">
              <a:latin typeface="+mn-lt"/>
              <a:cs typeface="Arial MT"/>
            </a:endParaRPr>
          </a:p>
        </p:txBody>
      </p:sp>
      <p:sp>
        <p:nvSpPr>
          <p:cNvPr id="5" name="object 5"/>
          <p:cNvSpPr txBox="1"/>
          <p:nvPr/>
        </p:nvSpPr>
        <p:spPr>
          <a:xfrm>
            <a:off x="1173148" y="3208513"/>
            <a:ext cx="4164329" cy="4305730"/>
          </a:xfrm>
          <a:prstGeom prst="rect">
            <a:avLst/>
          </a:prstGeom>
        </p:spPr>
        <p:txBody>
          <a:bodyPr vert="horz" wrap="square" lIns="0" tIns="41275" rIns="0" bIns="0" rtlCol="0">
            <a:spAutoFit/>
          </a:bodyPr>
          <a:lstStyle/>
          <a:p>
            <a:pPr marL="302895" marR="250190" indent="-290830">
              <a:lnSpc>
                <a:spcPts val="3450"/>
              </a:lnSpc>
              <a:spcBef>
                <a:spcPts val="325"/>
              </a:spcBef>
              <a:buChar char="•"/>
              <a:tabLst>
                <a:tab pos="306070" algn="l"/>
              </a:tabLst>
            </a:pPr>
            <a:r>
              <a:rPr sz="2800" spc="-145" dirty="0">
                <a:latin typeface="+mn-lt"/>
                <a:cs typeface="Arial MT"/>
              </a:rPr>
              <a:t>Type:</a:t>
            </a:r>
            <a:r>
              <a:rPr sz="2800" spc="-60" dirty="0">
                <a:latin typeface="+mn-lt"/>
                <a:cs typeface="Arial MT"/>
              </a:rPr>
              <a:t> </a:t>
            </a:r>
            <a:r>
              <a:rPr sz="2800" spc="-185" dirty="0">
                <a:latin typeface="+mn-lt"/>
                <a:cs typeface="Arial MT"/>
              </a:rPr>
              <a:t>Supervised</a:t>
            </a:r>
            <a:r>
              <a:rPr sz="2800" spc="40" dirty="0">
                <a:latin typeface="+mn-lt"/>
                <a:cs typeface="Arial MT"/>
              </a:rPr>
              <a:t> </a:t>
            </a:r>
            <a:r>
              <a:rPr sz="2800" spc="-204" dirty="0">
                <a:latin typeface="+mn-lt"/>
                <a:cs typeface="Arial MT"/>
              </a:rPr>
              <a:t>Binary 	</a:t>
            </a:r>
            <a:r>
              <a:rPr sz="2800" spc="-70" dirty="0">
                <a:latin typeface="+mn-lt"/>
                <a:cs typeface="Arial MT"/>
              </a:rPr>
              <a:t>Classification.</a:t>
            </a:r>
            <a:endParaRPr sz="2800" dirty="0">
              <a:latin typeface="+mn-lt"/>
              <a:cs typeface="Arial MT"/>
            </a:endParaRPr>
          </a:p>
          <a:p>
            <a:pPr marL="301625" marR="581025" indent="-287020">
              <a:lnSpc>
                <a:spcPct val="101099"/>
              </a:lnSpc>
              <a:spcBef>
                <a:spcPts val="1525"/>
              </a:spcBef>
              <a:buChar char="•"/>
              <a:tabLst>
                <a:tab pos="301625" algn="l"/>
                <a:tab pos="308610" algn="l"/>
              </a:tabLst>
            </a:pPr>
            <a:r>
              <a:rPr sz="2800" dirty="0">
                <a:latin typeface="+mn-lt"/>
                <a:cs typeface="Arial MT"/>
              </a:rPr>
              <a:t>	Objective:</a:t>
            </a:r>
            <a:r>
              <a:rPr sz="2800" spc="120" dirty="0">
                <a:latin typeface="+mn-lt"/>
                <a:cs typeface="Arial MT"/>
              </a:rPr>
              <a:t> </a:t>
            </a:r>
            <a:r>
              <a:rPr sz="2800" spc="-200" dirty="0">
                <a:latin typeface="+mn-lt"/>
                <a:cs typeface="Arial MT"/>
              </a:rPr>
              <a:t>To</a:t>
            </a:r>
            <a:r>
              <a:rPr sz="2800" spc="-5" dirty="0">
                <a:latin typeface="+mn-lt"/>
                <a:cs typeface="Arial MT"/>
              </a:rPr>
              <a:t> </a:t>
            </a:r>
            <a:r>
              <a:rPr sz="2800" spc="-10" dirty="0">
                <a:latin typeface="+mn-lt"/>
                <a:cs typeface="Arial MT"/>
              </a:rPr>
              <a:t>predict </a:t>
            </a:r>
            <a:r>
              <a:rPr sz="2800" spc="-95" dirty="0">
                <a:latin typeface="+mn-lt"/>
                <a:cs typeface="Arial MT"/>
              </a:rPr>
              <a:t>whether</a:t>
            </a:r>
            <a:r>
              <a:rPr sz="2800" spc="-105" dirty="0">
                <a:latin typeface="+mn-lt"/>
                <a:cs typeface="Arial MT"/>
              </a:rPr>
              <a:t> </a:t>
            </a:r>
            <a:r>
              <a:rPr sz="2800" spc="-245" dirty="0">
                <a:latin typeface="+mn-lt"/>
                <a:cs typeface="Arial MT"/>
              </a:rPr>
              <a:t>a</a:t>
            </a:r>
            <a:r>
              <a:rPr sz="2800" spc="-35" dirty="0">
                <a:latin typeface="+mn-lt"/>
                <a:cs typeface="Arial MT"/>
              </a:rPr>
              <a:t> </a:t>
            </a:r>
            <a:r>
              <a:rPr sz="2800" spc="-70" dirty="0">
                <a:latin typeface="+mn-lt"/>
                <a:cs typeface="Arial MT"/>
              </a:rPr>
              <a:t>student</a:t>
            </a:r>
            <a:r>
              <a:rPr sz="2800" spc="-30" dirty="0">
                <a:latin typeface="+mn-lt"/>
                <a:cs typeface="Arial MT"/>
              </a:rPr>
              <a:t> </a:t>
            </a:r>
            <a:r>
              <a:rPr sz="2800" spc="-35" dirty="0">
                <a:latin typeface="+mn-lt"/>
                <a:cs typeface="Arial MT"/>
              </a:rPr>
              <a:t>will </a:t>
            </a:r>
            <a:r>
              <a:rPr sz="2800" spc="-105" dirty="0">
                <a:latin typeface="+mn-lt"/>
                <a:cs typeface="Arial MT"/>
              </a:rPr>
              <a:t>ultimately</a:t>
            </a:r>
            <a:r>
              <a:rPr sz="2800" spc="-50" dirty="0">
                <a:latin typeface="+mn-lt"/>
                <a:cs typeface="Arial MT"/>
              </a:rPr>
              <a:t> </a:t>
            </a:r>
            <a:r>
              <a:rPr sz="2800" spc="-125" dirty="0">
                <a:latin typeface="+mn-lt"/>
                <a:cs typeface="Arial MT"/>
              </a:rPr>
              <a:t>’Dropout’</a:t>
            </a:r>
            <a:r>
              <a:rPr sz="2800" spc="-20" dirty="0">
                <a:latin typeface="+mn-lt"/>
                <a:cs typeface="Arial MT"/>
              </a:rPr>
              <a:t> </a:t>
            </a:r>
            <a:r>
              <a:rPr sz="2800" spc="-35" dirty="0">
                <a:latin typeface="+mn-lt"/>
                <a:cs typeface="Arial MT"/>
              </a:rPr>
              <a:t>or </a:t>
            </a:r>
            <a:r>
              <a:rPr sz="2800" spc="-10" dirty="0">
                <a:latin typeface="+mn-lt"/>
                <a:cs typeface="Arial MT"/>
              </a:rPr>
              <a:t>’Graduate.</a:t>
            </a:r>
            <a:endParaRPr sz="2800" dirty="0">
              <a:latin typeface="+mn-lt"/>
              <a:cs typeface="Arial MT"/>
            </a:endParaRPr>
          </a:p>
          <a:p>
            <a:pPr marL="303530" marR="5080" indent="-291465">
              <a:lnSpc>
                <a:spcPct val="96200"/>
              </a:lnSpc>
              <a:spcBef>
                <a:spcPts val="1540"/>
              </a:spcBef>
              <a:buChar char="•"/>
              <a:tabLst>
                <a:tab pos="312420" algn="l"/>
              </a:tabLst>
            </a:pPr>
            <a:r>
              <a:rPr sz="2800" spc="-204" dirty="0">
                <a:latin typeface="+mn-lt"/>
                <a:cs typeface="Arial MT"/>
              </a:rPr>
              <a:t>Target</a:t>
            </a:r>
            <a:r>
              <a:rPr sz="2800" spc="-65" dirty="0">
                <a:latin typeface="+mn-lt"/>
                <a:cs typeface="Arial MT"/>
              </a:rPr>
              <a:t> </a:t>
            </a:r>
            <a:r>
              <a:rPr sz="2800" spc="-165" dirty="0">
                <a:latin typeface="+mn-lt"/>
                <a:cs typeface="Arial MT"/>
              </a:rPr>
              <a:t>Variable:</a:t>
            </a:r>
            <a:r>
              <a:rPr sz="2800" spc="30" dirty="0">
                <a:latin typeface="+mn-lt"/>
                <a:cs typeface="Arial MT"/>
              </a:rPr>
              <a:t> </a:t>
            </a:r>
            <a:r>
              <a:rPr sz="2800" spc="-490" dirty="0">
                <a:latin typeface="+mn-lt"/>
                <a:cs typeface="Arial MT"/>
              </a:rPr>
              <a:t>A</a:t>
            </a:r>
            <a:r>
              <a:rPr sz="2800" spc="-105" dirty="0">
                <a:latin typeface="+mn-lt"/>
                <a:cs typeface="Arial MT"/>
              </a:rPr>
              <a:t> </a:t>
            </a:r>
            <a:r>
              <a:rPr sz="2800" spc="-65" dirty="0">
                <a:latin typeface="+mn-lt"/>
                <a:cs typeface="Arial MT"/>
              </a:rPr>
              <a:t>binary 	</a:t>
            </a:r>
            <a:r>
              <a:rPr sz="2800" spc="-260" dirty="0">
                <a:latin typeface="+mn-lt"/>
                <a:cs typeface="Arial MT"/>
              </a:rPr>
              <a:t>outcome</a:t>
            </a:r>
            <a:r>
              <a:rPr sz="2800" spc="105" dirty="0">
                <a:latin typeface="+mn-lt"/>
                <a:cs typeface="Arial MT"/>
              </a:rPr>
              <a:t> </a:t>
            </a:r>
            <a:r>
              <a:rPr sz="2800" spc="-204" dirty="0">
                <a:latin typeface="+mn-lt"/>
                <a:cs typeface="Arial MT"/>
              </a:rPr>
              <a:t>derived</a:t>
            </a:r>
            <a:r>
              <a:rPr sz="2800" spc="25" dirty="0">
                <a:latin typeface="+mn-lt"/>
                <a:cs typeface="Arial MT"/>
              </a:rPr>
              <a:t> </a:t>
            </a:r>
            <a:r>
              <a:rPr sz="2800" spc="-215" dirty="0">
                <a:latin typeface="+mn-lt"/>
                <a:cs typeface="Arial MT"/>
              </a:rPr>
              <a:t>from</a:t>
            </a:r>
            <a:r>
              <a:rPr sz="2800" spc="-20" dirty="0">
                <a:latin typeface="+mn-lt"/>
                <a:cs typeface="Arial MT"/>
              </a:rPr>
              <a:t> </a:t>
            </a:r>
            <a:r>
              <a:rPr sz="2800" spc="-150" dirty="0">
                <a:latin typeface="+mn-lt"/>
                <a:cs typeface="Arial MT"/>
              </a:rPr>
              <a:t>the 	</a:t>
            </a:r>
            <a:r>
              <a:rPr sz="2800" spc="-120" dirty="0">
                <a:latin typeface="+mn-lt"/>
                <a:cs typeface="Arial MT"/>
              </a:rPr>
              <a:t>student's</a:t>
            </a:r>
            <a:r>
              <a:rPr sz="2800" spc="-20" dirty="0">
                <a:latin typeface="+mn-lt"/>
                <a:cs typeface="Arial MT"/>
              </a:rPr>
              <a:t> </a:t>
            </a:r>
            <a:r>
              <a:rPr sz="2800" spc="-90" dirty="0">
                <a:latin typeface="+mn-lt"/>
                <a:cs typeface="Arial MT"/>
              </a:rPr>
              <a:t>final</a:t>
            </a:r>
            <a:r>
              <a:rPr sz="2800" spc="-110" dirty="0">
                <a:latin typeface="+mn-lt"/>
                <a:cs typeface="Arial MT"/>
              </a:rPr>
              <a:t> </a:t>
            </a:r>
            <a:r>
              <a:rPr sz="2800" spc="-10" dirty="0">
                <a:latin typeface="+mn-lt"/>
                <a:cs typeface="Arial MT"/>
              </a:rPr>
              <a:t>status.</a:t>
            </a:r>
            <a:endParaRPr sz="2800" dirty="0">
              <a:latin typeface="+mn-lt"/>
              <a:cs typeface="Arial MT"/>
            </a:endParaRPr>
          </a:p>
        </p:txBody>
      </p:sp>
      <p:sp>
        <p:nvSpPr>
          <p:cNvPr id="6" name="object 6"/>
          <p:cNvSpPr txBox="1"/>
          <p:nvPr/>
        </p:nvSpPr>
        <p:spPr>
          <a:xfrm>
            <a:off x="6366718" y="2429933"/>
            <a:ext cx="3456940" cy="469900"/>
          </a:xfrm>
          <a:prstGeom prst="rect">
            <a:avLst/>
          </a:prstGeom>
        </p:spPr>
        <p:txBody>
          <a:bodyPr vert="horz" wrap="square" lIns="0" tIns="14604" rIns="0" bIns="0" rtlCol="0">
            <a:spAutoFit/>
          </a:bodyPr>
          <a:lstStyle/>
          <a:p>
            <a:pPr marL="12700">
              <a:lnSpc>
                <a:spcPct val="100000"/>
              </a:lnSpc>
              <a:spcBef>
                <a:spcPts val="114"/>
              </a:spcBef>
            </a:pPr>
            <a:r>
              <a:rPr sz="2900" b="1" dirty="0">
                <a:latin typeface="+mn-lt"/>
                <a:cs typeface="Arial MT"/>
              </a:rPr>
              <a:t>The</a:t>
            </a:r>
            <a:r>
              <a:rPr sz="2900" b="1" spc="-200" dirty="0">
                <a:latin typeface="+mn-lt"/>
                <a:cs typeface="Arial MT"/>
              </a:rPr>
              <a:t> </a:t>
            </a:r>
            <a:r>
              <a:rPr sz="2900" b="1" dirty="0">
                <a:latin typeface="+mn-lt"/>
                <a:cs typeface="Arial MT"/>
              </a:rPr>
              <a:t>Data</a:t>
            </a:r>
            <a:r>
              <a:rPr sz="2900" b="1" spc="-200" dirty="0">
                <a:latin typeface="+mn-lt"/>
                <a:cs typeface="Arial MT"/>
              </a:rPr>
              <a:t> </a:t>
            </a:r>
            <a:r>
              <a:rPr sz="2900" b="1" spc="-10" dirty="0">
                <a:latin typeface="+mn-lt"/>
                <a:cs typeface="Arial MT"/>
              </a:rPr>
              <a:t>Foundation</a:t>
            </a:r>
            <a:endParaRPr sz="2900" b="1">
              <a:latin typeface="+mn-lt"/>
              <a:cs typeface="Arial MT"/>
            </a:endParaRPr>
          </a:p>
        </p:txBody>
      </p:sp>
      <p:sp>
        <p:nvSpPr>
          <p:cNvPr id="7" name="object 7"/>
          <p:cNvSpPr txBox="1"/>
          <p:nvPr/>
        </p:nvSpPr>
        <p:spPr>
          <a:xfrm>
            <a:off x="6347874" y="3190875"/>
            <a:ext cx="4609465" cy="5410135"/>
          </a:xfrm>
          <a:prstGeom prst="rect">
            <a:avLst/>
          </a:prstGeom>
        </p:spPr>
        <p:txBody>
          <a:bodyPr vert="horz" wrap="square" lIns="0" tIns="67945" rIns="0" bIns="0" rtlCol="0">
            <a:spAutoFit/>
          </a:bodyPr>
          <a:lstStyle/>
          <a:p>
            <a:pPr marL="12700" marR="5080" indent="9525">
              <a:lnSpc>
                <a:spcPct val="88900"/>
              </a:lnSpc>
              <a:spcBef>
                <a:spcPts val="535"/>
              </a:spcBef>
            </a:pPr>
            <a:r>
              <a:rPr sz="2800" dirty="0">
                <a:latin typeface="+mn-lt"/>
                <a:cs typeface="Arial MT"/>
              </a:rPr>
              <a:t>Source: The dataset originates from a higher education institution in Portugal, encompassing a rich set of multimodal features.</a:t>
            </a:r>
          </a:p>
          <a:p>
            <a:pPr marL="38735" marR="93345" indent="9525">
              <a:lnSpc>
                <a:spcPct val="93100"/>
              </a:lnSpc>
              <a:spcBef>
                <a:spcPts val="1725"/>
              </a:spcBef>
            </a:pPr>
            <a:r>
              <a:rPr sz="2800" dirty="0">
                <a:latin typeface="+mn-lt"/>
                <a:cs typeface="Arial MT"/>
              </a:rPr>
              <a:t>Scope: It contains 4,424 records of undergraduate students across 17 degree programmes, with 37 distinct features including demographics, prior academic qualifications, and first-year performance data.</a:t>
            </a:r>
          </a:p>
        </p:txBody>
      </p:sp>
      <p:sp>
        <p:nvSpPr>
          <p:cNvPr id="8" name="object 8"/>
          <p:cNvSpPr txBox="1"/>
          <p:nvPr/>
        </p:nvSpPr>
        <p:spPr>
          <a:xfrm>
            <a:off x="11743638" y="2421113"/>
            <a:ext cx="4563745" cy="480695"/>
          </a:xfrm>
          <a:prstGeom prst="rect">
            <a:avLst/>
          </a:prstGeom>
        </p:spPr>
        <p:txBody>
          <a:bodyPr vert="horz" wrap="square" lIns="0" tIns="17145" rIns="0" bIns="0" rtlCol="0">
            <a:spAutoFit/>
          </a:bodyPr>
          <a:lstStyle/>
          <a:p>
            <a:pPr marL="12700">
              <a:lnSpc>
                <a:spcPct val="100000"/>
              </a:lnSpc>
              <a:spcBef>
                <a:spcPts val="135"/>
              </a:spcBef>
            </a:pPr>
            <a:r>
              <a:rPr sz="2950" b="1" dirty="0">
                <a:latin typeface="+mn-lt"/>
                <a:cs typeface="Arial MT"/>
              </a:rPr>
              <a:t>Defining</a:t>
            </a:r>
            <a:r>
              <a:rPr sz="2950" b="1" spc="-175" dirty="0">
                <a:latin typeface="+mn-lt"/>
                <a:cs typeface="Arial MT"/>
              </a:rPr>
              <a:t> </a:t>
            </a:r>
            <a:r>
              <a:rPr sz="2950" b="1" spc="-10" dirty="0">
                <a:latin typeface="+mn-lt"/>
                <a:cs typeface="Arial MT"/>
              </a:rPr>
              <a:t>Technical</a:t>
            </a:r>
            <a:r>
              <a:rPr sz="2950" b="1" spc="-45" dirty="0">
                <a:latin typeface="+mn-lt"/>
                <a:cs typeface="Arial MT"/>
              </a:rPr>
              <a:t> </a:t>
            </a:r>
            <a:r>
              <a:rPr sz="2950" b="1" spc="-20" dirty="0">
                <a:latin typeface="+mn-lt"/>
                <a:cs typeface="Arial MT"/>
              </a:rPr>
              <a:t>Success</a:t>
            </a:r>
            <a:endParaRPr sz="2950" b="1" dirty="0">
              <a:latin typeface="+mn-lt"/>
              <a:cs typeface="Arial MT"/>
            </a:endParaRPr>
          </a:p>
        </p:txBody>
      </p:sp>
      <p:sp>
        <p:nvSpPr>
          <p:cNvPr id="9" name="object 9"/>
          <p:cNvSpPr txBox="1"/>
          <p:nvPr/>
        </p:nvSpPr>
        <p:spPr>
          <a:xfrm>
            <a:off x="11729694" y="3226152"/>
            <a:ext cx="4787900" cy="2924967"/>
          </a:xfrm>
          <a:prstGeom prst="rect">
            <a:avLst/>
          </a:prstGeom>
        </p:spPr>
        <p:txBody>
          <a:bodyPr vert="horz" wrap="square" lIns="0" tIns="29209" rIns="0" bIns="0" rtlCol="0">
            <a:spAutoFit/>
          </a:bodyPr>
          <a:lstStyle/>
          <a:p>
            <a:pPr marL="12700" marR="5080" indent="10795">
              <a:lnSpc>
                <a:spcPct val="96100"/>
              </a:lnSpc>
              <a:spcBef>
                <a:spcPts val="229"/>
              </a:spcBef>
            </a:pPr>
            <a:r>
              <a:rPr sz="2800" dirty="0">
                <a:latin typeface="+mn-lt"/>
                <a:cs typeface="Arial MT"/>
              </a:rPr>
              <a:t>Given the high cost of missing a student who is at risk (a False Negative), the model will be optimised to maximise Recall and Area Under the Precision- RecallCurve (AUPRC), rather than simple accuracy.</a:t>
            </a:r>
          </a:p>
        </p:txBody>
      </p:sp>
      <p:sp>
        <p:nvSpPr>
          <p:cNvPr id="10" name="object 10"/>
          <p:cNvSpPr txBox="1"/>
          <p:nvPr/>
        </p:nvSpPr>
        <p:spPr>
          <a:xfrm>
            <a:off x="11741702" y="6689725"/>
            <a:ext cx="4694555" cy="2002471"/>
          </a:xfrm>
          <a:prstGeom prst="rect">
            <a:avLst/>
          </a:prstGeom>
        </p:spPr>
        <p:txBody>
          <a:bodyPr vert="horz" wrap="square" lIns="0" tIns="62865" rIns="0" bIns="0" rtlCol="0">
            <a:spAutoFit/>
          </a:bodyPr>
          <a:lstStyle/>
          <a:p>
            <a:pPr marL="16510" marR="5080" indent="-4445">
              <a:lnSpc>
                <a:spcPct val="90000"/>
              </a:lnSpc>
              <a:spcBef>
                <a:spcPts val="495"/>
              </a:spcBef>
            </a:pPr>
            <a:r>
              <a:rPr sz="2800" dirty="0">
                <a:solidFill>
                  <a:srgbClr val="B64911"/>
                </a:solidFill>
                <a:latin typeface="+mn-lt"/>
                <a:cs typeface="Arial MT"/>
              </a:rPr>
              <a:t>Recall </a:t>
            </a:r>
            <a:r>
              <a:rPr sz="2800" dirty="0">
                <a:solidFill>
                  <a:srgbClr val="B14F1A"/>
                </a:solidFill>
                <a:latin typeface="+mn-lt"/>
                <a:cs typeface="Arial MT"/>
              </a:rPr>
              <a:t>(Sensitivity) </a:t>
            </a:r>
            <a:r>
              <a:rPr sz="2800" dirty="0">
                <a:latin typeface="+mn-lt"/>
                <a:cs typeface="Arial MT"/>
              </a:rPr>
              <a:t>is the primary technical metric, as the goal is to identify the highest possible percentage of true at- risk students.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1F2EC"/>
        </a:solidFill>
        <a:effectLst/>
      </p:bgPr>
    </p:bg>
    <p:spTree>
      <p:nvGrpSpPr>
        <p:cNvPr id="1" name=""/>
        <p:cNvGrpSpPr/>
        <p:nvPr/>
      </p:nvGrpSpPr>
      <p:grpSpPr>
        <a:xfrm>
          <a:off x="0" y="0"/>
          <a:ext cx="0" cy="0"/>
          <a:chOff x="0" y="0"/>
          <a:chExt cx="0" cy="0"/>
        </a:xfrm>
      </p:grpSpPr>
      <p:sp>
        <p:nvSpPr>
          <p:cNvPr id="5" name="object 5"/>
          <p:cNvSpPr txBox="1">
            <a:spLocks noGrp="1"/>
          </p:cNvSpPr>
          <p:nvPr>
            <p:ph type="title"/>
          </p:nvPr>
        </p:nvSpPr>
        <p:spPr>
          <a:xfrm>
            <a:off x="828712" y="39987"/>
            <a:ext cx="15661640" cy="2152650"/>
          </a:xfrm>
          <a:prstGeom prst="rect">
            <a:avLst/>
          </a:prstGeom>
        </p:spPr>
        <p:txBody>
          <a:bodyPr vert="horz" wrap="square" lIns="0" tIns="315595" rIns="0" bIns="0" rtlCol="0">
            <a:spAutoFit/>
          </a:bodyPr>
          <a:lstStyle/>
          <a:p>
            <a:pPr marL="12700">
              <a:lnSpc>
                <a:spcPct val="100000"/>
              </a:lnSpc>
              <a:spcBef>
                <a:spcPts val="2485"/>
              </a:spcBef>
            </a:pPr>
            <a:r>
              <a:rPr sz="6250" dirty="0">
                <a:solidFill>
                  <a:srgbClr val="1C1C1C"/>
                </a:solidFill>
                <a:latin typeface="+mj-lt"/>
              </a:rPr>
              <a:t>Understanding</a:t>
            </a:r>
            <a:r>
              <a:rPr sz="6250" spc="140" dirty="0">
                <a:solidFill>
                  <a:srgbClr val="1C1C1C"/>
                </a:solidFill>
                <a:latin typeface="+mj-lt"/>
              </a:rPr>
              <a:t> </a:t>
            </a:r>
            <a:r>
              <a:rPr sz="6250" spc="-10" dirty="0">
                <a:solidFill>
                  <a:srgbClr val="1D1D1D"/>
                </a:solidFill>
                <a:latin typeface="+mj-lt"/>
              </a:rPr>
              <a:t>the</a:t>
            </a:r>
            <a:r>
              <a:rPr sz="6250" spc="-360" dirty="0">
                <a:solidFill>
                  <a:srgbClr val="1D1D1D"/>
                </a:solidFill>
                <a:latin typeface="+mj-lt"/>
              </a:rPr>
              <a:t> </a:t>
            </a:r>
            <a:r>
              <a:rPr sz="6250" spc="-70" dirty="0">
                <a:solidFill>
                  <a:srgbClr val="1F1F1F"/>
                </a:solidFill>
                <a:latin typeface="+mj-lt"/>
              </a:rPr>
              <a:t>Target</a:t>
            </a:r>
            <a:r>
              <a:rPr sz="6250" spc="-275" dirty="0">
                <a:solidFill>
                  <a:srgbClr val="1F1F1F"/>
                </a:solidFill>
                <a:latin typeface="+mj-lt"/>
              </a:rPr>
              <a:t> </a:t>
            </a:r>
            <a:r>
              <a:rPr sz="6250" spc="-10" dirty="0">
                <a:solidFill>
                  <a:srgbClr val="1D1D1D"/>
                </a:solidFill>
                <a:latin typeface="+mj-lt"/>
              </a:rPr>
              <a:t>Population</a:t>
            </a:r>
            <a:endParaRPr sz="6250" dirty="0">
              <a:latin typeface="+mj-lt"/>
            </a:endParaRPr>
          </a:p>
          <a:p>
            <a:pPr marL="22225" marR="5080" indent="14604">
              <a:lnSpc>
                <a:spcPts val="2800"/>
              </a:lnSpc>
              <a:spcBef>
                <a:spcPts val="1310"/>
              </a:spcBef>
            </a:pPr>
            <a:r>
              <a:rPr sz="2550" dirty="0">
                <a:latin typeface="+mn-lt"/>
              </a:rPr>
              <a:t>The</a:t>
            </a:r>
            <a:r>
              <a:rPr sz="2550" spc="-30" dirty="0">
                <a:latin typeface="+mn-lt"/>
              </a:rPr>
              <a:t> </a:t>
            </a:r>
            <a:r>
              <a:rPr sz="2550" spc="-135" dirty="0">
                <a:latin typeface="+mn-lt"/>
              </a:rPr>
              <a:t>raw</a:t>
            </a:r>
            <a:r>
              <a:rPr sz="2550" spc="-5" dirty="0">
                <a:latin typeface="+mn-lt"/>
              </a:rPr>
              <a:t> </a:t>
            </a:r>
            <a:r>
              <a:rPr sz="2550" dirty="0">
                <a:latin typeface="+mn-lt"/>
              </a:rPr>
              <a:t>dataset</a:t>
            </a:r>
            <a:r>
              <a:rPr sz="2550" spc="114" dirty="0">
                <a:latin typeface="+mn-lt"/>
              </a:rPr>
              <a:t> </a:t>
            </a:r>
            <a:r>
              <a:rPr sz="2550" spc="-25" dirty="0">
                <a:latin typeface="+mn-lt"/>
              </a:rPr>
              <a:t>includes</a:t>
            </a:r>
            <a:r>
              <a:rPr sz="2550" spc="20" dirty="0">
                <a:latin typeface="+mn-lt"/>
              </a:rPr>
              <a:t> </a:t>
            </a:r>
            <a:r>
              <a:rPr sz="2550" spc="-25" dirty="0">
                <a:latin typeface="+mn-lt"/>
              </a:rPr>
              <a:t>three</a:t>
            </a:r>
            <a:r>
              <a:rPr sz="2550" spc="70" dirty="0">
                <a:latin typeface="+mn-lt"/>
              </a:rPr>
              <a:t> </a:t>
            </a:r>
            <a:r>
              <a:rPr sz="2550" spc="-30" dirty="0">
                <a:latin typeface="+mn-lt"/>
              </a:rPr>
              <a:t>student</a:t>
            </a:r>
            <a:r>
              <a:rPr sz="2550" spc="80" dirty="0">
                <a:latin typeface="+mn-lt"/>
              </a:rPr>
              <a:t> </a:t>
            </a:r>
            <a:r>
              <a:rPr sz="2550" dirty="0">
                <a:latin typeface="+mn-lt"/>
              </a:rPr>
              <a:t>outcomes:</a:t>
            </a:r>
            <a:r>
              <a:rPr sz="2550" spc="15" dirty="0">
                <a:latin typeface="+mn-lt"/>
              </a:rPr>
              <a:t> </a:t>
            </a:r>
            <a:r>
              <a:rPr sz="2550" dirty="0">
                <a:latin typeface="+mn-lt"/>
              </a:rPr>
              <a:t>'Graduate',</a:t>
            </a:r>
            <a:r>
              <a:rPr sz="2550" spc="100" dirty="0">
                <a:latin typeface="+mn-lt"/>
              </a:rPr>
              <a:t> </a:t>
            </a:r>
            <a:r>
              <a:rPr sz="2550" spc="-35" dirty="0">
                <a:latin typeface="+mn-lt"/>
              </a:rPr>
              <a:t>'Dropout',</a:t>
            </a:r>
            <a:r>
              <a:rPr sz="2550" spc="114" dirty="0">
                <a:latin typeface="+mn-lt"/>
              </a:rPr>
              <a:t> </a:t>
            </a:r>
            <a:r>
              <a:rPr sz="2550" dirty="0">
                <a:latin typeface="+mn-lt"/>
              </a:rPr>
              <a:t>and</a:t>
            </a:r>
            <a:r>
              <a:rPr sz="2550" spc="60" dirty="0">
                <a:latin typeface="+mn-lt"/>
              </a:rPr>
              <a:t> </a:t>
            </a:r>
            <a:r>
              <a:rPr sz="2550" spc="-50" dirty="0">
                <a:latin typeface="+mn-lt"/>
              </a:rPr>
              <a:t>'Enrolled'.</a:t>
            </a:r>
            <a:r>
              <a:rPr sz="2550" spc="170" dirty="0">
                <a:latin typeface="+mn-lt"/>
              </a:rPr>
              <a:t> </a:t>
            </a:r>
            <a:r>
              <a:rPr sz="2550" spc="-80" dirty="0">
                <a:latin typeface="+mn-lt"/>
              </a:rPr>
              <a:t>For</a:t>
            </a:r>
            <a:r>
              <a:rPr sz="2550" spc="-55" dirty="0">
                <a:latin typeface="+mn-lt"/>
              </a:rPr>
              <a:t> </a:t>
            </a:r>
            <a:r>
              <a:rPr sz="2550" dirty="0">
                <a:latin typeface="+mn-lt"/>
              </a:rPr>
              <a:t>a</a:t>
            </a:r>
            <a:r>
              <a:rPr sz="2550" spc="30" dirty="0">
                <a:latin typeface="+mn-lt"/>
              </a:rPr>
              <a:t> </a:t>
            </a:r>
            <a:r>
              <a:rPr sz="2550" spc="-55" dirty="0">
                <a:latin typeface="+mn-lt"/>
              </a:rPr>
              <a:t>predictive</a:t>
            </a:r>
            <a:r>
              <a:rPr sz="2550" spc="155" dirty="0">
                <a:latin typeface="+mn-lt"/>
              </a:rPr>
              <a:t> </a:t>
            </a:r>
            <a:r>
              <a:rPr sz="2550" spc="-30" dirty="0">
                <a:latin typeface="+mn-lt"/>
              </a:rPr>
              <a:t>model,</a:t>
            </a:r>
            <a:r>
              <a:rPr sz="2550" spc="135" dirty="0">
                <a:latin typeface="+mn-lt"/>
              </a:rPr>
              <a:t> </a:t>
            </a:r>
            <a:r>
              <a:rPr sz="2550" spc="-25" dirty="0">
                <a:latin typeface="+mn-lt"/>
              </a:rPr>
              <a:t>we </a:t>
            </a:r>
            <a:r>
              <a:rPr sz="2550" dirty="0">
                <a:latin typeface="+mn-lt"/>
              </a:rPr>
              <a:t>focus</a:t>
            </a:r>
            <a:r>
              <a:rPr sz="2550" spc="-40" dirty="0">
                <a:latin typeface="+mn-lt"/>
              </a:rPr>
              <a:t> </a:t>
            </a:r>
            <a:r>
              <a:rPr sz="2550" dirty="0">
                <a:latin typeface="+mn-lt"/>
              </a:rPr>
              <a:t>on</a:t>
            </a:r>
            <a:r>
              <a:rPr sz="2550" spc="35" dirty="0">
                <a:latin typeface="+mn-lt"/>
              </a:rPr>
              <a:t> </a:t>
            </a:r>
            <a:r>
              <a:rPr sz="2550" dirty="0">
                <a:latin typeface="+mn-lt"/>
              </a:rPr>
              <a:t>the</a:t>
            </a:r>
            <a:r>
              <a:rPr sz="2550" spc="-45" dirty="0">
                <a:latin typeface="+mn-lt"/>
              </a:rPr>
              <a:t> </a:t>
            </a:r>
            <a:r>
              <a:rPr sz="2550" spc="-20" dirty="0">
                <a:latin typeface="+mn-lt"/>
              </a:rPr>
              <a:t>two</a:t>
            </a:r>
            <a:r>
              <a:rPr sz="2550" spc="-35" dirty="0">
                <a:latin typeface="+mn-lt"/>
              </a:rPr>
              <a:t> </a:t>
            </a:r>
            <a:r>
              <a:rPr sz="2550" spc="-55" dirty="0">
                <a:latin typeface="+mn-lt"/>
              </a:rPr>
              <a:t>definitive</a:t>
            </a:r>
            <a:r>
              <a:rPr sz="2550" spc="114" dirty="0">
                <a:latin typeface="+mn-lt"/>
              </a:rPr>
              <a:t> </a:t>
            </a:r>
            <a:r>
              <a:rPr sz="2550" spc="-75" dirty="0">
                <a:latin typeface="+mn-lt"/>
              </a:rPr>
              <a:t>final</a:t>
            </a:r>
            <a:r>
              <a:rPr sz="2550" spc="75" dirty="0">
                <a:latin typeface="+mn-lt"/>
              </a:rPr>
              <a:t> </a:t>
            </a:r>
            <a:r>
              <a:rPr sz="2550" spc="-10" dirty="0">
                <a:latin typeface="+mn-lt"/>
              </a:rPr>
              <a:t>outcomes.</a:t>
            </a:r>
            <a:endParaRPr sz="2550" dirty="0">
              <a:latin typeface="+mn-lt"/>
            </a:endParaRPr>
          </a:p>
        </p:txBody>
      </p:sp>
      <p:sp>
        <p:nvSpPr>
          <p:cNvPr id="6" name="object 6"/>
          <p:cNvSpPr txBox="1"/>
          <p:nvPr/>
        </p:nvSpPr>
        <p:spPr>
          <a:xfrm>
            <a:off x="835985" y="2561519"/>
            <a:ext cx="6715759" cy="586740"/>
          </a:xfrm>
          <a:prstGeom prst="rect">
            <a:avLst/>
          </a:prstGeom>
        </p:spPr>
        <p:txBody>
          <a:bodyPr vert="horz" wrap="square" lIns="0" tIns="16510" rIns="0" bIns="0" rtlCol="0">
            <a:spAutoFit/>
          </a:bodyPr>
          <a:lstStyle/>
          <a:p>
            <a:pPr marL="12700">
              <a:lnSpc>
                <a:spcPct val="100000"/>
              </a:lnSpc>
              <a:spcBef>
                <a:spcPts val="130"/>
              </a:spcBef>
            </a:pPr>
            <a:r>
              <a:rPr sz="3650" dirty="0">
                <a:solidFill>
                  <a:srgbClr val="0F0F0F"/>
                </a:solidFill>
                <a:latin typeface="+mn-lt"/>
                <a:cs typeface="Cambria"/>
              </a:rPr>
              <a:t>Initial</a:t>
            </a:r>
            <a:r>
              <a:rPr sz="3650" spc="-114" dirty="0">
                <a:solidFill>
                  <a:srgbClr val="0F0F0F"/>
                </a:solidFill>
                <a:latin typeface="+mn-lt"/>
                <a:cs typeface="Cambria"/>
              </a:rPr>
              <a:t> </a:t>
            </a:r>
            <a:r>
              <a:rPr sz="3650" dirty="0">
                <a:solidFill>
                  <a:srgbClr val="0C0C0C"/>
                </a:solidFill>
                <a:latin typeface="+mn-lt"/>
                <a:cs typeface="Cambria"/>
              </a:rPr>
              <a:t>Distribution</a:t>
            </a:r>
            <a:r>
              <a:rPr sz="3650" spc="-20" dirty="0">
                <a:solidFill>
                  <a:srgbClr val="0C0C0C"/>
                </a:solidFill>
                <a:latin typeface="+mn-lt"/>
                <a:cs typeface="Cambria"/>
              </a:rPr>
              <a:t> </a:t>
            </a:r>
            <a:r>
              <a:rPr sz="3650" spc="85" dirty="0">
                <a:solidFill>
                  <a:srgbClr val="212121"/>
                </a:solidFill>
                <a:latin typeface="+mn-lt"/>
                <a:cs typeface="Cambria"/>
              </a:rPr>
              <a:t>of</a:t>
            </a:r>
            <a:r>
              <a:rPr sz="3650" spc="-140" dirty="0">
                <a:solidFill>
                  <a:srgbClr val="212121"/>
                </a:solidFill>
                <a:latin typeface="+mn-lt"/>
                <a:cs typeface="Cambria"/>
              </a:rPr>
              <a:t> </a:t>
            </a:r>
            <a:r>
              <a:rPr sz="3650" spc="65" dirty="0">
                <a:solidFill>
                  <a:srgbClr val="1A1A1A"/>
                </a:solidFill>
                <a:latin typeface="+mn-lt"/>
                <a:cs typeface="Cambria"/>
              </a:rPr>
              <a:t>All</a:t>
            </a:r>
            <a:r>
              <a:rPr sz="3650" spc="-150" dirty="0">
                <a:solidFill>
                  <a:srgbClr val="1A1A1A"/>
                </a:solidFill>
                <a:latin typeface="+mn-lt"/>
                <a:cs typeface="Cambria"/>
              </a:rPr>
              <a:t> </a:t>
            </a:r>
            <a:r>
              <a:rPr sz="3650" spc="-10" dirty="0">
                <a:solidFill>
                  <a:srgbClr val="0C0C0C"/>
                </a:solidFill>
                <a:latin typeface="+mn-lt"/>
                <a:cs typeface="Cambria"/>
              </a:rPr>
              <a:t>Students</a:t>
            </a:r>
            <a:endParaRPr sz="3650" dirty="0">
              <a:latin typeface="+mn-lt"/>
              <a:cs typeface="Cambria"/>
            </a:endParaRPr>
          </a:p>
        </p:txBody>
      </p:sp>
      <p:sp>
        <p:nvSpPr>
          <p:cNvPr id="10" name="object 10"/>
          <p:cNvSpPr txBox="1"/>
          <p:nvPr/>
        </p:nvSpPr>
        <p:spPr>
          <a:xfrm>
            <a:off x="9482069" y="2323443"/>
            <a:ext cx="6768465" cy="2056764"/>
          </a:xfrm>
          <a:prstGeom prst="rect">
            <a:avLst/>
          </a:prstGeom>
        </p:spPr>
        <p:txBody>
          <a:bodyPr vert="horz" wrap="square" lIns="0" tIns="235585" rIns="0" bIns="0" rtlCol="0">
            <a:spAutoFit/>
          </a:bodyPr>
          <a:lstStyle/>
          <a:p>
            <a:pPr marL="12700" algn="just">
              <a:lnSpc>
                <a:spcPct val="100000"/>
              </a:lnSpc>
              <a:spcBef>
                <a:spcPts val="1855"/>
              </a:spcBef>
            </a:pPr>
            <a:r>
              <a:rPr sz="3800" spc="-40" dirty="0">
                <a:latin typeface="+mn-lt"/>
                <a:cs typeface="Times New Roman"/>
              </a:rPr>
              <a:t>Class</a:t>
            </a:r>
            <a:r>
              <a:rPr sz="3800" spc="-204" dirty="0">
                <a:latin typeface="+mn-lt"/>
                <a:cs typeface="Times New Roman"/>
              </a:rPr>
              <a:t> </a:t>
            </a:r>
            <a:r>
              <a:rPr sz="3800" spc="-10" dirty="0">
                <a:latin typeface="+mn-lt"/>
                <a:cs typeface="Times New Roman"/>
              </a:rPr>
              <a:t>Imbalance</a:t>
            </a:r>
            <a:endParaRPr sz="3800" dirty="0">
              <a:latin typeface="+mn-lt"/>
              <a:cs typeface="Times New Roman"/>
            </a:endParaRPr>
          </a:p>
          <a:p>
            <a:pPr marL="17145" marR="5080" algn="just">
              <a:lnSpc>
                <a:spcPct val="93100"/>
              </a:lnSpc>
              <a:spcBef>
                <a:spcPts val="1345"/>
              </a:spcBef>
            </a:pPr>
            <a:r>
              <a:rPr sz="2500" dirty="0">
                <a:latin typeface="+mn-lt"/>
                <a:cs typeface="Arial MT"/>
              </a:rPr>
              <a:t>After</a:t>
            </a:r>
            <a:r>
              <a:rPr sz="2500" spc="-110" dirty="0">
                <a:latin typeface="+mn-lt"/>
                <a:cs typeface="Arial MT"/>
              </a:rPr>
              <a:t> </a:t>
            </a:r>
            <a:r>
              <a:rPr sz="2500" dirty="0">
                <a:latin typeface="+mn-lt"/>
                <a:cs typeface="Arial MT"/>
              </a:rPr>
              <a:t>filtering</a:t>
            </a:r>
            <a:r>
              <a:rPr sz="2500" spc="-100" dirty="0">
                <a:latin typeface="+mn-lt"/>
                <a:cs typeface="Arial MT"/>
              </a:rPr>
              <a:t> </a:t>
            </a:r>
            <a:r>
              <a:rPr sz="2500" dirty="0">
                <a:latin typeface="+mn-lt"/>
                <a:cs typeface="Arial MT"/>
              </a:rPr>
              <a:t>for</a:t>
            </a:r>
            <a:r>
              <a:rPr sz="2500" spc="-175" dirty="0">
                <a:latin typeface="+mn-lt"/>
                <a:cs typeface="Arial MT"/>
              </a:rPr>
              <a:t> </a:t>
            </a:r>
            <a:r>
              <a:rPr sz="2500" spc="-10" dirty="0">
                <a:latin typeface="+mn-lt"/>
                <a:cs typeface="Arial MT"/>
              </a:rPr>
              <a:t>definitive</a:t>
            </a:r>
            <a:r>
              <a:rPr sz="2500" spc="-85" dirty="0">
                <a:latin typeface="+mn-lt"/>
                <a:cs typeface="Arial MT"/>
              </a:rPr>
              <a:t> </a:t>
            </a:r>
            <a:r>
              <a:rPr sz="2500" spc="-60" dirty="0">
                <a:latin typeface="+mn-lt"/>
                <a:cs typeface="Arial MT"/>
              </a:rPr>
              <a:t>outcomes,</a:t>
            </a:r>
            <a:r>
              <a:rPr sz="2500" spc="-70" dirty="0">
                <a:latin typeface="+mn-lt"/>
                <a:cs typeface="Arial MT"/>
              </a:rPr>
              <a:t> </a:t>
            </a:r>
            <a:r>
              <a:rPr sz="2500" dirty="0">
                <a:latin typeface="+mn-lt"/>
                <a:cs typeface="Arial MT"/>
              </a:rPr>
              <a:t>a</a:t>
            </a:r>
            <a:r>
              <a:rPr sz="2500" spc="-125" dirty="0">
                <a:latin typeface="+mn-lt"/>
                <a:cs typeface="Arial MT"/>
              </a:rPr>
              <a:t> </a:t>
            </a:r>
            <a:r>
              <a:rPr sz="2500" spc="-10" dirty="0">
                <a:latin typeface="+mn-lt"/>
                <a:cs typeface="Arial MT"/>
              </a:rPr>
              <a:t>significant </a:t>
            </a:r>
            <a:r>
              <a:rPr sz="2550" spc="-114" dirty="0">
                <a:latin typeface="+mn-lt"/>
                <a:cs typeface="Arial MT"/>
              </a:rPr>
              <a:t>class</a:t>
            </a:r>
            <a:r>
              <a:rPr sz="2550" spc="-65" dirty="0">
                <a:latin typeface="+mn-lt"/>
                <a:cs typeface="Arial MT"/>
              </a:rPr>
              <a:t> </a:t>
            </a:r>
            <a:r>
              <a:rPr sz="2550" spc="-90" dirty="0">
                <a:latin typeface="+mn-lt"/>
                <a:cs typeface="Arial MT"/>
              </a:rPr>
              <a:t>imbalance </a:t>
            </a:r>
            <a:r>
              <a:rPr sz="2550" spc="-20" dirty="0">
                <a:latin typeface="+mn-lt"/>
                <a:cs typeface="Arial MT"/>
              </a:rPr>
              <a:t>is</a:t>
            </a:r>
            <a:r>
              <a:rPr sz="2550" spc="-155" dirty="0">
                <a:latin typeface="+mn-lt"/>
                <a:cs typeface="Arial MT"/>
              </a:rPr>
              <a:t> </a:t>
            </a:r>
            <a:r>
              <a:rPr sz="2550" spc="-45" dirty="0">
                <a:latin typeface="+mn-lt"/>
                <a:cs typeface="Arial MT"/>
              </a:rPr>
              <a:t>evident.</a:t>
            </a:r>
            <a:r>
              <a:rPr sz="2550" spc="-125" dirty="0">
                <a:latin typeface="+mn-lt"/>
                <a:cs typeface="Arial MT"/>
              </a:rPr>
              <a:t> </a:t>
            </a:r>
            <a:r>
              <a:rPr sz="2550" spc="-170" dirty="0">
                <a:latin typeface="+mn-lt"/>
                <a:cs typeface="Arial MT"/>
              </a:rPr>
              <a:t>The</a:t>
            </a:r>
            <a:r>
              <a:rPr sz="2550" spc="-5" dirty="0">
                <a:latin typeface="+mn-lt"/>
                <a:cs typeface="Arial MT"/>
              </a:rPr>
              <a:t> </a:t>
            </a:r>
            <a:r>
              <a:rPr sz="2550" spc="-90" dirty="0">
                <a:latin typeface="+mn-lt"/>
                <a:cs typeface="Arial MT"/>
              </a:rPr>
              <a:t>'Graduate'</a:t>
            </a:r>
            <a:r>
              <a:rPr sz="2550" spc="75" dirty="0">
                <a:latin typeface="+mn-lt"/>
                <a:cs typeface="Arial MT"/>
              </a:rPr>
              <a:t> </a:t>
            </a:r>
            <a:r>
              <a:rPr sz="2550" spc="-90" dirty="0">
                <a:latin typeface="+mn-lt"/>
                <a:cs typeface="Arial MT"/>
              </a:rPr>
              <a:t>class </a:t>
            </a:r>
            <a:r>
              <a:rPr sz="2550" spc="-25" dirty="0">
                <a:latin typeface="+mn-lt"/>
                <a:cs typeface="Arial MT"/>
              </a:rPr>
              <a:t>is </a:t>
            </a:r>
            <a:r>
              <a:rPr sz="2400" dirty="0">
                <a:latin typeface="+mn-lt"/>
                <a:cs typeface="Arial MT"/>
              </a:rPr>
              <a:t>considerably</a:t>
            </a:r>
            <a:r>
              <a:rPr sz="2400" spc="140" dirty="0">
                <a:latin typeface="+mn-lt"/>
                <a:cs typeface="Arial MT"/>
              </a:rPr>
              <a:t> </a:t>
            </a:r>
            <a:r>
              <a:rPr sz="2400" dirty="0">
                <a:latin typeface="+mn-lt"/>
                <a:cs typeface="Arial MT"/>
              </a:rPr>
              <a:t>larger</a:t>
            </a:r>
            <a:r>
              <a:rPr sz="2400" spc="65" dirty="0">
                <a:latin typeface="+mn-lt"/>
                <a:cs typeface="Arial MT"/>
              </a:rPr>
              <a:t> </a:t>
            </a:r>
            <a:r>
              <a:rPr sz="2400" dirty="0">
                <a:latin typeface="+mn-lt"/>
                <a:cs typeface="Arial MT"/>
              </a:rPr>
              <a:t>than</a:t>
            </a:r>
            <a:r>
              <a:rPr sz="2400" spc="-45" dirty="0">
                <a:latin typeface="+mn-lt"/>
                <a:cs typeface="Arial MT"/>
              </a:rPr>
              <a:t> </a:t>
            </a:r>
            <a:r>
              <a:rPr sz="2400" dirty="0">
                <a:latin typeface="+mn-lt"/>
                <a:cs typeface="Arial MT"/>
              </a:rPr>
              <a:t>the</a:t>
            </a:r>
            <a:r>
              <a:rPr sz="2400" spc="-55" dirty="0">
                <a:latin typeface="+mn-lt"/>
                <a:cs typeface="Arial MT"/>
              </a:rPr>
              <a:t> </a:t>
            </a:r>
            <a:r>
              <a:rPr sz="2400" dirty="0">
                <a:latin typeface="+mn-lt"/>
                <a:cs typeface="Arial MT"/>
              </a:rPr>
              <a:t>'Dropout'</a:t>
            </a:r>
            <a:r>
              <a:rPr sz="2400" spc="125" dirty="0">
                <a:latin typeface="+mn-lt"/>
                <a:cs typeface="Arial MT"/>
              </a:rPr>
              <a:t> </a:t>
            </a:r>
            <a:r>
              <a:rPr sz="2400" spc="-10" dirty="0">
                <a:latin typeface="+mn-lt"/>
                <a:cs typeface="Arial MT"/>
              </a:rPr>
              <a:t>class.</a:t>
            </a:r>
            <a:endParaRPr sz="2400" dirty="0">
              <a:latin typeface="+mn-lt"/>
              <a:cs typeface="Arial MT"/>
            </a:endParaRPr>
          </a:p>
        </p:txBody>
      </p:sp>
      <p:pic>
        <p:nvPicPr>
          <p:cNvPr id="19" name="Picture 18">
            <a:extLst>
              <a:ext uri="{FF2B5EF4-FFF2-40B4-BE49-F238E27FC236}">
                <a16:creationId xmlns:a16="http://schemas.microsoft.com/office/drawing/2014/main" id="{B67A8690-90F3-754F-0F89-89EC543B44D4}"/>
              </a:ext>
            </a:extLst>
          </p:cNvPr>
          <p:cNvPicPr>
            <a:picLocks noChangeAspect="1"/>
          </p:cNvPicPr>
          <p:nvPr/>
        </p:nvPicPr>
        <p:blipFill>
          <a:blip r:embed="rId2"/>
          <a:stretch>
            <a:fillRect/>
          </a:stretch>
        </p:blipFill>
        <p:spPr>
          <a:xfrm>
            <a:off x="1198570" y="3429000"/>
            <a:ext cx="6149016" cy="5437025"/>
          </a:xfrm>
          <a:prstGeom prst="rect">
            <a:avLst/>
          </a:prstGeom>
        </p:spPr>
      </p:pic>
      <p:pic>
        <p:nvPicPr>
          <p:cNvPr id="21" name="Picture 20">
            <a:extLst>
              <a:ext uri="{FF2B5EF4-FFF2-40B4-BE49-F238E27FC236}">
                <a16:creationId xmlns:a16="http://schemas.microsoft.com/office/drawing/2014/main" id="{99F56428-1AFB-5400-3FAF-8490924557DF}"/>
              </a:ext>
            </a:extLst>
          </p:cNvPr>
          <p:cNvPicPr>
            <a:picLocks noChangeAspect="1"/>
          </p:cNvPicPr>
          <p:nvPr/>
        </p:nvPicPr>
        <p:blipFill>
          <a:blip r:embed="rId3"/>
          <a:stretch>
            <a:fillRect/>
          </a:stretch>
        </p:blipFill>
        <p:spPr>
          <a:xfrm>
            <a:off x="9575800" y="4511013"/>
            <a:ext cx="6768464" cy="48451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1F2EC"/>
        </a:solidFill>
        <a:effectLst/>
      </p:bgPr>
    </p:bg>
    <p:spTree>
      <p:nvGrpSpPr>
        <p:cNvPr id="1" name=""/>
        <p:cNvGrpSpPr/>
        <p:nvPr/>
      </p:nvGrpSpPr>
      <p:grpSpPr>
        <a:xfrm>
          <a:off x="0" y="0"/>
          <a:ext cx="0" cy="0"/>
          <a:chOff x="0" y="0"/>
          <a:chExt cx="0" cy="0"/>
        </a:xfrm>
      </p:grpSpPr>
      <p:pic>
        <p:nvPicPr>
          <p:cNvPr id="3" name="object 3"/>
          <p:cNvPicPr/>
          <p:nvPr/>
        </p:nvPicPr>
        <p:blipFill>
          <a:blip r:embed="rId3" cstate="print"/>
          <a:stretch>
            <a:fillRect/>
          </a:stretch>
        </p:blipFill>
        <p:spPr>
          <a:xfrm>
            <a:off x="6705600" y="4978400"/>
            <a:ext cx="4064000" cy="2692400"/>
          </a:xfrm>
          <a:prstGeom prst="rect">
            <a:avLst/>
          </a:prstGeom>
        </p:spPr>
      </p:pic>
      <p:sp>
        <p:nvSpPr>
          <p:cNvPr id="6" name="object 6"/>
          <p:cNvSpPr txBox="1">
            <a:spLocks noGrp="1"/>
          </p:cNvSpPr>
          <p:nvPr>
            <p:ph type="title"/>
          </p:nvPr>
        </p:nvSpPr>
        <p:spPr>
          <a:xfrm>
            <a:off x="823182" y="312561"/>
            <a:ext cx="15756255" cy="999490"/>
          </a:xfrm>
          <a:prstGeom prst="rect">
            <a:avLst/>
          </a:prstGeom>
        </p:spPr>
        <p:txBody>
          <a:bodyPr vert="horz" wrap="square" lIns="0" tIns="17145" rIns="0" bIns="0" rtlCol="0">
            <a:spAutoFit/>
          </a:bodyPr>
          <a:lstStyle/>
          <a:p>
            <a:pPr marL="12700">
              <a:lnSpc>
                <a:spcPct val="100000"/>
              </a:lnSpc>
              <a:spcBef>
                <a:spcPts val="135"/>
              </a:spcBef>
            </a:pPr>
            <a:r>
              <a:rPr sz="6350" spc="-95" dirty="0">
                <a:solidFill>
                  <a:srgbClr val="212121"/>
                </a:solidFill>
                <a:latin typeface="+mj-lt"/>
                <a:cs typeface="Arial MT"/>
              </a:rPr>
              <a:t>Creating</a:t>
            </a:r>
            <a:r>
              <a:rPr sz="6350" spc="-350" dirty="0">
                <a:solidFill>
                  <a:srgbClr val="212121"/>
                </a:solidFill>
                <a:latin typeface="+mj-lt"/>
                <a:cs typeface="Arial MT"/>
              </a:rPr>
              <a:t> </a:t>
            </a:r>
            <a:r>
              <a:rPr sz="6350" spc="-355" dirty="0">
                <a:solidFill>
                  <a:srgbClr val="212121"/>
                </a:solidFill>
                <a:latin typeface="+mj-lt"/>
                <a:cs typeface="Arial MT"/>
              </a:rPr>
              <a:t>a</a:t>
            </a:r>
            <a:r>
              <a:rPr sz="6350" spc="-400" dirty="0">
                <a:solidFill>
                  <a:srgbClr val="212121"/>
                </a:solidFill>
                <a:latin typeface="+mj-lt"/>
                <a:cs typeface="Arial MT"/>
              </a:rPr>
              <a:t> </a:t>
            </a:r>
            <a:r>
              <a:rPr sz="6350" spc="-195" dirty="0">
                <a:solidFill>
                  <a:srgbClr val="212121"/>
                </a:solidFill>
                <a:latin typeface="+mj-lt"/>
                <a:cs typeface="Arial MT"/>
              </a:rPr>
              <a:t>Balanced</a:t>
            </a:r>
            <a:r>
              <a:rPr sz="6350" spc="-245" dirty="0">
                <a:solidFill>
                  <a:srgbClr val="212121"/>
                </a:solidFill>
                <a:latin typeface="+mj-lt"/>
                <a:cs typeface="Arial MT"/>
              </a:rPr>
              <a:t> </a:t>
            </a:r>
            <a:r>
              <a:rPr sz="6350" spc="-114" dirty="0">
                <a:solidFill>
                  <a:srgbClr val="1F1F1F"/>
                </a:solidFill>
                <a:latin typeface="+mj-lt"/>
                <a:cs typeface="Arial MT"/>
              </a:rPr>
              <a:t>Foundation</a:t>
            </a:r>
            <a:r>
              <a:rPr sz="6350" spc="-145" dirty="0">
                <a:solidFill>
                  <a:srgbClr val="1F1F1F"/>
                </a:solidFill>
                <a:latin typeface="+mj-lt"/>
                <a:cs typeface="Arial MT"/>
              </a:rPr>
              <a:t> </a:t>
            </a:r>
            <a:r>
              <a:rPr sz="6350" dirty="0">
                <a:solidFill>
                  <a:srgbClr val="232323"/>
                </a:solidFill>
                <a:latin typeface="+mj-lt"/>
                <a:cs typeface="Arial MT"/>
              </a:rPr>
              <a:t>for</a:t>
            </a:r>
            <a:r>
              <a:rPr sz="6350" spc="-365" dirty="0">
                <a:solidFill>
                  <a:srgbClr val="232323"/>
                </a:solidFill>
                <a:latin typeface="+mj-lt"/>
                <a:cs typeface="Arial MT"/>
              </a:rPr>
              <a:t> </a:t>
            </a:r>
            <a:r>
              <a:rPr sz="6350" spc="-10" dirty="0">
                <a:solidFill>
                  <a:srgbClr val="1F1F1F"/>
                </a:solidFill>
                <a:latin typeface="+mj-lt"/>
                <a:cs typeface="Arial MT"/>
              </a:rPr>
              <a:t>Modelling</a:t>
            </a:r>
            <a:endParaRPr sz="6350" dirty="0">
              <a:latin typeface="+mj-lt"/>
              <a:cs typeface="Arial MT"/>
            </a:endParaRPr>
          </a:p>
        </p:txBody>
      </p:sp>
      <p:sp>
        <p:nvSpPr>
          <p:cNvPr id="7" name="object 7"/>
          <p:cNvSpPr txBox="1"/>
          <p:nvPr/>
        </p:nvSpPr>
        <p:spPr>
          <a:xfrm>
            <a:off x="712937" y="1497541"/>
            <a:ext cx="15866110" cy="1851660"/>
          </a:xfrm>
          <a:prstGeom prst="rect">
            <a:avLst/>
          </a:prstGeom>
        </p:spPr>
        <p:txBody>
          <a:bodyPr vert="horz" wrap="square" lIns="0" tIns="23495" rIns="0" bIns="0" rtlCol="0">
            <a:spAutoFit/>
          </a:bodyPr>
          <a:lstStyle/>
          <a:p>
            <a:pPr marL="12700" marR="5080" indent="2540">
              <a:lnSpc>
                <a:spcPct val="108400"/>
              </a:lnSpc>
              <a:spcBef>
                <a:spcPts val="185"/>
              </a:spcBef>
            </a:pPr>
            <a:r>
              <a:rPr sz="2700" spc="-10" dirty="0">
                <a:latin typeface="+mn-lt"/>
                <a:cs typeface="Arial MT"/>
              </a:rPr>
              <a:t>Training</a:t>
            </a:r>
            <a:r>
              <a:rPr sz="2700" spc="-15" dirty="0">
                <a:latin typeface="+mn-lt"/>
                <a:cs typeface="Arial MT"/>
              </a:rPr>
              <a:t> </a:t>
            </a:r>
            <a:r>
              <a:rPr sz="2700" dirty="0">
                <a:latin typeface="+mn-lt"/>
                <a:cs typeface="Arial MT"/>
              </a:rPr>
              <a:t>a</a:t>
            </a:r>
            <a:r>
              <a:rPr sz="2700" spc="55" dirty="0">
                <a:latin typeface="+mn-lt"/>
                <a:cs typeface="Arial MT"/>
              </a:rPr>
              <a:t> </a:t>
            </a:r>
            <a:r>
              <a:rPr sz="2700" dirty="0">
                <a:latin typeface="+mn-lt"/>
                <a:cs typeface="Arial MT"/>
              </a:rPr>
              <a:t>model on</a:t>
            </a:r>
            <a:r>
              <a:rPr sz="2700" spc="-10" dirty="0">
                <a:latin typeface="+mn-lt"/>
                <a:cs typeface="Arial MT"/>
              </a:rPr>
              <a:t> </a:t>
            </a:r>
            <a:r>
              <a:rPr sz="2700" dirty="0">
                <a:latin typeface="+mn-lt"/>
                <a:cs typeface="Arial MT"/>
              </a:rPr>
              <a:t>an</a:t>
            </a:r>
            <a:r>
              <a:rPr sz="2700" spc="-85" dirty="0">
                <a:latin typeface="+mn-lt"/>
                <a:cs typeface="Arial MT"/>
              </a:rPr>
              <a:t> </a:t>
            </a:r>
            <a:r>
              <a:rPr sz="2700" dirty="0">
                <a:latin typeface="+mn-lt"/>
                <a:cs typeface="Arial MT"/>
              </a:rPr>
              <a:t>imbalanced</a:t>
            </a:r>
            <a:r>
              <a:rPr sz="2700" spc="180" dirty="0">
                <a:latin typeface="+mn-lt"/>
                <a:cs typeface="Arial MT"/>
              </a:rPr>
              <a:t> </a:t>
            </a:r>
            <a:r>
              <a:rPr sz="2700" dirty="0">
                <a:latin typeface="+mn-lt"/>
                <a:cs typeface="Arial MT"/>
              </a:rPr>
              <a:t>dataset</a:t>
            </a:r>
            <a:r>
              <a:rPr sz="2700" spc="225" dirty="0">
                <a:latin typeface="+mn-lt"/>
                <a:cs typeface="Arial MT"/>
              </a:rPr>
              <a:t> </a:t>
            </a:r>
            <a:r>
              <a:rPr sz="2700" dirty="0">
                <a:latin typeface="+mn-lt"/>
                <a:cs typeface="Arial MT"/>
              </a:rPr>
              <a:t>would</a:t>
            </a:r>
            <a:r>
              <a:rPr sz="2700" spc="35" dirty="0">
                <a:latin typeface="+mn-lt"/>
                <a:cs typeface="Arial MT"/>
              </a:rPr>
              <a:t> </a:t>
            </a:r>
            <a:r>
              <a:rPr sz="2700" dirty="0">
                <a:latin typeface="+mn-lt"/>
                <a:cs typeface="Arial MT"/>
              </a:rPr>
              <a:t>create</a:t>
            </a:r>
            <a:r>
              <a:rPr sz="2700" spc="20" dirty="0">
                <a:latin typeface="+mn-lt"/>
                <a:cs typeface="Arial MT"/>
              </a:rPr>
              <a:t> </a:t>
            </a:r>
            <a:r>
              <a:rPr sz="2700" dirty="0">
                <a:latin typeface="+mn-lt"/>
                <a:cs typeface="Arial MT"/>
              </a:rPr>
              <a:t>a</a:t>
            </a:r>
            <a:r>
              <a:rPr sz="2700" spc="-40" dirty="0">
                <a:latin typeface="+mn-lt"/>
                <a:cs typeface="Arial MT"/>
              </a:rPr>
              <a:t> </a:t>
            </a:r>
            <a:r>
              <a:rPr sz="2700" dirty="0">
                <a:latin typeface="+mn-lt"/>
                <a:cs typeface="Arial MT"/>
              </a:rPr>
              <a:t>bias</a:t>
            </a:r>
            <a:r>
              <a:rPr sz="2700" spc="-25" dirty="0">
                <a:latin typeface="+mn-lt"/>
                <a:cs typeface="Arial MT"/>
              </a:rPr>
              <a:t> </a:t>
            </a:r>
            <a:r>
              <a:rPr sz="2700" dirty="0">
                <a:latin typeface="+mn-lt"/>
                <a:cs typeface="Arial MT"/>
              </a:rPr>
              <a:t>towards</a:t>
            </a:r>
            <a:r>
              <a:rPr sz="2700" spc="35" dirty="0">
                <a:latin typeface="+mn-lt"/>
                <a:cs typeface="Arial MT"/>
              </a:rPr>
              <a:t> </a:t>
            </a:r>
            <a:r>
              <a:rPr sz="2700" dirty="0">
                <a:latin typeface="+mn-lt"/>
                <a:cs typeface="Arial MT"/>
              </a:rPr>
              <a:t>the</a:t>
            </a:r>
            <a:r>
              <a:rPr sz="2700" spc="5" dirty="0">
                <a:latin typeface="+mn-lt"/>
                <a:cs typeface="Arial MT"/>
              </a:rPr>
              <a:t> </a:t>
            </a:r>
            <a:r>
              <a:rPr sz="2700" dirty="0">
                <a:latin typeface="+mn-lt"/>
                <a:cs typeface="Arial MT"/>
              </a:rPr>
              <a:t>majority</a:t>
            </a:r>
            <a:r>
              <a:rPr sz="2700" spc="195" dirty="0">
                <a:latin typeface="+mn-lt"/>
                <a:cs typeface="Arial MT"/>
              </a:rPr>
              <a:t> </a:t>
            </a:r>
            <a:r>
              <a:rPr sz="2700" dirty="0">
                <a:latin typeface="+mn-lt"/>
                <a:cs typeface="Arial MT"/>
              </a:rPr>
              <a:t>class</a:t>
            </a:r>
            <a:r>
              <a:rPr sz="2700" spc="40" dirty="0">
                <a:latin typeface="+mn-lt"/>
                <a:cs typeface="Arial MT"/>
              </a:rPr>
              <a:t> </a:t>
            </a:r>
            <a:r>
              <a:rPr sz="2700" spc="-10" dirty="0">
                <a:latin typeface="+mn-lt"/>
                <a:cs typeface="Arial MT"/>
              </a:rPr>
              <a:t>(‘Graduate’), </a:t>
            </a:r>
            <a:r>
              <a:rPr sz="2700" dirty="0">
                <a:latin typeface="+mn-lt"/>
                <a:cs typeface="Arial MT"/>
              </a:rPr>
              <a:t>severely</a:t>
            </a:r>
            <a:r>
              <a:rPr sz="2700" spc="125" dirty="0">
                <a:latin typeface="+mn-lt"/>
                <a:cs typeface="Arial MT"/>
              </a:rPr>
              <a:t> </a:t>
            </a:r>
            <a:r>
              <a:rPr sz="2700" dirty="0">
                <a:latin typeface="+mn-lt"/>
                <a:cs typeface="Arial MT"/>
              </a:rPr>
              <a:t>compromising</a:t>
            </a:r>
            <a:r>
              <a:rPr sz="2700" spc="195" dirty="0">
                <a:latin typeface="+mn-lt"/>
                <a:cs typeface="Arial MT"/>
              </a:rPr>
              <a:t> </a:t>
            </a:r>
            <a:r>
              <a:rPr sz="2700" dirty="0">
                <a:latin typeface="+mn-lt"/>
                <a:cs typeface="Arial MT"/>
              </a:rPr>
              <a:t>its</a:t>
            </a:r>
            <a:r>
              <a:rPr sz="2700" spc="-30" dirty="0">
                <a:latin typeface="+mn-lt"/>
                <a:cs typeface="Arial MT"/>
              </a:rPr>
              <a:t> </a:t>
            </a:r>
            <a:r>
              <a:rPr sz="2700" dirty="0">
                <a:latin typeface="+mn-lt"/>
                <a:cs typeface="Arial MT"/>
              </a:rPr>
              <a:t>ability</a:t>
            </a:r>
            <a:r>
              <a:rPr sz="2700" spc="185" dirty="0">
                <a:latin typeface="+mn-lt"/>
                <a:cs typeface="Arial MT"/>
              </a:rPr>
              <a:t> </a:t>
            </a:r>
            <a:r>
              <a:rPr sz="2700" spc="75" dirty="0">
                <a:latin typeface="+mn-lt"/>
                <a:cs typeface="Arial MT"/>
              </a:rPr>
              <a:t>to</a:t>
            </a:r>
            <a:r>
              <a:rPr sz="2700" spc="-35" dirty="0">
                <a:latin typeface="+mn-lt"/>
                <a:cs typeface="Arial MT"/>
              </a:rPr>
              <a:t> </a:t>
            </a:r>
            <a:r>
              <a:rPr sz="2700" dirty="0">
                <a:latin typeface="+mn-lt"/>
                <a:cs typeface="Arial MT"/>
              </a:rPr>
              <a:t>detect</a:t>
            </a:r>
            <a:r>
              <a:rPr sz="2700" spc="185" dirty="0">
                <a:latin typeface="+mn-lt"/>
                <a:cs typeface="Arial MT"/>
              </a:rPr>
              <a:t> </a:t>
            </a:r>
            <a:r>
              <a:rPr sz="2700" dirty="0">
                <a:latin typeface="+mn-lt"/>
                <a:cs typeface="Arial MT"/>
              </a:rPr>
              <a:t>the</a:t>
            </a:r>
            <a:r>
              <a:rPr sz="2700" spc="25" dirty="0">
                <a:latin typeface="+mn-lt"/>
                <a:cs typeface="Arial MT"/>
              </a:rPr>
              <a:t> </a:t>
            </a:r>
            <a:r>
              <a:rPr sz="2700" dirty="0">
                <a:latin typeface="+mn-lt"/>
                <a:cs typeface="Arial MT"/>
              </a:rPr>
              <a:t>minority</a:t>
            </a:r>
            <a:r>
              <a:rPr sz="2700" spc="130" dirty="0">
                <a:latin typeface="+mn-lt"/>
                <a:cs typeface="Arial MT"/>
              </a:rPr>
              <a:t> </a:t>
            </a:r>
            <a:r>
              <a:rPr sz="2700" dirty="0">
                <a:latin typeface="+mn-lt"/>
                <a:cs typeface="Arial MT"/>
              </a:rPr>
              <a:t>class</a:t>
            </a:r>
            <a:r>
              <a:rPr sz="2700" spc="180" dirty="0">
                <a:latin typeface="+mn-lt"/>
                <a:cs typeface="Arial MT"/>
              </a:rPr>
              <a:t> </a:t>
            </a:r>
            <a:r>
              <a:rPr sz="2700" spc="-10" dirty="0">
                <a:latin typeface="+mn-lt"/>
                <a:cs typeface="Arial MT"/>
              </a:rPr>
              <a:t>(’Dropout’),</a:t>
            </a:r>
            <a:r>
              <a:rPr sz="2700" spc="290" dirty="0">
                <a:latin typeface="+mn-lt"/>
                <a:cs typeface="Arial MT"/>
              </a:rPr>
              <a:t> </a:t>
            </a:r>
            <a:r>
              <a:rPr sz="2700" dirty="0">
                <a:latin typeface="+mn-lt"/>
                <a:cs typeface="Arial MT"/>
              </a:rPr>
              <a:t>which</a:t>
            </a:r>
            <a:r>
              <a:rPr sz="2700" spc="-30" dirty="0">
                <a:latin typeface="+mn-lt"/>
                <a:cs typeface="Arial MT"/>
              </a:rPr>
              <a:t> </a:t>
            </a:r>
            <a:r>
              <a:rPr sz="2700" spc="55" dirty="0">
                <a:latin typeface="+mn-lt"/>
                <a:cs typeface="Arial MT"/>
              </a:rPr>
              <a:t>is</a:t>
            </a:r>
            <a:r>
              <a:rPr sz="2700" spc="-50" dirty="0">
                <a:latin typeface="+mn-lt"/>
                <a:cs typeface="Arial MT"/>
              </a:rPr>
              <a:t> </a:t>
            </a:r>
            <a:r>
              <a:rPr sz="2700" dirty="0">
                <a:latin typeface="+mn-lt"/>
                <a:cs typeface="Arial MT"/>
              </a:rPr>
              <a:t>our</a:t>
            </a:r>
            <a:r>
              <a:rPr sz="2700" spc="80" dirty="0">
                <a:latin typeface="+mn-lt"/>
                <a:cs typeface="Arial MT"/>
              </a:rPr>
              <a:t> </a:t>
            </a:r>
            <a:r>
              <a:rPr sz="2700" dirty="0">
                <a:latin typeface="+mn-lt"/>
                <a:cs typeface="Arial MT"/>
              </a:rPr>
              <a:t>primary</a:t>
            </a:r>
            <a:r>
              <a:rPr sz="2700" spc="190" dirty="0">
                <a:latin typeface="+mn-lt"/>
                <a:cs typeface="Arial MT"/>
              </a:rPr>
              <a:t> </a:t>
            </a:r>
            <a:r>
              <a:rPr sz="2700" spc="-10" dirty="0">
                <a:latin typeface="+mn-lt"/>
                <a:cs typeface="Arial MT"/>
              </a:rPr>
              <a:t>objective. </a:t>
            </a:r>
            <a:r>
              <a:rPr sz="2750" spc="-10" dirty="0">
                <a:latin typeface="+mn-lt"/>
                <a:cs typeface="Arial MT"/>
              </a:rPr>
              <a:t>To</a:t>
            </a:r>
            <a:r>
              <a:rPr sz="2750" spc="-35" dirty="0">
                <a:latin typeface="+mn-lt"/>
                <a:cs typeface="Arial MT"/>
              </a:rPr>
              <a:t> </a:t>
            </a:r>
            <a:r>
              <a:rPr sz="2750" spc="-25" dirty="0">
                <a:latin typeface="+mn-lt"/>
                <a:cs typeface="Arial MT"/>
              </a:rPr>
              <a:t>solve</a:t>
            </a:r>
            <a:r>
              <a:rPr sz="2750" spc="-65" dirty="0">
                <a:latin typeface="+mn-lt"/>
                <a:cs typeface="Arial MT"/>
              </a:rPr>
              <a:t> </a:t>
            </a:r>
            <a:r>
              <a:rPr sz="2750" dirty="0">
                <a:latin typeface="+mn-lt"/>
                <a:cs typeface="Arial MT"/>
              </a:rPr>
              <a:t>this,</a:t>
            </a:r>
            <a:r>
              <a:rPr sz="2750" spc="-30" dirty="0">
                <a:latin typeface="+mn-lt"/>
                <a:cs typeface="Arial MT"/>
              </a:rPr>
              <a:t> </a:t>
            </a:r>
            <a:r>
              <a:rPr sz="2750" dirty="0">
                <a:latin typeface="+mn-lt"/>
                <a:cs typeface="Arial MT"/>
              </a:rPr>
              <a:t>the</a:t>
            </a:r>
            <a:r>
              <a:rPr sz="2750" spc="-170" dirty="0">
                <a:latin typeface="+mn-lt"/>
                <a:cs typeface="Arial MT"/>
              </a:rPr>
              <a:t> </a:t>
            </a:r>
            <a:r>
              <a:rPr sz="2750" dirty="0">
                <a:latin typeface="+mn-lt"/>
                <a:cs typeface="Arial MT"/>
              </a:rPr>
              <a:t>minority</a:t>
            </a:r>
            <a:r>
              <a:rPr sz="2750" spc="90" dirty="0">
                <a:latin typeface="+mn-lt"/>
                <a:cs typeface="Arial MT"/>
              </a:rPr>
              <a:t> </a:t>
            </a:r>
            <a:r>
              <a:rPr sz="2750" dirty="0">
                <a:latin typeface="+mn-lt"/>
                <a:cs typeface="Arial MT"/>
              </a:rPr>
              <a:t>class</a:t>
            </a:r>
            <a:r>
              <a:rPr sz="2750" spc="65" dirty="0">
                <a:latin typeface="+mn-lt"/>
                <a:cs typeface="Arial MT"/>
              </a:rPr>
              <a:t> </a:t>
            </a:r>
            <a:r>
              <a:rPr sz="2750" spc="-50" dirty="0">
                <a:latin typeface="+mn-lt"/>
                <a:cs typeface="Arial MT"/>
              </a:rPr>
              <a:t>was</a:t>
            </a:r>
            <a:r>
              <a:rPr sz="2750" spc="-25" dirty="0">
                <a:latin typeface="+mn-lt"/>
                <a:cs typeface="Arial MT"/>
              </a:rPr>
              <a:t> </a:t>
            </a:r>
            <a:r>
              <a:rPr sz="2750" spc="-20" dirty="0">
                <a:latin typeface="+mn-lt"/>
                <a:cs typeface="Arial MT"/>
              </a:rPr>
              <a:t>oversampled</a:t>
            </a:r>
            <a:r>
              <a:rPr sz="2750" spc="204" dirty="0">
                <a:latin typeface="+mn-lt"/>
                <a:cs typeface="Arial MT"/>
              </a:rPr>
              <a:t> </a:t>
            </a:r>
            <a:r>
              <a:rPr sz="2750" spc="50" dirty="0">
                <a:latin typeface="+mn-lt"/>
                <a:cs typeface="Arial MT"/>
              </a:rPr>
              <a:t>to</a:t>
            </a:r>
            <a:r>
              <a:rPr sz="2750" spc="-175" dirty="0">
                <a:latin typeface="+mn-lt"/>
                <a:cs typeface="Arial MT"/>
              </a:rPr>
              <a:t> </a:t>
            </a:r>
            <a:r>
              <a:rPr sz="2750" dirty="0">
                <a:latin typeface="+mn-lt"/>
                <a:cs typeface="Arial MT"/>
              </a:rPr>
              <a:t>match</a:t>
            </a:r>
            <a:r>
              <a:rPr sz="2750" spc="-75" dirty="0">
                <a:latin typeface="+mn-lt"/>
                <a:cs typeface="Arial MT"/>
              </a:rPr>
              <a:t> </a:t>
            </a:r>
            <a:r>
              <a:rPr sz="2750" dirty="0">
                <a:latin typeface="+mn-lt"/>
                <a:cs typeface="Arial MT"/>
              </a:rPr>
              <a:t>the</a:t>
            </a:r>
            <a:r>
              <a:rPr sz="2750" spc="-75" dirty="0">
                <a:latin typeface="+mn-lt"/>
                <a:cs typeface="Arial MT"/>
              </a:rPr>
              <a:t> </a:t>
            </a:r>
            <a:r>
              <a:rPr sz="2750" dirty="0">
                <a:latin typeface="+mn-lt"/>
                <a:cs typeface="Arial MT"/>
              </a:rPr>
              <a:t>majority</a:t>
            </a:r>
            <a:r>
              <a:rPr sz="2750" spc="90" dirty="0">
                <a:latin typeface="+mn-lt"/>
                <a:cs typeface="Arial MT"/>
              </a:rPr>
              <a:t> </a:t>
            </a:r>
            <a:r>
              <a:rPr sz="2750" spc="-25" dirty="0">
                <a:latin typeface="+mn-lt"/>
                <a:cs typeface="Arial MT"/>
              </a:rPr>
              <a:t>class,</a:t>
            </a:r>
            <a:r>
              <a:rPr sz="2750" spc="-15" dirty="0">
                <a:latin typeface="+mn-lt"/>
                <a:cs typeface="Arial MT"/>
              </a:rPr>
              <a:t> </a:t>
            </a:r>
            <a:r>
              <a:rPr sz="2750" dirty="0">
                <a:latin typeface="+mn-lt"/>
                <a:cs typeface="Arial MT"/>
              </a:rPr>
              <a:t>creating</a:t>
            </a:r>
            <a:r>
              <a:rPr sz="2750" spc="70" dirty="0">
                <a:latin typeface="+mn-lt"/>
                <a:cs typeface="Arial MT"/>
              </a:rPr>
              <a:t> </a:t>
            </a:r>
            <a:r>
              <a:rPr sz="2750" spc="-275" dirty="0">
                <a:latin typeface="+mn-lt"/>
                <a:cs typeface="Arial MT"/>
              </a:rPr>
              <a:t>a</a:t>
            </a:r>
            <a:r>
              <a:rPr sz="2750" spc="80" dirty="0">
                <a:latin typeface="+mn-lt"/>
                <a:cs typeface="Arial MT"/>
              </a:rPr>
              <a:t> </a:t>
            </a:r>
            <a:r>
              <a:rPr sz="2750" spc="-10" dirty="0">
                <a:latin typeface="+mn-lt"/>
                <a:cs typeface="Arial MT"/>
              </a:rPr>
              <a:t>perfectly </a:t>
            </a:r>
            <a:r>
              <a:rPr sz="2850" spc="-60" dirty="0">
                <a:latin typeface="+mn-lt"/>
                <a:cs typeface="Arial MT"/>
              </a:rPr>
              <a:t>balanced</a:t>
            </a:r>
            <a:r>
              <a:rPr sz="2850" spc="-140" dirty="0">
                <a:latin typeface="+mn-lt"/>
                <a:cs typeface="Arial MT"/>
              </a:rPr>
              <a:t> </a:t>
            </a:r>
            <a:r>
              <a:rPr sz="2850" spc="-40" dirty="0">
                <a:latin typeface="+mn-lt"/>
                <a:cs typeface="Arial MT"/>
              </a:rPr>
              <a:t>dataset</a:t>
            </a:r>
            <a:r>
              <a:rPr sz="2850" spc="-65" dirty="0">
                <a:latin typeface="+mn-lt"/>
                <a:cs typeface="Arial MT"/>
              </a:rPr>
              <a:t> </a:t>
            </a:r>
            <a:r>
              <a:rPr sz="2850" dirty="0">
                <a:latin typeface="+mn-lt"/>
                <a:cs typeface="Arial MT"/>
              </a:rPr>
              <a:t>for</a:t>
            </a:r>
            <a:r>
              <a:rPr sz="2850" spc="-195" dirty="0">
                <a:latin typeface="+mn-lt"/>
                <a:cs typeface="Arial MT"/>
              </a:rPr>
              <a:t> </a:t>
            </a:r>
            <a:r>
              <a:rPr sz="2850" spc="-10" dirty="0">
                <a:latin typeface="+mn-lt"/>
                <a:cs typeface="Arial MT"/>
              </a:rPr>
              <a:t>training.</a:t>
            </a:r>
            <a:endParaRPr sz="2850" dirty="0">
              <a:latin typeface="+mn-lt"/>
              <a:cs typeface="Arial MT"/>
            </a:endParaRPr>
          </a:p>
        </p:txBody>
      </p:sp>
      <p:sp>
        <p:nvSpPr>
          <p:cNvPr id="14" name="object 14"/>
          <p:cNvSpPr txBox="1"/>
          <p:nvPr/>
        </p:nvSpPr>
        <p:spPr>
          <a:xfrm>
            <a:off x="891256" y="3729566"/>
            <a:ext cx="5618314" cy="671979"/>
          </a:xfrm>
          <a:prstGeom prst="rect">
            <a:avLst/>
          </a:prstGeom>
        </p:spPr>
        <p:txBody>
          <a:bodyPr vert="horz" wrap="square" lIns="0" tIns="43180" rIns="0" bIns="0" rtlCol="0">
            <a:spAutoFit/>
          </a:bodyPr>
          <a:lstStyle/>
          <a:p>
            <a:pPr marL="1322070" marR="5080" indent="-1310005" algn="ctr">
              <a:lnSpc>
                <a:spcPts val="2300"/>
              </a:lnSpc>
              <a:spcBef>
                <a:spcPts val="340"/>
              </a:spcBef>
            </a:pPr>
            <a:r>
              <a:rPr sz="2050" dirty="0">
                <a:latin typeface="+mn-lt"/>
                <a:cs typeface="Arial MT"/>
              </a:rPr>
              <a:t>Count</a:t>
            </a:r>
            <a:r>
              <a:rPr sz="2050" spc="45" dirty="0">
                <a:latin typeface="+mn-lt"/>
                <a:cs typeface="Arial MT"/>
              </a:rPr>
              <a:t> </a:t>
            </a:r>
            <a:r>
              <a:rPr sz="2050" dirty="0">
                <a:latin typeface="+mn-lt"/>
                <a:cs typeface="Arial MT"/>
              </a:rPr>
              <a:t>of</a:t>
            </a:r>
            <a:r>
              <a:rPr sz="2050" spc="-45" dirty="0">
                <a:latin typeface="+mn-lt"/>
                <a:cs typeface="Arial MT"/>
              </a:rPr>
              <a:t> </a:t>
            </a:r>
            <a:r>
              <a:rPr sz="2050" dirty="0">
                <a:latin typeface="+mn-lt"/>
                <a:cs typeface="Arial MT"/>
              </a:rPr>
              <a:t>Dropout</a:t>
            </a:r>
            <a:r>
              <a:rPr sz="2050" spc="30" dirty="0">
                <a:latin typeface="+mn-lt"/>
                <a:cs typeface="Arial MT"/>
              </a:rPr>
              <a:t> </a:t>
            </a:r>
            <a:r>
              <a:rPr sz="2050" spc="-10" dirty="0">
                <a:latin typeface="+mn-lt"/>
                <a:cs typeface="Arial MT"/>
              </a:rPr>
              <a:t>and</a:t>
            </a:r>
            <a:r>
              <a:rPr sz="2050" spc="-140" dirty="0">
                <a:latin typeface="+mn-lt"/>
                <a:cs typeface="Arial MT"/>
              </a:rPr>
              <a:t> </a:t>
            </a:r>
            <a:endParaRPr lang="en-PH" sz="2050" spc="-140" dirty="0">
              <a:latin typeface="+mn-lt"/>
              <a:cs typeface="Arial MT"/>
            </a:endParaRPr>
          </a:p>
          <a:p>
            <a:pPr marL="1322070" marR="5080" indent="-1310005" algn="ctr">
              <a:lnSpc>
                <a:spcPts val="2300"/>
              </a:lnSpc>
              <a:spcBef>
                <a:spcPts val="340"/>
              </a:spcBef>
            </a:pPr>
            <a:r>
              <a:rPr sz="2050" spc="-20" dirty="0">
                <a:latin typeface="+mn-lt"/>
                <a:cs typeface="Arial MT"/>
              </a:rPr>
              <a:t>Graduate </a:t>
            </a:r>
            <a:r>
              <a:rPr sz="2050" spc="-10" dirty="0">
                <a:latin typeface="+mn-lt"/>
                <a:cs typeface="Arial MT"/>
              </a:rPr>
              <a:t>Students</a:t>
            </a:r>
            <a:endParaRPr sz="2050" dirty="0">
              <a:latin typeface="+mn-lt"/>
              <a:cs typeface="Arial MT"/>
            </a:endParaRPr>
          </a:p>
        </p:txBody>
      </p:sp>
      <p:sp>
        <p:nvSpPr>
          <p:cNvPr id="17" name="object 17"/>
          <p:cNvSpPr txBox="1"/>
          <p:nvPr/>
        </p:nvSpPr>
        <p:spPr>
          <a:xfrm>
            <a:off x="1672471" y="8777383"/>
            <a:ext cx="3837304" cy="438150"/>
          </a:xfrm>
          <a:prstGeom prst="rect">
            <a:avLst/>
          </a:prstGeom>
        </p:spPr>
        <p:txBody>
          <a:bodyPr vert="horz" wrap="square" lIns="0" tIns="13335" rIns="0" bIns="0" rtlCol="0">
            <a:spAutoFit/>
          </a:bodyPr>
          <a:lstStyle/>
          <a:p>
            <a:pPr marL="12700">
              <a:lnSpc>
                <a:spcPct val="100000"/>
              </a:lnSpc>
              <a:spcBef>
                <a:spcPts val="105"/>
              </a:spcBef>
            </a:pPr>
            <a:r>
              <a:rPr sz="2700" spc="-10" dirty="0">
                <a:latin typeface="+mn-lt"/>
                <a:cs typeface="Arial MT"/>
              </a:rPr>
              <a:t>Original</a:t>
            </a:r>
            <a:r>
              <a:rPr sz="2700" spc="-145" dirty="0">
                <a:latin typeface="+mn-lt"/>
                <a:cs typeface="Arial MT"/>
              </a:rPr>
              <a:t> </a:t>
            </a:r>
            <a:r>
              <a:rPr sz="2700" spc="-10" dirty="0">
                <a:latin typeface="+mn-lt"/>
                <a:cs typeface="Arial MT"/>
              </a:rPr>
              <a:t>Imbalanced</a:t>
            </a:r>
            <a:r>
              <a:rPr sz="2700" spc="-65" dirty="0">
                <a:latin typeface="+mn-lt"/>
                <a:cs typeface="Arial MT"/>
              </a:rPr>
              <a:t> </a:t>
            </a:r>
            <a:r>
              <a:rPr sz="2700" spc="-20" dirty="0">
                <a:latin typeface="+mn-lt"/>
                <a:cs typeface="Arial MT"/>
              </a:rPr>
              <a:t>Data</a:t>
            </a:r>
            <a:endParaRPr sz="2700" dirty="0">
              <a:latin typeface="+mn-lt"/>
              <a:cs typeface="Arial MT"/>
            </a:endParaRPr>
          </a:p>
        </p:txBody>
      </p:sp>
      <p:sp>
        <p:nvSpPr>
          <p:cNvPr id="18" name="object 18"/>
          <p:cNvSpPr txBox="1"/>
          <p:nvPr/>
        </p:nvSpPr>
        <p:spPr>
          <a:xfrm>
            <a:off x="7322291" y="3729566"/>
            <a:ext cx="2804160" cy="533400"/>
          </a:xfrm>
          <a:prstGeom prst="rect">
            <a:avLst/>
          </a:prstGeom>
        </p:spPr>
        <p:txBody>
          <a:bodyPr vert="horz" wrap="square" lIns="0" tIns="16510" rIns="0" bIns="0" rtlCol="0">
            <a:spAutoFit/>
          </a:bodyPr>
          <a:lstStyle/>
          <a:p>
            <a:pPr marL="12700">
              <a:lnSpc>
                <a:spcPct val="100000"/>
              </a:lnSpc>
              <a:spcBef>
                <a:spcPts val="130"/>
              </a:spcBef>
            </a:pPr>
            <a:r>
              <a:rPr sz="3300" spc="-75" dirty="0">
                <a:latin typeface="+mn-lt"/>
                <a:cs typeface="Arial MT"/>
              </a:rPr>
              <a:t>Before</a:t>
            </a:r>
            <a:r>
              <a:rPr sz="3300" spc="-95" dirty="0">
                <a:latin typeface="+mn-lt"/>
                <a:cs typeface="Arial MT"/>
              </a:rPr>
              <a:t> </a:t>
            </a:r>
            <a:r>
              <a:rPr sz="3300" spc="-40" dirty="0">
                <a:latin typeface="+mn-lt"/>
                <a:cs typeface="Arial MT"/>
              </a:rPr>
              <a:t>vs.</a:t>
            </a:r>
            <a:r>
              <a:rPr sz="3300" spc="-185" dirty="0">
                <a:latin typeface="+mn-lt"/>
                <a:cs typeface="Arial MT"/>
              </a:rPr>
              <a:t> </a:t>
            </a:r>
            <a:r>
              <a:rPr sz="3300" spc="-10" dirty="0">
                <a:latin typeface="+mn-lt"/>
                <a:cs typeface="Arial MT"/>
              </a:rPr>
              <a:t>After</a:t>
            </a:r>
            <a:endParaRPr sz="3300">
              <a:latin typeface="+mn-lt"/>
              <a:cs typeface="Arial MT"/>
            </a:endParaRPr>
          </a:p>
        </p:txBody>
      </p:sp>
      <p:sp>
        <p:nvSpPr>
          <p:cNvPr id="19" name="object 19"/>
          <p:cNvSpPr txBox="1"/>
          <p:nvPr/>
        </p:nvSpPr>
        <p:spPr>
          <a:xfrm>
            <a:off x="7308714" y="6067425"/>
            <a:ext cx="2473325" cy="501650"/>
          </a:xfrm>
          <a:prstGeom prst="rect">
            <a:avLst/>
          </a:prstGeom>
          <a:solidFill>
            <a:srgbClr val="F1F2EC"/>
          </a:solidFill>
        </p:spPr>
        <p:txBody>
          <a:bodyPr vert="horz" wrap="square" lIns="0" tIns="15875" rIns="0" bIns="0" rtlCol="0">
            <a:spAutoFit/>
          </a:bodyPr>
          <a:lstStyle/>
          <a:p>
            <a:pPr marL="12700">
              <a:lnSpc>
                <a:spcPct val="100000"/>
              </a:lnSpc>
              <a:spcBef>
                <a:spcPts val="125"/>
              </a:spcBef>
            </a:pPr>
            <a:r>
              <a:rPr sz="3100" spc="-10" dirty="0">
                <a:solidFill>
                  <a:srgbClr val="9E4F28"/>
                </a:solidFill>
                <a:latin typeface="+mn-lt"/>
                <a:cs typeface="Arial MT"/>
              </a:rPr>
              <a:t>Oversampling</a:t>
            </a:r>
            <a:endParaRPr sz="3100" dirty="0">
              <a:latin typeface="+mn-lt"/>
              <a:cs typeface="Arial MT"/>
            </a:endParaRPr>
          </a:p>
        </p:txBody>
      </p:sp>
      <p:sp>
        <p:nvSpPr>
          <p:cNvPr id="26" name="object 26"/>
          <p:cNvSpPr txBox="1"/>
          <p:nvPr/>
        </p:nvSpPr>
        <p:spPr>
          <a:xfrm>
            <a:off x="11161661" y="8686800"/>
            <a:ext cx="6174740" cy="527066"/>
          </a:xfrm>
          <a:prstGeom prst="rect">
            <a:avLst/>
          </a:prstGeom>
        </p:spPr>
        <p:txBody>
          <a:bodyPr vert="horz" wrap="square" lIns="0" tIns="110489" rIns="0" bIns="0" rtlCol="0">
            <a:spAutoFit/>
          </a:bodyPr>
          <a:lstStyle/>
          <a:p>
            <a:pPr marL="12700">
              <a:lnSpc>
                <a:spcPct val="100000"/>
              </a:lnSpc>
              <a:spcBef>
                <a:spcPts val="869"/>
              </a:spcBef>
            </a:pPr>
            <a:r>
              <a:rPr sz="2700" spc="-35" dirty="0">
                <a:latin typeface="+mn-lt"/>
                <a:cs typeface="Arial MT"/>
              </a:rPr>
              <a:t>Resampled</a:t>
            </a:r>
            <a:r>
              <a:rPr sz="2700" dirty="0">
                <a:latin typeface="+mn-lt"/>
                <a:cs typeface="Arial MT"/>
              </a:rPr>
              <a:t> </a:t>
            </a:r>
            <a:r>
              <a:rPr sz="2700" spc="-25" dirty="0">
                <a:latin typeface="+mn-lt"/>
                <a:cs typeface="Arial MT"/>
              </a:rPr>
              <a:t>Balanced</a:t>
            </a:r>
            <a:r>
              <a:rPr sz="2700" dirty="0">
                <a:latin typeface="+mn-lt"/>
                <a:cs typeface="Arial MT"/>
              </a:rPr>
              <a:t> </a:t>
            </a:r>
            <a:r>
              <a:rPr sz="2700" spc="-20" dirty="0">
                <a:latin typeface="+mn-lt"/>
                <a:cs typeface="Arial MT"/>
              </a:rPr>
              <a:t>Data</a:t>
            </a:r>
            <a:r>
              <a:rPr sz="2700" spc="-35" dirty="0">
                <a:latin typeface="+mn-lt"/>
                <a:cs typeface="Arial MT"/>
              </a:rPr>
              <a:t> </a:t>
            </a:r>
            <a:r>
              <a:rPr sz="2700" dirty="0">
                <a:latin typeface="+mn-lt"/>
                <a:cs typeface="Arial MT"/>
              </a:rPr>
              <a:t>for</a:t>
            </a:r>
            <a:r>
              <a:rPr sz="2700" spc="-90" dirty="0">
                <a:latin typeface="+mn-lt"/>
                <a:cs typeface="Arial MT"/>
              </a:rPr>
              <a:t> </a:t>
            </a:r>
            <a:r>
              <a:rPr sz="2700" spc="-10" dirty="0">
                <a:latin typeface="+mn-lt"/>
                <a:cs typeface="Arial MT"/>
              </a:rPr>
              <a:t>Training</a:t>
            </a:r>
            <a:endParaRPr sz="2700" dirty="0">
              <a:latin typeface="+mn-lt"/>
              <a:cs typeface="Arial MT"/>
            </a:endParaRPr>
          </a:p>
        </p:txBody>
      </p:sp>
      <p:sp>
        <p:nvSpPr>
          <p:cNvPr id="27" name="object 14">
            <a:extLst>
              <a:ext uri="{FF2B5EF4-FFF2-40B4-BE49-F238E27FC236}">
                <a16:creationId xmlns:a16="http://schemas.microsoft.com/office/drawing/2014/main" id="{1F407C9D-AB9C-3656-FAE6-750E78D60394}"/>
              </a:ext>
            </a:extLst>
          </p:cNvPr>
          <p:cNvSpPr txBox="1"/>
          <p:nvPr/>
        </p:nvSpPr>
        <p:spPr>
          <a:xfrm>
            <a:off x="11161660" y="3756460"/>
            <a:ext cx="5850725" cy="633507"/>
          </a:xfrm>
          <a:prstGeom prst="rect">
            <a:avLst/>
          </a:prstGeom>
        </p:spPr>
        <p:txBody>
          <a:bodyPr vert="horz" wrap="square" lIns="0" tIns="43180" rIns="0" bIns="0" rtlCol="0">
            <a:spAutoFit/>
          </a:bodyPr>
          <a:lstStyle/>
          <a:p>
            <a:pPr marR="5080" indent="11113" algn="ctr">
              <a:lnSpc>
                <a:spcPts val="2300"/>
              </a:lnSpc>
              <a:spcBef>
                <a:spcPts val="340"/>
              </a:spcBef>
            </a:pPr>
            <a:r>
              <a:rPr lang="en-US" sz="2050" dirty="0">
                <a:latin typeface="+mn-lt"/>
                <a:cs typeface="Arial MT"/>
              </a:rPr>
              <a:t>Count of Dropout and Graduate Students in Resampled Data</a:t>
            </a:r>
          </a:p>
        </p:txBody>
      </p:sp>
      <p:pic>
        <p:nvPicPr>
          <p:cNvPr id="29" name="Picture 28">
            <a:extLst>
              <a:ext uri="{FF2B5EF4-FFF2-40B4-BE49-F238E27FC236}">
                <a16:creationId xmlns:a16="http://schemas.microsoft.com/office/drawing/2014/main" id="{DB0275A2-A1CF-870A-2A2E-4C9BB7EA3D74}"/>
              </a:ext>
            </a:extLst>
          </p:cNvPr>
          <p:cNvPicPr>
            <a:picLocks noChangeAspect="1"/>
          </p:cNvPicPr>
          <p:nvPr/>
        </p:nvPicPr>
        <p:blipFill>
          <a:blip r:embed="rId4"/>
          <a:stretch>
            <a:fillRect/>
          </a:stretch>
        </p:blipFill>
        <p:spPr>
          <a:xfrm>
            <a:off x="891256" y="4558146"/>
            <a:ext cx="5618314" cy="4021853"/>
          </a:xfrm>
          <a:prstGeom prst="rect">
            <a:avLst/>
          </a:prstGeom>
        </p:spPr>
      </p:pic>
      <p:pic>
        <p:nvPicPr>
          <p:cNvPr id="31" name="Picture 30">
            <a:extLst>
              <a:ext uri="{FF2B5EF4-FFF2-40B4-BE49-F238E27FC236}">
                <a16:creationId xmlns:a16="http://schemas.microsoft.com/office/drawing/2014/main" id="{C8542A81-8100-4B47-CF38-2D91D7B0BBA7}"/>
              </a:ext>
            </a:extLst>
          </p:cNvPr>
          <p:cNvPicPr>
            <a:picLocks noChangeAspect="1"/>
          </p:cNvPicPr>
          <p:nvPr/>
        </p:nvPicPr>
        <p:blipFill>
          <a:blip r:embed="rId5"/>
          <a:stretch>
            <a:fillRect/>
          </a:stretch>
        </p:blipFill>
        <p:spPr>
          <a:xfrm>
            <a:off x="11161661" y="4545011"/>
            <a:ext cx="5850725" cy="40481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1F2EC"/>
        </a:solidFill>
        <a:effectLst/>
      </p:bgPr>
    </p:bg>
    <p:spTree>
      <p:nvGrpSpPr>
        <p:cNvPr id="1" name=""/>
        <p:cNvGrpSpPr/>
        <p:nvPr/>
      </p:nvGrpSpPr>
      <p:grpSpPr>
        <a:xfrm>
          <a:off x="0" y="0"/>
          <a:ext cx="0" cy="0"/>
          <a:chOff x="0" y="0"/>
          <a:chExt cx="0" cy="0"/>
        </a:xfrm>
      </p:grpSpPr>
      <p:sp>
        <p:nvSpPr>
          <p:cNvPr id="49" name="object 49"/>
          <p:cNvSpPr txBox="1">
            <a:spLocks noGrp="1"/>
          </p:cNvSpPr>
          <p:nvPr>
            <p:ph type="title"/>
          </p:nvPr>
        </p:nvSpPr>
        <p:spPr>
          <a:xfrm>
            <a:off x="755757" y="675922"/>
            <a:ext cx="15638144" cy="639445"/>
          </a:xfrm>
          <a:prstGeom prst="rect">
            <a:avLst/>
          </a:prstGeom>
        </p:spPr>
        <p:txBody>
          <a:bodyPr vert="horz" wrap="square" lIns="0" tIns="15875" rIns="0" bIns="0" rtlCol="0">
            <a:spAutoFit/>
          </a:bodyPr>
          <a:lstStyle/>
          <a:p>
            <a:pPr marL="12700">
              <a:lnSpc>
                <a:spcPct val="100000"/>
              </a:lnSpc>
              <a:spcBef>
                <a:spcPts val="125"/>
              </a:spcBef>
            </a:pPr>
            <a:r>
              <a:rPr sz="4000" b="1" dirty="0">
                <a:solidFill>
                  <a:srgbClr val="1C1C1C"/>
                </a:solidFill>
                <a:latin typeface="+mj-lt"/>
                <a:cs typeface="Arial MT"/>
              </a:rPr>
              <a:t>What</a:t>
            </a:r>
            <a:r>
              <a:rPr sz="4000" b="1" spc="85" dirty="0">
                <a:solidFill>
                  <a:srgbClr val="1C1C1C"/>
                </a:solidFill>
                <a:latin typeface="+mj-lt"/>
                <a:cs typeface="Arial MT"/>
              </a:rPr>
              <a:t> </a:t>
            </a:r>
            <a:r>
              <a:rPr sz="4000" b="1" dirty="0">
                <a:solidFill>
                  <a:srgbClr val="161616"/>
                </a:solidFill>
                <a:latin typeface="+mj-lt"/>
                <a:cs typeface="Arial MT"/>
              </a:rPr>
              <a:t>Factors</a:t>
            </a:r>
            <a:r>
              <a:rPr sz="4000" b="1" spc="-30" dirty="0">
                <a:solidFill>
                  <a:srgbClr val="161616"/>
                </a:solidFill>
                <a:latin typeface="+mj-lt"/>
                <a:cs typeface="Arial MT"/>
              </a:rPr>
              <a:t> </a:t>
            </a:r>
            <a:r>
              <a:rPr sz="4000" b="1" dirty="0">
                <a:solidFill>
                  <a:srgbClr val="1A1A1A"/>
                </a:solidFill>
                <a:latin typeface="+mj-lt"/>
                <a:cs typeface="Arial MT"/>
              </a:rPr>
              <a:t>Drive</a:t>
            </a:r>
            <a:r>
              <a:rPr sz="4000" b="1" spc="-15" dirty="0">
                <a:solidFill>
                  <a:srgbClr val="1A1A1A"/>
                </a:solidFill>
                <a:latin typeface="+mj-lt"/>
                <a:cs typeface="Arial MT"/>
              </a:rPr>
              <a:t> </a:t>
            </a:r>
            <a:r>
              <a:rPr sz="4000" b="1" spc="50" dirty="0">
                <a:solidFill>
                  <a:srgbClr val="161616"/>
                </a:solidFill>
                <a:latin typeface="+mj-lt"/>
                <a:cs typeface="Arial MT"/>
              </a:rPr>
              <a:t>Student</a:t>
            </a:r>
            <a:r>
              <a:rPr sz="4000" b="1" spc="180" dirty="0">
                <a:solidFill>
                  <a:srgbClr val="161616"/>
                </a:solidFill>
                <a:latin typeface="+mj-lt"/>
                <a:cs typeface="Arial MT"/>
              </a:rPr>
              <a:t> </a:t>
            </a:r>
            <a:r>
              <a:rPr sz="4000" b="1" dirty="0">
                <a:solidFill>
                  <a:srgbClr val="111111"/>
                </a:solidFill>
                <a:latin typeface="+mj-lt"/>
                <a:cs typeface="Arial MT"/>
              </a:rPr>
              <a:t>Success?</a:t>
            </a:r>
            <a:r>
              <a:rPr sz="4000" b="1" spc="265" dirty="0">
                <a:solidFill>
                  <a:srgbClr val="111111"/>
                </a:solidFill>
                <a:latin typeface="+mj-lt"/>
                <a:cs typeface="Arial MT"/>
              </a:rPr>
              <a:t> </a:t>
            </a:r>
            <a:r>
              <a:rPr sz="4000" b="1" spc="-165" dirty="0">
                <a:solidFill>
                  <a:srgbClr val="1A1A1A"/>
                </a:solidFill>
                <a:latin typeface="+mj-lt"/>
                <a:cs typeface="Arial MT"/>
              </a:rPr>
              <a:t>A</a:t>
            </a:r>
            <a:r>
              <a:rPr sz="4000" b="1" spc="-80" dirty="0">
                <a:solidFill>
                  <a:srgbClr val="1A1A1A"/>
                </a:solidFill>
                <a:latin typeface="+mj-lt"/>
                <a:cs typeface="Arial MT"/>
              </a:rPr>
              <a:t> </a:t>
            </a:r>
            <a:r>
              <a:rPr sz="4000" b="1" dirty="0">
                <a:solidFill>
                  <a:srgbClr val="1A1A1A"/>
                </a:solidFill>
                <a:latin typeface="+mj-lt"/>
                <a:cs typeface="Arial MT"/>
              </a:rPr>
              <a:t>Look</a:t>
            </a:r>
            <a:r>
              <a:rPr sz="4000" b="1" spc="-25" dirty="0">
                <a:solidFill>
                  <a:srgbClr val="1A1A1A"/>
                </a:solidFill>
                <a:latin typeface="+mj-lt"/>
                <a:cs typeface="Arial MT"/>
              </a:rPr>
              <a:t> </a:t>
            </a:r>
            <a:r>
              <a:rPr sz="4000" b="1" spc="80" dirty="0">
                <a:solidFill>
                  <a:srgbClr val="1C1C1C"/>
                </a:solidFill>
                <a:latin typeface="+mj-lt"/>
                <a:cs typeface="Arial MT"/>
              </a:rPr>
              <a:t>at</a:t>
            </a:r>
            <a:r>
              <a:rPr sz="4000" b="1" spc="-60" dirty="0">
                <a:solidFill>
                  <a:srgbClr val="1C1C1C"/>
                </a:solidFill>
                <a:latin typeface="+mj-lt"/>
                <a:cs typeface="Arial MT"/>
              </a:rPr>
              <a:t> </a:t>
            </a:r>
            <a:r>
              <a:rPr sz="4000" b="1" dirty="0">
                <a:solidFill>
                  <a:srgbClr val="181818"/>
                </a:solidFill>
                <a:latin typeface="+mj-lt"/>
                <a:cs typeface="Arial MT"/>
              </a:rPr>
              <a:t>Feature</a:t>
            </a:r>
            <a:r>
              <a:rPr sz="4000" b="1" spc="45" dirty="0">
                <a:solidFill>
                  <a:srgbClr val="181818"/>
                </a:solidFill>
                <a:latin typeface="+mj-lt"/>
                <a:cs typeface="Arial MT"/>
              </a:rPr>
              <a:t> </a:t>
            </a:r>
            <a:r>
              <a:rPr sz="4000" b="1" spc="-10" dirty="0">
                <a:solidFill>
                  <a:srgbClr val="161616"/>
                </a:solidFill>
                <a:latin typeface="+mj-lt"/>
                <a:cs typeface="Arial MT"/>
              </a:rPr>
              <a:t>Correlation</a:t>
            </a:r>
            <a:endParaRPr sz="4000" b="1" dirty="0">
              <a:latin typeface="+mj-lt"/>
              <a:cs typeface="Arial MT"/>
            </a:endParaRPr>
          </a:p>
        </p:txBody>
      </p:sp>
      <p:sp>
        <p:nvSpPr>
          <p:cNvPr id="50" name="object 50"/>
          <p:cNvSpPr txBox="1"/>
          <p:nvPr/>
        </p:nvSpPr>
        <p:spPr>
          <a:xfrm>
            <a:off x="753317" y="1502127"/>
            <a:ext cx="15554325" cy="720090"/>
          </a:xfrm>
          <a:prstGeom prst="rect">
            <a:avLst/>
          </a:prstGeom>
        </p:spPr>
        <p:txBody>
          <a:bodyPr vert="horz" wrap="square" lIns="0" tIns="8255" rIns="0" bIns="0" rtlCol="0">
            <a:spAutoFit/>
          </a:bodyPr>
          <a:lstStyle/>
          <a:p>
            <a:pPr marL="12700" marR="5080" indent="8890">
              <a:lnSpc>
                <a:spcPts val="2800"/>
              </a:lnSpc>
              <a:spcBef>
                <a:spcPts val="65"/>
              </a:spcBef>
            </a:pPr>
            <a:r>
              <a:rPr sz="2200" spc="-40" dirty="0">
                <a:latin typeface="+mn-lt"/>
                <a:cs typeface="Arial MT"/>
              </a:rPr>
              <a:t>An</a:t>
            </a:r>
            <a:r>
              <a:rPr sz="2200" spc="-114" dirty="0">
                <a:latin typeface="+mn-lt"/>
                <a:cs typeface="Arial MT"/>
              </a:rPr>
              <a:t> </a:t>
            </a:r>
            <a:r>
              <a:rPr sz="2200" spc="-40" dirty="0">
                <a:latin typeface="+mn-lt"/>
                <a:cs typeface="Arial MT"/>
              </a:rPr>
              <a:t>analysis</a:t>
            </a:r>
            <a:r>
              <a:rPr sz="2200" spc="100" dirty="0">
                <a:latin typeface="+mn-lt"/>
                <a:cs typeface="Arial MT"/>
              </a:rPr>
              <a:t> </a:t>
            </a:r>
            <a:r>
              <a:rPr sz="2200" dirty="0">
                <a:latin typeface="+mn-lt"/>
                <a:cs typeface="Arial MT"/>
              </a:rPr>
              <a:t>of</a:t>
            </a:r>
            <a:r>
              <a:rPr sz="2200" spc="-30" dirty="0">
                <a:latin typeface="+mn-lt"/>
                <a:cs typeface="Arial MT"/>
              </a:rPr>
              <a:t> </a:t>
            </a:r>
            <a:r>
              <a:rPr sz="2200" dirty="0">
                <a:latin typeface="+mn-lt"/>
                <a:cs typeface="Arial MT"/>
              </a:rPr>
              <a:t>the</a:t>
            </a:r>
            <a:r>
              <a:rPr sz="2200" spc="-95" dirty="0">
                <a:latin typeface="+mn-lt"/>
                <a:cs typeface="Arial MT"/>
              </a:rPr>
              <a:t> </a:t>
            </a:r>
            <a:r>
              <a:rPr sz="2200" spc="-20" dirty="0">
                <a:latin typeface="+mn-lt"/>
                <a:cs typeface="Arial MT"/>
              </a:rPr>
              <a:t>absolute</a:t>
            </a:r>
            <a:r>
              <a:rPr sz="2200" spc="15" dirty="0">
                <a:latin typeface="+mn-lt"/>
                <a:cs typeface="Arial MT"/>
              </a:rPr>
              <a:t> </a:t>
            </a:r>
            <a:r>
              <a:rPr sz="2200" spc="-20" dirty="0">
                <a:latin typeface="+mn-lt"/>
                <a:cs typeface="Arial MT"/>
              </a:rPr>
              <a:t>correlation</a:t>
            </a:r>
            <a:r>
              <a:rPr sz="2200" spc="-25" dirty="0">
                <a:latin typeface="+mn-lt"/>
                <a:cs typeface="Arial MT"/>
              </a:rPr>
              <a:t> </a:t>
            </a:r>
            <a:r>
              <a:rPr sz="2200" spc="-10" dirty="0">
                <a:latin typeface="+mn-lt"/>
                <a:cs typeface="Arial MT"/>
              </a:rPr>
              <a:t>between</a:t>
            </a:r>
            <a:r>
              <a:rPr sz="2200" spc="5" dirty="0">
                <a:latin typeface="+mn-lt"/>
                <a:cs typeface="Arial MT"/>
              </a:rPr>
              <a:t> </a:t>
            </a:r>
            <a:r>
              <a:rPr sz="2200" spc="-20" dirty="0">
                <a:latin typeface="+mn-lt"/>
                <a:cs typeface="Arial MT"/>
              </a:rPr>
              <a:t>each</a:t>
            </a:r>
            <a:r>
              <a:rPr sz="2200" spc="20" dirty="0">
                <a:latin typeface="+mn-lt"/>
                <a:cs typeface="Arial MT"/>
              </a:rPr>
              <a:t> </a:t>
            </a:r>
            <a:r>
              <a:rPr sz="2200" spc="-30" dirty="0">
                <a:latin typeface="+mn-lt"/>
                <a:cs typeface="Arial MT"/>
              </a:rPr>
              <a:t>feature</a:t>
            </a:r>
            <a:r>
              <a:rPr sz="2200" spc="-35" dirty="0">
                <a:latin typeface="+mn-lt"/>
                <a:cs typeface="Arial MT"/>
              </a:rPr>
              <a:t> </a:t>
            </a:r>
            <a:r>
              <a:rPr sz="2200" spc="-20" dirty="0">
                <a:latin typeface="+mn-lt"/>
                <a:cs typeface="Arial MT"/>
              </a:rPr>
              <a:t>and</a:t>
            </a:r>
            <a:r>
              <a:rPr sz="2200" spc="-110" dirty="0">
                <a:latin typeface="+mn-lt"/>
                <a:cs typeface="Arial MT"/>
              </a:rPr>
              <a:t> </a:t>
            </a:r>
            <a:r>
              <a:rPr sz="2200" dirty="0">
                <a:latin typeface="+mn-lt"/>
                <a:cs typeface="Arial MT"/>
              </a:rPr>
              <a:t>the</a:t>
            </a:r>
            <a:r>
              <a:rPr sz="2200" spc="-55" dirty="0">
                <a:latin typeface="+mn-lt"/>
                <a:cs typeface="Arial MT"/>
              </a:rPr>
              <a:t> </a:t>
            </a:r>
            <a:r>
              <a:rPr sz="2200" dirty="0">
                <a:latin typeface="+mn-lt"/>
                <a:cs typeface="Arial MT"/>
              </a:rPr>
              <a:t>target</a:t>
            </a:r>
            <a:r>
              <a:rPr sz="2200" spc="-5" dirty="0">
                <a:latin typeface="+mn-lt"/>
                <a:cs typeface="Arial MT"/>
              </a:rPr>
              <a:t> </a:t>
            </a:r>
            <a:r>
              <a:rPr sz="2200" spc="-25" dirty="0">
                <a:latin typeface="+mn-lt"/>
                <a:cs typeface="Arial MT"/>
              </a:rPr>
              <a:t>outcome</a:t>
            </a:r>
            <a:r>
              <a:rPr sz="2200" spc="30" dirty="0">
                <a:latin typeface="+mn-lt"/>
                <a:cs typeface="Arial MT"/>
              </a:rPr>
              <a:t> </a:t>
            </a:r>
            <a:r>
              <a:rPr sz="2200" spc="-60" dirty="0">
                <a:latin typeface="+mn-lt"/>
                <a:cs typeface="Arial MT"/>
              </a:rPr>
              <a:t>reveals</a:t>
            </a:r>
            <a:r>
              <a:rPr sz="2200" spc="-55" dirty="0">
                <a:latin typeface="+mn-lt"/>
                <a:cs typeface="Arial MT"/>
              </a:rPr>
              <a:t> </a:t>
            </a:r>
            <a:r>
              <a:rPr sz="2200" spc="55" dirty="0">
                <a:latin typeface="+mn-lt"/>
                <a:cs typeface="Arial MT"/>
              </a:rPr>
              <a:t>the</a:t>
            </a:r>
            <a:r>
              <a:rPr sz="2200" spc="-155" dirty="0">
                <a:latin typeface="+mn-lt"/>
                <a:cs typeface="Arial MT"/>
              </a:rPr>
              <a:t> </a:t>
            </a:r>
            <a:r>
              <a:rPr sz="2200" spc="-10" dirty="0">
                <a:latin typeface="+mn-lt"/>
                <a:cs typeface="Arial MT"/>
              </a:rPr>
              <a:t>key</a:t>
            </a:r>
            <a:r>
              <a:rPr sz="2200" spc="-140" dirty="0">
                <a:latin typeface="+mn-lt"/>
                <a:cs typeface="Arial MT"/>
              </a:rPr>
              <a:t> </a:t>
            </a:r>
            <a:r>
              <a:rPr sz="2200" dirty="0">
                <a:latin typeface="+mn-lt"/>
                <a:cs typeface="Arial MT"/>
              </a:rPr>
              <a:t>predictors</a:t>
            </a:r>
            <a:r>
              <a:rPr sz="2200" spc="-75" dirty="0">
                <a:latin typeface="+mn-lt"/>
                <a:cs typeface="Arial MT"/>
              </a:rPr>
              <a:t> </a:t>
            </a:r>
            <a:r>
              <a:rPr sz="2200" spc="50" dirty="0">
                <a:latin typeface="+mn-lt"/>
                <a:cs typeface="Arial MT"/>
              </a:rPr>
              <a:t>of</a:t>
            </a:r>
            <a:r>
              <a:rPr sz="2200" spc="-60" dirty="0">
                <a:latin typeface="+mn-lt"/>
                <a:cs typeface="Arial MT"/>
              </a:rPr>
              <a:t> </a:t>
            </a:r>
            <a:r>
              <a:rPr sz="2200" spc="-10" dirty="0">
                <a:latin typeface="+mn-lt"/>
                <a:cs typeface="Arial MT"/>
              </a:rPr>
              <a:t>student </a:t>
            </a:r>
            <a:r>
              <a:rPr sz="2200" dirty="0">
                <a:latin typeface="+mn-lt"/>
                <a:cs typeface="Arial MT"/>
              </a:rPr>
              <a:t>success.</a:t>
            </a:r>
            <a:r>
              <a:rPr sz="2200" spc="-60" dirty="0">
                <a:latin typeface="+mn-lt"/>
                <a:cs typeface="Arial MT"/>
              </a:rPr>
              <a:t> </a:t>
            </a:r>
            <a:r>
              <a:rPr sz="2200" spc="-45" dirty="0">
                <a:latin typeface="+mn-lt"/>
                <a:cs typeface="Arial MT"/>
              </a:rPr>
              <a:t>Academic</a:t>
            </a:r>
            <a:r>
              <a:rPr sz="2200" spc="30" dirty="0">
                <a:latin typeface="+mn-lt"/>
                <a:cs typeface="Arial MT"/>
              </a:rPr>
              <a:t> </a:t>
            </a:r>
            <a:r>
              <a:rPr sz="2200" spc="-35" dirty="0">
                <a:latin typeface="+mn-lt"/>
                <a:cs typeface="Arial MT"/>
              </a:rPr>
              <a:t>performance</a:t>
            </a:r>
            <a:r>
              <a:rPr sz="2200" spc="-15" dirty="0">
                <a:latin typeface="+mn-lt"/>
                <a:cs typeface="Arial MT"/>
              </a:rPr>
              <a:t> </a:t>
            </a:r>
            <a:r>
              <a:rPr sz="2200" dirty="0">
                <a:latin typeface="+mn-lt"/>
                <a:cs typeface="Arial MT"/>
              </a:rPr>
              <a:t>indicators</a:t>
            </a:r>
            <a:r>
              <a:rPr sz="2200" spc="-25" dirty="0">
                <a:latin typeface="+mn-lt"/>
                <a:cs typeface="Arial MT"/>
              </a:rPr>
              <a:t> </a:t>
            </a:r>
            <a:r>
              <a:rPr sz="2200" dirty="0">
                <a:latin typeface="+mn-lt"/>
                <a:cs typeface="Arial MT"/>
              </a:rPr>
              <a:t>from</a:t>
            </a:r>
            <a:r>
              <a:rPr sz="2200" spc="-130" dirty="0">
                <a:latin typeface="+mn-lt"/>
                <a:cs typeface="Arial MT"/>
              </a:rPr>
              <a:t> </a:t>
            </a:r>
            <a:r>
              <a:rPr sz="2200" dirty="0">
                <a:latin typeface="+mn-lt"/>
                <a:cs typeface="Arial MT"/>
              </a:rPr>
              <a:t>the</a:t>
            </a:r>
            <a:r>
              <a:rPr sz="2200" spc="-150" dirty="0">
                <a:latin typeface="+mn-lt"/>
                <a:cs typeface="Arial MT"/>
              </a:rPr>
              <a:t> </a:t>
            </a:r>
            <a:r>
              <a:rPr sz="2200" dirty="0">
                <a:latin typeface="+mn-lt"/>
                <a:cs typeface="Arial MT"/>
              </a:rPr>
              <a:t>first</a:t>
            </a:r>
            <a:r>
              <a:rPr sz="2200" spc="-70" dirty="0">
                <a:latin typeface="+mn-lt"/>
                <a:cs typeface="Arial MT"/>
              </a:rPr>
              <a:t> </a:t>
            </a:r>
            <a:r>
              <a:rPr sz="2200" spc="-40" dirty="0">
                <a:latin typeface="+mn-lt"/>
                <a:cs typeface="Arial MT"/>
              </a:rPr>
              <a:t>and</a:t>
            </a:r>
            <a:r>
              <a:rPr sz="2200" spc="-65" dirty="0">
                <a:latin typeface="+mn-lt"/>
                <a:cs typeface="Arial MT"/>
              </a:rPr>
              <a:t> </a:t>
            </a:r>
            <a:r>
              <a:rPr sz="2200" spc="-10" dirty="0">
                <a:latin typeface="+mn-lt"/>
                <a:cs typeface="Arial MT"/>
              </a:rPr>
              <a:t>second </a:t>
            </a:r>
            <a:r>
              <a:rPr sz="2200" spc="-45" dirty="0">
                <a:latin typeface="+mn-lt"/>
                <a:cs typeface="Arial MT"/>
              </a:rPr>
              <a:t>semesters</a:t>
            </a:r>
            <a:r>
              <a:rPr sz="2200" spc="10" dirty="0">
                <a:latin typeface="+mn-lt"/>
                <a:cs typeface="Arial MT"/>
              </a:rPr>
              <a:t> </a:t>
            </a:r>
            <a:r>
              <a:rPr sz="2200" spc="-45" dirty="0">
                <a:latin typeface="+mn-lt"/>
                <a:cs typeface="Arial MT"/>
              </a:rPr>
              <a:t>are</a:t>
            </a:r>
            <a:r>
              <a:rPr sz="2200" spc="-100" dirty="0">
                <a:latin typeface="+mn-lt"/>
                <a:cs typeface="Arial MT"/>
              </a:rPr>
              <a:t> </a:t>
            </a:r>
            <a:r>
              <a:rPr sz="2200" spc="-25" dirty="0">
                <a:latin typeface="+mn-lt"/>
                <a:cs typeface="Arial MT"/>
              </a:rPr>
              <a:t>overwhelmingly</a:t>
            </a:r>
            <a:r>
              <a:rPr sz="2200" spc="-55" dirty="0">
                <a:latin typeface="+mn-lt"/>
                <a:cs typeface="Arial MT"/>
              </a:rPr>
              <a:t> </a:t>
            </a:r>
            <a:r>
              <a:rPr sz="2200" dirty="0">
                <a:latin typeface="+mn-lt"/>
                <a:cs typeface="Arial MT"/>
              </a:rPr>
              <a:t>the</a:t>
            </a:r>
            <a:r>
              <a:rPr sz="2200" spc="-85" dirty="0">
                <a:latin typeface="+mn-lt"/>
                <a:cs typeface="Arial MT"/>
              </a:rPr>
              <a:t> </a:t>
            </a:r>
            <a:r>
              <a:rPr sz="2200" dirty="0">
                <a:latin typeface="+mn-lt"/>
                <a:cs typeface="Arial MT"/>
              </a:rPr>
              <a:t>most</a:t>
            </a:r>
            <a:r>
              <a:rPr sz="2200" spc="-10" dirty="0">
                <a:latin typeface="+mn-lt"/>
                <a:cs typeface="Arial MT"/>
              </a:rPr>
              <a:t> influential</a:t>
            </a:r>
            <a:r>
              <a:rPr sz="2200" spc="-15" dirty="0">
                <a:latin typeface="+mn-lt"/>
                <a:cs typeface="Arial MT"/>
              </a:rPr>
              <a:t> </a:t>
            </a:r>
            <a:r>
              <a:rPr sz="2200" spc="-10" dirty="0">
                <a:latin typeface="+mn-lt"/>
                <a:cs typeface="Arial MT"/>
              </a:rPr>
              <a:t>factors.</a:t>
            </a:r>
            <a:endParaRPr sz="2200" dirty="0">
              <a:latin typeface="+mn-lt"/>
              <a:cs typeface="Arial MT"/>
            </a:endParaRPr>
          </a:p>
        </p:txBody>
      </p:sp>
      <p:sp>
        <p:nvSpPr>
          <p:cNvPr id="61" name="object 61"/>
          <p:cNvSpPr txBox="1"/>
          <p:nvPr/>
        </p:nvSpPr>
        <p:spPr>
          <a:xfrm>
            <a:off x="13086053" y="2501900"/>
            <a:ext cx="3491865" cy="1788795"/>
          </a:xfrm>
          <a:prstGeom prst="rect">
            <a:avLst/>
          </a:prstGeom>
        </p:spPr>
        <p:txBody>
          <a:bodyPr vert="horz" wrap="square" lIns="0" tIns="133350" rIns="0" bIns="0" rtlCol="0">
            <a:spAutoFit/>
          </a:bodyPr>
          <a:lstStyle/>
          <a:p>
            <a:pPr marL="25400">
              <a:lnSpc>
                <a:spcPct val="100000"/>
              </a:lnSpc>
              <a:spcBef>
                <a:spcPts val="1050"/>
              </a:spcBef>
            </a:pPr>
            <a:r>
              <a:rPr lang="en-PH" sz="2500" b="1" spc="-265" dirty="0">
                <a:latin typeface="+mn-lt"/>
                <a:cs typeface="Arial MT"/>
              </a:rPr>
              <a:t>Top </a:t>
            </a:r>
            <a:r>
              <a:rPr sz="2500" b="1" spc="-60" dirty="0">
                <a:latin typeface="+mn-lt"/>
                <a:cs typeface="Arial MT"/>
              </a:rPr>
              <a:t>Predictors</a:t>
            </a:r>
            <a:endParaRPr sz="2500" b="1" dirty="0">
              <a:latin typeface="+mn-lt"/>
              <a:cs typeface="Arial MT"/>
            </a:endParaRPr>
          </a:p>
          <a:p>
            <a:pPr marL="12700" marR="5080" indent="2540">
              <a:lnSpc>
                <a:spcPct val="92200"/>
              </a:lnSpc>
              <a:spcBef>
                <a:spcPts val="805"/>
              </a:spcBef>
            </a:pPr>
            <a:r>
              <a:rPr sz="1650" spc="-10" dirty="0">
                <a:latin typeface="+mn-lt"/>
                <a:cs typeface="Arial MT"/>
              </a:rPr>
              <a:t>The</a:t>
            </a:r>
            <a:r>
              <a:rPr sz="1650" spc="-80" dirty="0">
                <a:latin typeface="+mn-lt"/>
                <a:cs typeface="Arial MT"/>
              </a:rPr>
              <a:t> </a:t>
            </a:r>
            <a:r>
              <a:rPr sz="1650" spc="-25" dirty="0">
                <a:latin typeface="+mn-lt"/>
                <a:cs typeface="Arial MT"/>
              </a:rPr>
              <a:t>strongest</a:t>
            </a:r>
            <a:r>
              <a:rPr sz="1650" spc="45" dirty="0">
                <a:latin typeface="+mn-lt"/>
                <a:cs typeface="Arial MT"/>
              </a:rPr>
              <a:t> </a:t>
            </a:r>
            <a:r>
              <a:rPr sz="1650" spc="-35" dirty="0">
                <a:latin typeface="+mn-lt"/>
                <a:cs typeface="Arial MT"/>
              </a:rPr>
              <a:t>signals</a:t>
            </a:r>
            <a:r>
              <a:rPr sz="1650" spc="-80" dirty="0">
                <a:latin typeface="+mn-lt"/>
                <a:cs typeface="Arial MT"/>
              </a:rPr>
              <a:t> </a:t>
            </a:r>
            <a:r>
              <a:rPr sz="1650" spc="-20" dirty="0">
                <a:latin typeface="+mn-lt"/>
                <a:cs typeface="Arial MT"/>
              </a:rPr>
              <a:t>come</a:t>
            </a:r>
            <a:r>
              <a:rPr sz="1650" spc="-70" dirty="0">
                <a:latin typeface="+mn-lt"/>
                <a:cs typeface="Arial MT"/>
              </a:rPr>
              <a:t> </a:t>
            </a:r>
            <a:r>
              <a:rPr sz="1650" spc="-20" dirty="0">
                <a:latin typeface="+mn-lt"/>
                <a:cs typeface="Arial MT"/>
              </a:rPr>
              <a:t>from </a:t>
            </a:r>
            <a:r>
              <a:rPr sz="1650" spc="-35" dirty="0">
                <a:latin typeface="+mn-lt"/>
                <a:cs typeface="Arial MT"/>
              </a:rPr>
              <a:t>academic</a:t>
            </a:r>
            <a:r>
              <a:rPr sz="1650" spc="-20" dirty="0">
                <a:latin typeface="+mn-lt"/>
                <a:cs typeface="Arial MT"/>
              </a:rPr>
              <a:t> </a:t>
            </a:r>
            <a:r>
              <a:rPr sz="1650" spc="-35" dirty="0">
                <a:latin typeface="+mn-lt"/>
                <a:cs typeface="Arial MT"/>
              </a:rPr>
              <a:t>achievement:</a:t>
            </a:r>
            <a:r>
              <a:rPr sz="1650" spc="75" dirty="0">
                <a:latin typeface="+mn-lt"/>
                <a:cs typeface="Arial MT"/>
              </a:rPr>
              <a:t> </a:t>
            </a:r>
            <a:r>
              <a:rPr sz="1650" spc="-10" dirty="0">
                <a:latin typeface="+mn-lt"/>
                <a:cs typeface="Arial MT"/>
              </a:rPr>
              <a:t>"Curricular </a:t>
            </a:r>
            <a:r>
              <a:rPr sz="1650" dirty="0">
                <a:latin typeface="+mn-lt"/>
                <a:cs typeface="Arial MT"/>
              </a:rPr>
              <a:t>units</a:t>
            </a:r>
            <a:r>
              <a:rPr sz="1650" spc="-90" dirty="0">
                <a:latin typeface="+mn-lt"/>
                <a:cs typeface="Arial MT"/>
              </a:rPr>
              <a:t> </a:t>
            </a:r>
            <a:r>
              <a:rPr sz="1650" spc="-10" dirty="0">
                <a:latin typeface="+mn-lt"/>
                <a:cs typeface="Arial MT"/>
              </a:rPr>
              <a:t>2nd</a:t>
            </a:r>
            <a:r>
              <a:rPr sz="1650" spc="-90" dirty="0">
                <a:latin typeface="+mn-lt"/>
                <a:cs typeface="Arial MT"/>
              </a:rPr>
              <a:t> </a:t>
            </a:r>
            <a:r>
              <a:rPr sz="1650" spc="-55" dirty="0">
                <a:latin typeface="+mn-lt"/>
                <a:cs typeface="Arial MT"/>
              </a:rPr>
              <a:t>sem</a:t>
            </a:r>
            <a:r>
              <a:rPr sz="1650" spc="-60" dirty="0">
                <a:latin typeface="+mn-lt"/>
                <a:cs typeface="Arial MT"/>
              </a:rPr>
              <a:t> </a:t>
            </a:r>
            <a:r>
              <a:rPr sz="1650" dirty="0">
                <a:latin typeface="+mn-lt"/>
                <a:cs typeface="Arial MT"/>
              </a:rPr>
              <a:t>(approved)',</a:t>
            </a:r>
            <a:r>
              <a:rPr sz="1650" spc="55" dirty="0">
                <a:latin typeface="+mn-lt"/>
                <a:cs typeface="Arial MT"/>
              </a:rPr>
              <a:t> </a:t>
            </a:r>
            <a:r>
              <a:rPr sz="1650" spc="-10" dirty="0">
                <a:latin typeface="+mn-lt"/>
                <a:cs typeface="Arial MT"/>
              </a:rPr>
              <a:t>'Curricular </a:t>
            </a:r>
            <a:r>
              <a:rPr sz="1650" dirty="0">
                <a:latin typeface="+mn-lt"/>
                <a:cs typeface="Arial MT"/>
              </a:rPr>
              <a:t>units</a:t>
            </a:r>
            <a:r>
              <a:rPr sz="1650" spc="-110" dirty="0">
                <a:latin typeface="+mn-lt"/>
                <a:cs typeface="Arial MT"/>
              </a:rPr>
              <a:t> </a:t>
            </a:r>
            <a:r>
              <a:rPr sz="1650" spc="-10" dirty="0">
                <a:latin typeface="+mn-lt"/>
                <a:cs typeface="Arial MT"/>
              </a:rPr>
              <a:t>2nd</a:t>
            </a:r>
            <a:r>
              <a:rPr sz="1650" spc="-105" dirty="0">
                <a:latin typeface="+mn-lt"/>
                <a:cs typeface="Arial MT"/>
              </a:rPr>
              <a:t> </a:t>
            </a:r>
            <a:r>
              <a:rPr sz="1650" spc="-55" dirty="0">
                <a:solidFill>
                  <a:srgbClr val="111111"/>
                </a:solidFill>
                <a:latin typeface="+mn-lt"/>
                <a:cs typeface="Arial MT"/>
              </a:rPr>
              <a:t>sem</a:t>
            </a:r>
            <a:r>
              <a:rPr sz="1650" spc="-60" dirty="0">
                <a:solidFill>
                  <a:srgbClr val="111111"/>
                </a:solidFill>
                <a:latin typeface="+mn-lt"/>
                <a:cs typeface="Arial MT"/>
              </a:rPr>
              <a:t> </a:t>
            </a:r>
            <a:r>
              <a:rPr sz="1650" spc="-20" dirty="0">
                <a:latin typeface="+mn-lt"/>
                <a:cs typeface="Arial MT"/>
              </a:rPr>
              <a:t>(grade)",</a:t>
            </a:r>
            <a:r>
              <a:rPr sz="1650" spc="-75" dirty="0">
                <a:latin typeface="+mn-lt"/>
                <a:cs typeface="Arial MT"/>
              </a:rPr>
              <a:t> </a:t>
            </a:r>
            <a:r>
              <a:rPr sz="1650" spc="-10" dirty="0">
                <a:latin typeface="+mn-lt"/>
                <a:cs typeface="Arial MT"/>
              </a:rPr>
              <a:t>and</a:t>
            </a:r>
            <a:r>
              <a:rPr sz="1650" spc="25" dirty="0">
                <a:latin typeface="+mn-lt"/>
                <a:cs typeface="Arial MT"/>
              </a:rPr>
              <a:t> </a:t>
            </a:r>
            <a:r>
              <a:rPr sz="1650" spc="-30" dirty="0">
                <a:latin typeface="+mn-lt"/>
                <a:cs typeface="Arial MT"/>
              </a:rPr>
              <a:t>‘Curricular units</a:t>
            </a:r>
            <a:r>
              <a:rPr sz="1650" spc="-90" dirty="0">
                <a:latin typeface="+mn-lt"/>
                <a:cs typeface="Arial MT"/>
              </a:rPr>
              <a:t> </a:t>
            </a:r>
            <a:r>
              <a:rPr sz="1650" spc="-25" dirty="0">
                <a:latin typeface="+mn-lt"/>
                <a:cs typeface="Arial MT"/>
              </a:rPr>
              <a:t>1st</a:t>
            </a:r>
            <a:r>
              <a:rPr sz="1650" spc="-65" dirty="0">
                <a:latin typeface="+mn-lt"/>
                <a:cs typeface="Arial MT"/>
              </a:rPr>
              <a:t> </a:t>
            </a:r>
            <a:r>
              <a:rPr sz="1650" spc="-55" dirty="0">
                <a:latin typeface="+mn-lt"/>
                <a:cs typeface="Arial MT"/>
              </a:rPr>
              <a:t>sem</a:t>
            </a:r>
            <a:r>
              <a:rPr sz="1650" spc="-60" dirty="0">
                <a:latin typeface="+mn-lt"/>
                <a:cs typeface="Arial MT"/>
              </a:rPr>
              <a:t> </a:t>
            </a:r>
            <a:r>
              <a:rPr sz="1650" spc="-10" dirty="0">
                <a:latin typeface="+mn-lt"/>
                <a:cs typeface="Arial MT"/>
              </a:rPr>
              <a:t>(approved)'.</a:t>
            </a:r>
            <a:endParaRPr sz="1650" dirty="0">
              <a:latin typeface="+mn-lt"/>
              <a:cs typeface="Arial MT"/>
            </a:endParaRPr>
          </a:p>
        </p:txBody>
      </p:sp>
      <p:sp>
        <p:nvSpPr>
          <p:cNvPr id="62" name="object 62"/>
          <p:cNvSpPr txBox="1"/>
          <p:nvPr/>
        </p:nvSpPr>
        <p:spPr>
          <a:xfrm>
            <a:off x="13108165" y="4960395"/>
            <a:ext cx="3367404" cy="1253490"/>
          </a:xfrm>
          <a:prstGeom prst="rect">
            <a:avLst/>
          </a:prstGeom>
        </p:spPr>
        <p:txBody>
          <a:bodyPr vert="horz" wrap="square" lIns="0" tIns="87630" rIns="0" bIns="0" rtlCol="0">
            <a:spAutoFit/>
          </a:bodyPr>
          <a:lstStyle/>
          <a:p>
            <a:pPr marL="12700">
              <a:lnSpc>
                <a:spcPct val="100000"/>
              </a:lnSpc>
              <a:spcBef>
                <a:spcPts val="690"/>
              </a:spcBef>
            </a:pPr>
            <a:r>
              <a:rPr sz="2200" b="1" spc="-20" dirty="0">
                <a:latin typeface="+mn-lt"/>
                <a:cs typeface="Arial MT"/>
              </a:rPr>
              <a:t>Financial</a:t>
            </a:r>
            <a:r>
              <a:rPr sz="2200" b="1" spc="-80" dirty="0">
                <a:latin typeface="+mn-lt"/>
                <a:cs typeface="Arial MT"/>
              </a:rPr>
              <a:t> </a:t>
            </a:r>
            <a:r>
              <a:rPr sz="2200" b="1" spc="-10" dirty="0">
                <a:latin typeface="+mn-lt"/>
                <a:cs typeface="Arial MT"/>
              </a:rPr>
              <a:t>Signal</a:t>
            </a:r>
            <a:endParaRPr sz="2200" b="1" dirty="0">
              <a:latin typeface="+mn-lt"/>
              <a:cs typeface="Arial MT"/>
            </a:endParaRPr>
          </a:p>
          <a:p>
            <a:pPr marL="15875" marR="5080" indent="-3810">
              <a:lnSpc>
                <a:spcPct val="83300"/>
              </a:lnSpc>
              <a:spcBef>
                <a:spcPts val="880"/>
              </a:spcBef>
            </a:pPr>
            <a:r>
              <a:rPr sz="1850" spc="-130" dirty="0">
                <a:latin typeface="+mn-lt"/>
                <a:cs typeface="Arial MT"/>
              </a:rPr>
              <a:t>"Tuition</a:t>
            </a:r>
            <a:r>
              <a:rPr sz="1850" spc="-15" dirty="0">
                <a:latin typeface="+mn-lt"/>
                <a:cs typeface="Arial MT"/>
              </a:rPr>
              <a:t> </a:t>
            </a:r>
            <a:r>
              <a:rPr sz="1850" spc="-155" dirty="0">
                <a:latin typeface="+mn-lt"/>
                <a:cs typeface="Arial MT"/>
              </a:rPr>
              <a:t>fees</a:t>
            </a:r>
            <a:r>
              <a:rPr sz="1850" spc="-5" dirty="0">
                <a:latin typeface="+mn-lt"/>
                <a:cs typeface="Arial MT"/>
              </a:rPr>
              <a:t> </a:t>
            </a:r>
            <a:r>
              <a:rPr sz="1850" spc="-175" dirty="0">
                <a:latin typeface="+mn-lt"/>
                <a:cs typeface="Arial MT"/>
              </a:rPr>
              <a:t>up</a:t>
            </a:r>
            <a:r>
              <a:rPr sz="1850" spc="-40" dirty="0">
                <a:latin typeface="+mn-lt"/>
                <a:cs typeface="Arial MT"/>
              </a:rPr>
              <a:t> </a:t>
            </a:r>
            <a:r>
              <a:rPr sz="1850" spc="-80" dirty="0">
                <a:latin typeface="+mn-lt"/>
                <a:cs typeface="Arial MT"/>
              </a:rPr>
              <a:t>to</a:t>
            </a:r>
            <a:r>
              <a:rPr sz="1850" spc="10" dirty="0">
                <a:latin typeface="+mn-lt"/>
                <a:cs typeface="Arial MT"/>
              </a:rPr>
              <a:t> </a:t>
            </a:r>
            <a:r>
              <a:rPr sz="1850" spc="-120" dirty="0">
                <a:latin typeface="+mn-lt"/>
                <a:cs typeface="Arial MT"/>
              </a:rPr>
              <a:t>date"</a:t>
            </a:r>
            <a:r>
              <a:rPr sz="1850" spc="40" dirty="0">
                <a:latin typeface="+mn-lt"/>
                <a:cs typeface="Arial MT"/>
              </a:rPr>
              <a:t> </a:t>
            </a:r>
            <a:r>
              <a:rPr sz="1850" spc="-170" dirty="0">
                <a:latin typeface="+mn-lt"/>
                <a:cs typeface="Arial MT"/>
              </a:rPr>
              <a:t>also</a:t>
            </a:r>
            <a:r>
              <a:rPr sz="1850" spc="-40" dirty="0">
                <a:latin typeface="+mn-lt"/>
                <a:cs typeface="Arial MT"/>
              </a:rPr>
              <a:t> </a:t>
            </a:r>
            <a:r>
              <a:rPr sz="1850" spc="-175" dirty="0">
                <a:latin typeface="+mn-lt"/>
                <a:cs typeface="Arial MT"/>
              </a:rPr>
              <a:t>shows</a:t>
            </a:r>
            <a:r>
              <a:rPr sz="1850" spc="-20" dirty="0">
                <a:latin typeface="+mn-lt"/>
                <a:cs typeface="Arial MT"/>
              </a:rPr>
              <a:t> </a:t>
            </a:r>
            <a:r>
              <a:rPr sz="1850" spc="-100" dirty="0">
                <a:latin typeface="+mn-lt"/>
                <a:cs typeface="Arial MT"/>
              </a:rPr>
              <a:t>a </a:t>
            </a:r>
            <a:r>
              <a:rPr sz="1850" spc="-125" dirty="0">
                <a:latin typeface="+mn-lt"/>
                <a:cs typeface="Arial MT"/>
              </a:rPr>
              <a:t>strong</a:t>
            </a:r>
            <a:r>
              <a:rPr sz="1850" spc="-55" dirty="0">
                <a:latin typeface="+mn-lt"/>
                <a:cs typeface="Arial MT"/>
              </a:rPr>
              <a:t> </a:t>
            </a:r>
            <a:r>
              <a:rPr sz="1850" spc="-125" dirty="0">
                <a:latin typeface="+mn-lt"/>
                <a:cs typeface="Arial MT"/>
              </a:rPr>
              <a:t>positive</a:t>
            </a:r>
            <a:r>
              <a:rPr sz="1850" spc="5" dirty="0">
                <a:latin typeface="+mn-lt"/>
                <a:cs typeface="Arial MT"/>
              </a:rPr>
              <a:t> </a:t>
            </a:r>
            <a:r>
              <a:rPr sz="1850" spc="-110" dirty="0">
                <a:latin typeface="+mn-lt"/>
                <a:cs typeface="Arial MT"/>
              </a:rPr>
              <a:t>correlation</a:t>
            </a:r>
            <a:r>
              <a:rPr sz="1850" spc="130" dirty="0">
                <a:latin typeface="+mn-lt"/>
                <a:cs typeface="Arial MT"/>
              </a:rPr>
              <a:t> </a:t>
            </a:r>
            <a:r>
              <a:rPr sz="1850" spc="-20" dirty="0">
                <a:latin typeface="+mn-lt"/>
                <a:cs typeface="Arial MT"/>
              </a:rPr>
              <a:t>with </a:t>
            </a:r>
            <a:r>
              <a:rPr sz="1850" spc="-50" dirty="0">
                <a:latin typeface="+mn-lt"/>
                <a:cs typeface="Arial MT"/>
              </a:rPr>
              <a:t>graduating.</a:t>
            </a:r>
            <a:endParaRPr sz="1850" dirty="0">
              <a:latin typeface="+mn-lt"/>
              <a:cs typeface="Arial MT"/>
            </a:endParaRPr>
          </a:p>
        </p:txBody>
      </p:sp>
      <p:sp>
        <p:nvSpPr>
          <p:cNvPr id="63" name="object 63"/>
          <p:cNvSpPr txBox="1"/>
          <p:nvPr/>
        </p:nvSpPr>
        <p:spPr>
          <a:xfrm>
            <a:off x="13123405" y="6857647"/>
            <a:ext cx="3458845" cy="1230630"/>
          </a:xfrm>
          <a:prstGeom prst="rect">
            <a:avLst/>
          </a:prstGeom>
        </p:spPr>
        <p:txBody>
          <a:bodyPr vert="horz" wrap="square" lIns="0" tIns="12700" rIns="0" bIns="0" rtlCol="0">
            <a:spAutoFit/>
          </a:bodyPr>
          <a:lstStyle/>
          <a:p>
            <a:pPr marL="12700">
              <a:lnSpc>
                <a:spcPct val="100000"/>
              </a:lnSpc>
              <a:spcBef>
                <a:spcPts val="100"/>
              </a:spcBef>
            </a:pPr>
            <a:r>
              <a:rPr sz="2150" b="1" dirty="0">
                <a:latin typeface="+mn-lt"/>
                <a:cs typeface="Arial MT"/>
              </a:rPr>
              <a:t>Demographic</a:t>
            </a:r>
            <a:r>
              <a:rPr sz="2150" b="1" spc="265" dirty="0">
                <a:latin typeface="+mn-lt"/>
                <a:cs typeface="Arial MT"/>
              </a:rPr>
              <a:t> </a:t>
            </a:r>
            <a:r>
              <a:rPr sz="2150" b="1" spc="-10" dirty="0">
                <a:latin typeface="+mn-lt"/>
                <a:cs typeface="Arial MT"/>
              </a:rPr>
              <a:t>Signal</a:t>
            </a:r>
            <a:endParaRPr lang="en-US" sz="2150" b="1" dirty="0">
              <a:latin typeface="+mn-lt"/>
              <a:cs typeface="Arial MT"/>
            </a:endParaRPr>
          </a:p>
          <a:p>
            <a:pPr marL="29845" marR="5080" indent="-6350">
              <a:lnSpc>
                <a:spcPct val="93400"/>
              </a:lnSpc>
              <a:spcBef>
                <a:spcPts val="1350"/>
              </a:spcBef>
            </a:pPr>
            <a:r>
              <a:rPr lang="en-US" sz="1650" spc="-90" dirty="0">
                <a:latin typeface="+mn-lt"/>
                <a:cs typeface="Arial MT"/>
              </a:rPr>
              <a:t>"Age</a:t>
            </a:r>
            <a:r>
              <a:rPr lang="en-US" sz="1650" spc="-30" dirty="0">
                <a:latin typeface="+mn-lt"/>
                <a:cs typeface="Arial MT"/>
              </a:rPr>
              <a:t> </a:t>
            </a:r>
            <a:r>
              <a:rPr lang="en-US" sz="1650" dirty="0">
                <a:latin typeface="+mn-lt"/>
                <a:cs typeface="Arial MT"/>
              </a:rPr>
              <a:t>at</a:t>
            </a:r>
            <a:r>
              <a:rPr lang="en-US" sz="1650" spc="-114" dirty="0">
                <a:latin typeface="+mn-lt"/>
                <a:cs typeface="Arial MT"/>
              </a:rPr>
              <a:t> </a:t>
            </a:r>
            <a:r>
              <a:rPr lang="en-US" sz="1650" spc="-25" dirty="0">
                <a:latin typeface="+mn-lt"/>
                <a:cs typeface="Arial MT"/>
              </a:rPr>
              <a:t>enrollment" </a:t>
            </a:r>
            <a:r>
              <a:rPr lang="en-US" sz="1650" dirty="0">
                <a:latin typeface="+mn-lt"/>
                <a:cs typeface="Arial MT"/>
              </a:rPr>
              <a:t>is</a:t>
            </a:r>
            <a:r>
              <a:rPr lang="en-US" sz="1650" spc="-20" dirty="0">
                <a:latin typeface="+mn-lt"/>
                <a:cs typeface="Arial MT"/>
              </a:rPr>
              <a:t> </a:t>
            </a:r>
            <a:r>
              <a:rPr lang="en-US" sz="1650" spc="-120" dirty="0">
                <a:latin typeface="+mn-lt"/>
                <a:cs typeface="Arial MT"/>
              </a:rPr>
              <a:t>a</a:t>
            </a:r>
            <a:r>
              <a:rPr lang="en-US" sz="1650" spc="-10" dirty="0">
                <a:latin typeface="+mn-lt"/>
                <a:cs typeface="Arial MT"/>
              </a:rPr>
              <a:t> </a:t>
            </a:r>
            <a:r>
              <a:rPr lang="en-US" sz="1650" spc="-20" dirty="0">
                <a:latin typeface="+mn-lt"/>
                <a:cs typeface="Arial MT"/>
              </a:rPr>
              <a:t>notable</a:t>
            </a:r>
            <a:r>
              <a:rPr lang="en-US" sz="1650" spc="10" dirty="0">
                <a:latin typeface="+mn-lt"/>
                <a:cs typeface="Arial MT"/>
              </a:rPr>
              <a:t> </a:t>
            </a:r>
            <a:r>
              <a:rPr lang="en-US" sz="1650" spc="-10" dirty="0">
                <a:latin typeface="+mn-lt"/>
                <a:cs typeface="Arial MT"/>
              </a:rPr>
              <a:t>factor, </a:t>
            </a:r>
            <a:r>
              <a:rPr lang="en-US" sz="1650" dirty="0">
                <a:latin typeface="+mn-lt"/>
                <a:cs typeface="Arial MT"/>
              </a:rPr>
              <a:t>with</a:t>
            </a:r>
            <a:r>
              <a:rPr lang="en-US" sz="1650" spc="-120" dirty="0">
                <a:latin typeface="+mn-lt"/>
                <a:cs typeface="Arial MT"/>
              </a:rPr>
              <a:t> </a:t>
            </a:r>
            <a:r>
              <a:rPr lang="en-US" sz="1650" spc="-10" dirty="0">
                <a:latin typeface="+mn-lt"/>
                <a:cs typeface="Arial MT"/>
              </a:rPr>
              <a:t>older</a:t>
            </a:r>
            <a:r>
              <a:rPr lang="en-US" sz="1650" spc="-70" dirty="0">
                <a:latin typeface="+mn-lt"/>
                <a:cs typeface="Arial MT"/>
              </a:rPr>
              <a:t> </a:t>
            </a:r>
            <a:r>
              <a:rPr lang="en-US" sz="1650" dirty="0">
                <a:latin typeface="+mn-lt"/>
                <a:cs typeface="Arial MT"/>
              </a:rPr>
              <a:t>students</a:t>
            </a:r>
            <a:r>
              <a:rPr lang="en-US" sz="1650" spc="-75" dirty="0">
                <a:latin typeface="+mn-lt"/>
                <a:cs typeface="Arial MT"/>
              </a:rPr>
              <a:t> </a:t>
            </a:r>
            <a:r>
              <a:rPr lang="en-US" sz="1650" spc="-25" dirty="0">
                <a:latin typeface="+mn-lt"/>
                <a:cs typeface="Arial MT"/>
              </a:rPr>
              <a:t>showing</a:t>
            </a:r>
            <a:r>
              <a:rPr lang="en-US" sz="1650" spc="-35" dirty="0">
                <a:latin typeface="+mn-lt"/>
                <a:cs typeface="Arial MT"/>
              </a:rPr>
              <a:t> </a:t>
            </a:r>
            <a:r>
              <a:rPr lang="en-US" sz="1650" spc="-120" dirty="0">
                <a:solidFill>
                  <a:srgbClr val="1C1C1C"/>
                </a:solidFill>
                <a:latin typeface="+mn-lt"/>
                <a:cs typeface="Arial MT"/>
              </a:rPr>
              <a:t>a</a:t>
            </a:r>
            <a:r>
              <a:rPr lang="en-US" sz="1650" spc="-10" dirty="0">
                <a:solidFill>
                  <a:srgbClr val="1C1C1C"/>
                </a:solidFill>
                <a:latin typeface="+mn-lt"/>
                <a:cs typeface="Arial MT"/>
              </a:rPr>
              <a:t> </a:t>
            </a:r>
            <a:r>
              <a:rPr lang="en-US" sz="1650" spc="-10" dirty="0">
                <a:latin typeface="+mn-lt"/>
                <a:cs typeface="Arial MT"/>
              </a:rPr>
              <a:t>higher tendency</a:t>
            </a:r>
            <a:r>
              <a:rPr lang="en-US" sz="1650" dirty="0">
                <a:latin typeface="+mn-lt"/>
                <a:cs typeface="Arial MT"/>
              </a:rPr>
              <a:t> to</a:t>
            </a:r>
            <a:r>
              <a:rPr lang="en-US" sz="1650" spc="-114" dirty="0">
                <a:latin typeface="+mn-lt"/>
                <a:cs typeface="Arial MT"/>
              </a:rPr>
              <a:t> </a:t>
            </a:r>
            <a:r>
              <a:rPr lang="en-US" sz="1650" dirty="0">
                <a:latin typeface="+mn-lt"/>
                <a:cs typeface="Arial MT"/>
              </a:rPr>
              <a:t>drop</a:t>
            </a:r>
            <a:r>
              <a:rPr lang="en-US" sz="1650" spc="-100" dirty="0">
                <a:latin typeface="+mn-lt"/>
                <a:cs typeface="Arial MT"/>
              </a:rPr>
              <a:t> </a:t>
            </a:r>
            <a:r>
              <a:rPr lang="en-US" sz="1650" spc="-20" dirty="0">
                <a:latin typeface="+mn-lt"/>
                <a:cs typeface="Arial MT"/>
              </a:rPr>
              <a:t>out.</a:t>
            </a:r>
            <a:endParaRPr lang="en-US" sz="1650" dirty="0">
              <a:latin typeface="+mn-lt"/>
              <a:cs typeface="Arial MT"/>
            </a:endParaRPr>
          </a:p>
        </p:txBody>
      </p:sp>
      <p:pic>
        <p:nvPicPr>
          <p:cNvPr id="66" name="Picture 65">
            <a:extLst>
              <a:ext uri="{FF2B5EF4-FFF2-40B4-BE49-F238E27FC236}">
                <a16:creationId xmlns:a16="http://schemas.microsoft.com/office/drawing/2014/main" id="{80D4CF09-C96B-FAA9-F988-63B7881E9D15}"/>
              </a:ext>
            </a:extLst>
          </p:cNvPr>
          <p:cNvPicPr>
            <a:picLocks noChangeAspect="1"/>
          </p:cNvPicPr>
          <p:nvPr/>
        </p:nvPicPr>
        <p:blipFill>
          <a:blip r:embed="rId2"/>
          <a:stretch>
            <a:fillRect/>
          </a:stretch>
        </p:blipFill>
        <p:spPr>
          <a:xfrm>
            <a:off x="2254354" y="2408977"/>
            <a:ext cx="9736883" cy="64694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2EC"/>
        </a:solidFill>
        <a:effectLst/>
      </p:bgPr>
    </p:bg>
    <p:spTree>
      <p:nvGrpSpPr>
        <p:cNvPr id="1" name="">
          <a:extLst>
            <a:ext uri="{FF2B5EF4-FFF2-40B4-BE49-F238E27FC236}">
              <a16:creationId xmlns:a16="http://schemas.microsoft.com/office/drawing/2014/main" id="{C1007B81-DE42-8D9E-5436-E4123E619C38}"/>
            </a:ext>
          </a:extLst>
        </p:cNvPr>
        <p:cNvGrpSpPr/>
        <p:nvPr/>
      </p:nvGrpSpPr>
      <p:grpSpPr>
        <a:xfrm>
          <a:off x="0" y="0"/>
          <a:ext cx="0" cy="0"/>
          <a:chOff x="0" y="0"/>
          <a:chExt cx="0" cy="0"/>
        </a:xfrm>
      </p:grpSpPr>
      <p:sp>
        <p:nvSpPr>
          <p:cNvPr id="49" name="object 49">
            <a:extLst>
              <a:ext uri="{FF2B5EF4-FFF2-40B4-BE49-F238E27FC236}">
                <a16:creationId xmlns:a16="http://schemas.microsoft.com/office/drawing/2014/main" id="{3754C13A-CC54-5C96-AFA3-664C4237545E}"/>
              </a:ext>
            </a:extLst>
          </p:cNvPr>
          <p:cNvSpPr txBox="1">
            <a:spLocks noGrp="1"/>
          </p:cNvSpPr>
          <p:nvPr>
            <p:ph type="title"/>
          </p:nvPr>
        </p:nvSpPr>
        <p:spPr>
          <a:xfrm>
            <a:off x="755757" y="675922"/>
            <a:ext cx="15638144" cy="639445"/>
          </a:xfrm>
          <a:prstGeom prst="rect">
            <a:avLst/>
          </a:prstGeom>
        </p:spPr>
        <p:txBody>
          <a:bodyPr vert="horz" wrap="square" lIns="0" tIns="15875" rIns="0" bIns="0" rtlCol="0">
            <a:spAutoFit/>
          </a:bodyPr>
          <a:lstStyle/>
          <a:p>
            <a:pPr marL="12700">
              <a:lnSpc>
                <a:spcPct val="100000"/>
              </a:lnSpc>
              <a:spcBef>
                <a:spcPts val="125"/>
              </a:spcBef>
            </a:pPr>
            <a:r>
              <a:rPr lang="en-PH" sz="4000" b="1" dirty="0">
                <a:solidFill>
                  <a:srgbClr val="1C1C1C"/>
                </a:solidFill>
                <a:latin typeface="+mj-lt"/>
                <a:cs typeface="Arial MT"/>
              </a:rPr>
              <a:t>Feature Engineering</a:t>
            </a:r>
            <a:endParaRPr sz="4000" b="1" dirty="0">
              <a:latin typeface="+mj-lt"/>
              <a:cs typeface="Arial MT"/>
            </a:endParaRPr>
          </a:p>
        </p:txBody>
      </p:sp>
      <p:sp>
        <p:nvSpPr>
          <p:cNvPr id="50" name="object 50">
            <a:extLst>
              <a:ext uri="{FF2B5EF4-FFF2-40B4-BE49-F238E27FC236}">
                <a16:creationId xmlns:a16="http://schemas.microsoft.com/office/drawing/2014/main" id="{B9161FC2-F96B-5535-56C5-C5C289C49602}"/>
              </a:ext>
            </a:extLst>
          </p:cNvPr>
          <p:cNvSpPr txBox="1"/>
          <p:nvPr/>
        </p:nvSpPr>
        <p:spPr>
          <a:xfrm>
            <a:off x="755757" y="1811039"/>
            <a:ext cx="6378014" cy="5176417"/>
          </a:xfrm>
          <a:prstGeom prst="rect">
            <a:avLst/>
          </a:prstGeom>
        </p:spPr>
        <p:txBody>
          <a:bodyPr vert="horz" wrap="square" lIns="0" tIns="8255" rIns="0" bIns="0" rtlCol="0">
            <a:spAutoFit/>
          </a:bodyPr>
          <a:lstStyle/>
          <a:p>
            <a:pPr marL="12700" marR="5080" indent="8890">
              <a:lnSpc>
                <a:spcPts val="2800"/>
              </a:lnSpc>
              <a:spcBef>
                <a:spcPts val="65"/>
              </a:spcBef>
            </a:pPr>
            <a:r>
              <a:rPr lang="en-PH" sz="2600" spc="-40" dirty="0">
                <a:latin typeface="+mn-lt"/>
                <a:cs typeface="Arial MT"/>
              </a:rPr>
              <a:t>With the use of Recursive Feature Elimination (RFE) , we have selected the top 10 most impactful features namely:</a:t>
            </a:r>
          </a:p>
          <a:p>
            <a:pPr marL="12700" marR="5080" indent="8890">
              <a:lnSpc>
                <a:spcPts val="2800"/>
              </a:lnSpc>
              <a:spcBef>
                <a:spcPts val="65"/>
              </a:spcBef>
            </a:pPr>
            <a:endParaRPr lang="en-PH" sz="2600" spc="-40" dirty="0">
              <a:latin typeface="+mn-lt"/>
              <a:cs typeface="Arial MT"/>
            </a:endParaRPr>
          </a:p>
          <a:p>
            <a:pPr marL="449263" marR="5080" lvl="1" indent="7938">
              <a:lnSpc>
                <a:spcPts val="2800"/>
              </a:lnSpc>
              <a:spcBef>
                <a:spcPts val="65"/>
              </a:spcBef>
            </a:pPr>
            <a:r>
              <a:rPr lang="en-PH" sz="2600" dirty="0">
                <a:latin typeface="+mn-lt"/>
                <a:cs typeface="Arial MT"/>
              </a:rPr>
              <a:t>1. Course</a:t>
            </a:r>
          </a:p>
          <a:p>
            <a:pPr marL="449263" marR="5080" lvl="1" indent="7938">
              <a:lnSpc>
                <a:spcPts val="2800"/>
              </a:lnSpc>
              <a:spcBef>
                <a:spcPts val="65"/>
              </a:spcBef>
            </a:pPr>
            <a:r>
              <a:rPr lang="en-PH" sz="2600" dirty="0">
                <a:latin typeface="+mn-lt"/>
                <a:cs typeface="Arial MT"/>
              </a:rPr>
              <a:t>2. Previous qualification (grade)</a:t>
            </a:r>
          </a:p>
          <a:p>
            <a:pPr marL="449263" marR="5080" lvl="1" indent="7938">
              <a:lnSpc>
                <a:spcPts val="2800"/>
              </a:lnSpc>
              <a:spcBef>
                <a:spcPts val="65"/>
              </a:spcBef>
            </a:pPr>
            <a:r>
              <a:rPr lang="en-PH" sz="2600" dirty="0">
                <a:latin typeface="+mn-lt"/>
                <a:cs typeface="Arial MT"/>
              </a:rPr>
              <a:t>3. Admission grade</a:t>
            </a:r>
          </a:p>
          <a:p>
            <a:pPr marL="449263" marR="5080" lvl="1" indent="7938">
              <a:lnSpc>
                <a:spcPts val="2800"/>
              </a:lnSpc>
              <a:spcBef>
                <a:spcPts val="65"/>
              </a:spcBef>
            </a:pPr>
            <a:r>
              <a:rPr lang="en-PH" sz="2600" dirty="0">
                <a:latin typeface="+mn-lt"/>
                <a:cs typeface="Arial MT"/>
              </a:rPr>
              <a:t>4. Tuition fees up to date</a:t>
            </a:r>
          </a:p>
          <a:p>
            <a:pPr marL="449263" marR="5080" lvl="1" indent="7938">
              <a:lnSpc>
                <a:spcPts val="2800"/>
              </a:lnSpc>
              <a:spcBef>
                <a:spcPts val="65"/>
              </a:spcBef>
            </a:pPr>
            <a:r>
              <a:rPr lang="en-PH" sz="2600" dirty="0">
                <a:latin typeface="+mn-lt"/>
                <a:cs typeface="Arial MT"/>
              </a:rPr>
              <a:t>5. Age at enrollment</a:t>
            </a:r>
          </a:p>
          <a:p>
            <a:pPr marL="449263" marR="5080" lvl="1" indent="7938">
              <a:lnSpc>
                <a:spcPts val="2800"/>
              </a:lnSpc>
              <a:spcBef>
                <a:spcPts val="65"/>
              </a:spcBef>
            </a:pPr>
            <a:r>
              <a:rPr lang="en-PH" sz="2600" dirty="0">
                <a:latin typeface="+mn-lt"/>
                <a:cs typeface="Arial MT"/>
              </a:rPr>
              <a:t>6. Curricular units 1st </a:t>
            </a:r>
            <a:r>
              <a:rPr lang="en-PH" sz="2600" dirty="0" err="1">
                <a:latin typeface="+mn-lt"/>
                <a:cs typeface="Arial MT"/>
              </a:rPr>
              <a:t>sem</a:t>
            </a:r>
            <a:r>
              <a:rPr lang="en-PH" sz="2600" dirty="0">
                <a:latin typeface="+mn-lt"/>
                <a:cs typeface="Arial MT"/>
              </a:rPr>
              <a:t> (approved)</a:t>
            </a:r>
          </a:p>
          <a:p>
            <a:pPr marL="449263" marR="5080" lvl="1" indent="7938">
              <a:lnSpc>
                <a:spcPts val="2800"/>
              </a:lnSpc>
              <a:spcBef>
                <a:spcPts val="65"/>
              </a:spcBef>
            </a:pPr>
            <a:r>
              <a:rPr lang="en-PH" sz="2600" dirty="0">
                <a:latin typeface="+mn-lt"/>
                <a:cs typeface="Arial MT"/>
              </a:rPr>
              <a:t>7. Curricular units 1st </a:t>
            </a:r>
            <a:r>
              <a:rPr lang="en-PH" sz="2600" dirty="0" err="1">
                <a:latin typeface="+mn-lt"/>
                <a:cs typeface="Arial MT"/>
              </a:rPr>
              <a:t>sem</a:t>
            </a:r>
            <a:r>
              <a:rPr lang="en-PH" sz="2600" dirty="0">
                <a:latin typeface="+mn-lt"/>
                <a:cs typeface="Arial MT"/>
              </a:rPr>
              <a:t> (grade)</a:t>
            </a:r>
          </a:p>
          <a:p>
            <a:pPr marL="449263" marR="5080" lvl="1" indent="7938">
              <a:lnSpc>
                <a:spcPts val="2800"/>
              </a:lnSpc>
              <a:spcBef>
                <a:spcPts val="65"/>
              </a:spcBef>
            </a:pPr>
            <a:r>
              <a:rPr lang="en-PH" sz="2600" dirty="0">
                <a:latin typeface="+mn-lt"/>
                <a:cs typeface="Arial MT"/>
              </a:rPr>
              <a:t>8. Curricular units 2nd </a:t>
            </a:r>
            <a:r>
              <a:rPr lang="en-PH" sz="2600" dirty="0" err="1">
                <a:latin typeface="+mn-lt"/>
                <a:cs typeface="Arial MT"/>
              </a:rPr>
              <a:t>sem</a:t>
            </a:r>
            <a:r>
              <a:rPr lang="en-PH" sz="2600" dirty="0">
                <a:latin typeface="+mn-lt"/>
                <a:cs typeface="Arial MT"/>
              </a:rPr>
              <a:t> (evaluations)</a:t>
            </a:r>
          </a:p>
          <a:p>
            <a:pPr marL="449263" marR="5080" lvl="1" indent="7938">
              <a:lnSpc>
                <a:spcPts val="2800"/>
              </a:lnSpc>
              <a:spcBef>
                <a:spcPts val="65"/>
              </a:spcBef>
            </a:pPr>
            <a:r>
              <a:rPr lang="en-PH" sz="2600" dirty="0">
                <a:latin typeface="+mn-lt"/>
                <a:cs typeface="Arial MT"/>
              </a:rPr>
              <a:t>9. Curricular units 2nd </a:t>
            </a:r>
            <a:r>
              <a:rPr lang="en-PH" sz="2600" dirty="0" err="1">
                <a:latin typeface="+mn-lt"/>
                <a:cs typeface="Arial MT"/>
              </a:rPr>
              <a:t>sem</a:t>
            </a:r>
            <a:r>
              <a:rPr lang="en-PH" sz="2600" dirty="0">
                <a:latin typeface="+mn-lt"/>
                <a:cs typeface="Arial MT"/>
              </a:rPr>
              <a:t> (approved)</a:t>
            </a:r>
          </a:p>
          <a:p>
            <a:pPr marL="449263" marR="5080" lvl="1" indent="7938">
              <a:lnSpc>
                <a:spcPts val="2800"/>
              </a:lnSpc>
              <a:spcBef>
                <a:spcPts val="65"/>
              </a:spcBef>
            </a:pPr>
            <a:r>
              <a:rPr lang="en-PH" sz="2600" dirty="0">
                <a:latin typeface="+mn-lt"/>
                <a:cs typeface="Arial MT"/>
              </a:rPr>
              <a:t>10. Curricular units 2nd </a:t>
            </a:r>
            <a:r>
              <a:rPr lang="en-PH" sz="2600" dirty="0" err="1">
                <a:latin typeface="+mn-lt"/>
                <a:cs typeface="Arial MT"/>
              </a:rPr>
              <a:t>sem</a:t>
            </a:r>
            <a:r>
              <a:rPr lang="en-PH" sz="2600" dirty="0">
                <a:latin typeface="+mn-lt"/>
                <a:cs typeface="Arial MT"/>
              </a:rPr>
              <a:t> (grade)</a:t>
            </a:r>
            <a:endParaRPr sz="2600" dirty="0">
              <a:latin typeface="+mn-lt"/>
              <a:cs typeface="Arial MT"/>
            </a:endParaRPr>
          </a:p>
        </p:txBody>
      </p:sp>
      <p:pic>
        <p:nvPicPr>
          <p:cNvPr id="3" name="Picture 2">
            <a:extLst>
              <a:ext uri="{FF2B5EF4-FFF2-40B4-BE49-F238E27FC236}">
                <a16:creationId xmlns:a16="http://schemas.microsoft.com/office/drawing/2014/main" id="{05C1D2AD-2174-BE05-A1C7-F91AA7401A42}"/>
              </a:ext>
            </a:extLst>
          </p:cNvPr>
          <p:cNvPicPr>
            <a:picLocks noChangeAspect="1"/>
          </p:cNvPicPr>
          <p:nvPr/>
        </p:nvPicPr>
        <p:blipFill>
          <a:blip r:embed="rId2"/>
          <a:stretch>
            <a:fillRect/>
          </a:stretch>
        </p:blipFill>
        <p:spPr>
          <a:xfrm>
            <a:off x="9042400" y="3937747"/>
            <a:ext cx="6378015" cy="5118160"/>
          </a:xfrm>
          <a:prstGeom prst="rect">
            <a:avLst/>
          </a:prstGeom>
        </p:spPr>
      </p:pic>
      <p:sp>
        <p:nvSpPr>
          <p:cNvPr id="4" name="object 50">
            <a:extLst>
              <a:ext uri="{FF2B5EF4-FFF2-40B4-BE49-F238E27FC236}">
                <a16:creationId xmlns:a16="http://schemas.microsoft.com/office/drawing/2014/main" id="{23F074AD-353D-B378-58DA-0550BA7E7508}"/>
              </a:ext>
            </a:extLst>
          </p:cNvPr>
          <p:cNvSpPr txBox="1"/>
          <p:nvPr/>
        </p:nvSpPr>
        <p:spPr>
          <a:xfrm>
            <a:off x="7979230" y="1777701"/>
            <a:ext cx="8740213" cy="1803699"/>
          </a:xfrm>
          <a:prstGeom prst="rect">
            <a:avLst/>
          </a:prstGeom>
        </p:spPr>
        <p:txBody>
          <a:bodyPr vert="horz" wrap="square" lIns="0" tIns="8255" rIns="0" bIns="0" rtlCol="0">
            <a:spAutoFit/>
          </a:bodyPr>
          <a:lstStyle/>
          <a:p>
            <a:pPr marL="12700" marR="5080" indent="8890">
              <a:lnSpc>
                <a:spcPts val="2800"/>
              </a:lnSpc>
              <a:spcBef>
                <a:spcPts val="65"/>
              </a:spcBef>
            </a:pPr>
            <a:r>
              <a:rPr lang="en-PH" sz="2600" spc="-40" dirty="0">
                <a:latin typeface="+mn-lt"/>
                <a:cs typeface="Arial MT"/>
              </a:rPr>
              <a:t>To further reduced the number of features we decided to implement Principal Component Analysis (PCA). We have chosen to reduce the features to 8 PCA components because it is the least number of components that will provide more than 95% cumulative variance.</a:t>
            </a:r>
            <a:endParaRPr sz="2600" dirty="0">
              <a:latin typeface="+mn-lt"/>
              <a:cs typeface="Arial MT"/>
            </a:endParaRPr>
          </a:p>
        </p:txBody>
      </p:sp>
    </p:spTree>
    <p:extLst>
      <p:ext uri="{BB962C8B-B14F-4D97-AF65-F5344CB8AC3E}">
        <p14:creationId xmlns:p14="http://schemas.microsoft.com/office/powerpoint/2010/main" val="4046348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1F2EC"/>
        </a:solidFill>
        <a:effectLst/>
      </p:bgPr>
    </p:bg>
    <p:spTree>
      <p:nvGrpSpPr>
        <p:cNvPr id="1" name=""/>
        <p:cNvGrpSpPr/>
        <p:nvPr/>
      </p:nvGrpSpPr>
      <p:grpSpPr>
        <a:xfrm>
          <a:off x="0" y="0"/>
          <a:ext cx="0" cy="0"/>
          <a:chOff x="0" y="0"/>
          <a:chExt cx="0" cy="0"/>
        </a:xfrm>
      </p:grpSpPr>
      <p:sp>
        <p:nvSpPr>
          <p:cNvPr id="24" name="object 24"/>
          <p:cNvSpPr txBox="1">
            <a:spLocks noGrp="1"/>
          </p:cNvSpPr>
          <p:nvPr>
            <p:ph type="title"/>
          </p:nvPr>
        </p:nvSpPr>
        <p:spPr>
          <a:xfrm>
            <a:off x="1074814" y="136877"/>
            <a:ext cx="15292069" cy="692497"/>
          </a:xfrm>
          <a:prstGeom prst="rect">
            <a:avLst/>
          </a:prstGeom>
        </p:spPr>
        <p:txBody>
          <a:bodyPr vert="horz" wrap="square" lIns="0" tIns="15240" rIns="0" bIns="0" rtlCol="0">
            <a:spAutoFit/>
          </a:bodyPr>
          <a:lstStyle/>
          <a:p>
            <a:pPr marL="12700">
              <a:lnSpc>
                <a:spcPct val="100000"/>
              </a:lnSpc>
              <a:spcBef>
                <a:spcPts val="120"/>
              </a:spcBef>
            </a:pPr>
            <a:r>
              <a:rPr sz="4400" dirty="0">
                <a:solidFill>
                  <a:srgbClr val="1C1C1C"/>
                </a:solidFill>
                <a:latin typeface="+mj-lt"/>
                <a:cs typeface="Times New Roman"/>
              </a:rPr>
              <a:t>A </a:t>
            </a:r>
            <a:r>
              <a:rPr sz="4400" dirty="0">
                <a:latin typeface="+mj-lt"/>
                <a:cs typeface="Times New Roman"/>
              </a:rPr>
              <a:t>Tournament of </a:t>
            </a:r>
            <a:r>
              <a:rPr sz="4400" dirty="0">
                <a:solidFill>
                  <a:srgbClr val="0E0E0E"/>
                </a:solidFill>
                <a:latin typeface="+mj-lt"/>
                <a:cs typeface="Times New Roman"/>
              </a:rPr>
              <a:t>Champions: </a:t>
            </a:r>
            <a:r>
              <a:rPr sz="4400" dirty="0">
                <a:latin typeface="+mj-lt"/>
                <a:cs typeface="Times New Roman"/>
              </a:rPr>
              <a:t>Selecting the Best Predictive </a:t>
            </a:r>
            <a:r>
              <a:rPr sz="4400" dirty="0">
                <a:solidFill>
                  <a:srgbClr val="0E0E0E"/>
                </a:solidFill>
                <a:latin typeface="+mj-lt"/>
                <a:cs typeface="Times New Roman"/>
              </a:rPr>
              <a:t>Model</a:t>
            </a:r>
            <a:endParaRPr sz="4400" dirty="0">
              <a:latin typeface="+mj-lt"/>
              <a:cs typeface="Times New Roman"/>
            </a:endParaRPr>
          </a:p>
        </p:txBody>
      </p:sp>
      <p:sp>
        <p:nvSpPr>
          <p:cNvPr id="25" name="object 25"/>
          <p:cNvSpPr txBox="1"/>
          <p:nvPr/>
        </p:nvSpPr>
        <p:spPr>
          <a:xfrm>
            <a:off x="907913" y="896408"/>
            <a:ext cx="15458970" cy="987899"/>
          </a:xfrm>
          <a:prstGeom prst="rect">
            <a:avLst/>
          </a:prstGeom>
        </p:spPr>
        <p:txBody>
          <a:bodyPr vert="horz" wrap="square" lIns="0" tIns="59690" rIns="0" bIns="0" rtlCol="0">
            <a:spAutoFit/>
          </a:bodyPr>
          <a:lstStyle/>
          <a:p>
            <a:pPr marL="12700" marR="5080" indent="7620">
              <a:lnSpc>
                <a:spcPts val="2400"/>
              </a:lnSpc>
              <a:spcBef>
                <a:spcPts val="470"/>
              </a:spcBef>
            </a:pPr>
            <a:r>
              <a:rPr lang="en-US" sz="2400" dirty="0">
                <a:latin typeface="+mn-lt"/>
                <a:cs typeface="Arial MT"/>
              </a:rPr>
              <a:t>Five distinct classification models were trained (with the best Hyper-Parameters) and evaluated using 5-fold cross-validation to ensure robust and generalizable performance. The models were compared on four key metrics critical for this classification task.</a:t>
            </a:r>
            <a:endParaRPr sz="2400" dirty="0">
              <a:latin typeface="+mn-lt"/>
              <a:cs typeface="Times New Roman"/>
            </a:endParaRPr>
          </a:p>
        </p:txBody>
      </p:sp>
      <p:sp>
        <p:nvSpPr>
          <p:cNvPr id="50" name="object 50"/>
          <p:cNvSpPr txBox="1"/>
          <p:nvPr/>
        </p:nvSpPr>
        <p:spPr>
          <a:xfrm>
            <a:off x="907913" y="8641126"/>
            <a:ext cx="15458970" cy="1132361"/>
          </a:xfrm>
          <a:prstGeom prst="rect">
            <a:avLst/>
          </a:prstGeom>
        </p:spPr>
        <p:txBody>
          <a:bodyPr vert="horz" wrap="square" lIns="0" tIns="11430" rIns="0" bIns="0" rtlCol="0">
            <a:spAutoFit/>
          </a:bodyPr>
          <a:lstStyle/>
          <a:p>
            <a:pPr marL="12700">
              <a:spcBef>
                <a:spcPts val="90"/>
              </a:spcBef>
            </a:pPr>
            <a:r>
              <a:rPr sz="2400" dirty="0">
                <a:latin typeface="+mn-lt"/>
                <a:cs typeface="Arial MT"/>
              </a:rPr>
              <a:t>The </a:t>
            </a:r>
            <a:r>
              <a:rPr lang="en-PH" sz="2400" b="1" dirty="0">
                <a:latin typeface="+mn-lt"/>
                <a:cs typeface="Arial MT"/>
              </a:rPr>
              <a:t>SVM</a:t>
            </a:r>
            <a:r>
              <a:rPr lang="en-PH" sz="2400" dirty="0">
                <a:latin typeface="+mn-lt"/>
                <a:cs typeface="Arial MT"/>
              </a:rPr>
              <a:t> </a:t>
            </a:r>
            <a:r>
              <a:rPr sz="2400" dirty="0">
                <a:latin typeface="+mn-lt"/>
                <a:cs typeface="Arial MT"/>
              </a:rPr>
              <a:t>model demonstrates consistently high performance across all key metrics, particularly showing a high</a:t>
            </a:r>
            <a:r>
              <a:rPr lang="en-PH" sz="2400" dirty="0">
                <a:latin typeface="+mn-lt"/>
                <a:cs typeface="Arial MT"/>
              </a:rPr>
              <a:t>est</a:t>
            </a:r>
            <a:r>
              <a:rPr sz="2400" dirty="0">
                <a:latin typeface="+mn-lt"/>
                <a:cs typeface="Arial MT"/>
              </a:rPr>
              <a:t> median</a:t>
            </a:r>
            <a:r>
              <a:rPr lang="en-PH" sz="2400" dirty="0">
                <a:latin typeface="+mn-lt"/>
                <a:cs typeface="Arial MT"/>
              </a:rPr>
              <a:t> </a:t>
            </a:r>
            <a:r>
              <a:rPr lang="en-US" sz="2400" dirty="0">
                <a:latin typeface="+mn-lt"/>
                <a:cs typeface="Arial MT"/>
              </a:rPr>
              <a:t>and tight interquartile range for Recall and F1-Score, indicating both strong predictive power and stability.</a:t>
            </a:r>
          </a:p>
          <a:p>
            <a:pPr marL="12700">
              <a:lnSpc>
                <a:spcPct val="100000"/>
              </a:lnSpc>
              <a:spcBef>
                <a:spcPts val="90"/>
              </a:spcBef>
            </a:pPr>
            <a:endParaRPr sz="2400" dirty="0">
              <a:latin typeface="+mn-lt"/>
              <a:cs typeface="Arial MT"/>
            </a:endParaRPr>
          </a:p>
        </p:txBody>
      </p:sp>
      <p:pic>
        <p:nvPicPr>
          <p:cNvPr id="54" name="Picture 53">
            <a:extLst>
              <a:ext uri="{FF2B5EF4-FFF2-40B4-BE49-F238E27FC236}">
                <a16:creationId xmlns:a16="http://schemas.microsoft.com/office/drawing/2014/main" id="{86D70453-4957-E527-14C0-7F50AB41C50F}"/>
              </a:ext>
            </a:extLst>
          </p:cNvPr>
          <p:cNvPicPr preferRelativeResize="0">
            <a:picLocks/>
          </p:cNvPicPr>
          <p:nvPr/>
        </p:nvPicPr>
        <p:blipFill>
          <a:blip r:embed="rId3"/>
          <a:stretch>
            <a:fillRect/>
          </a:stretch>
        </p:blipFill>
        <p:spPr>
          <a:xfrm>
            <a:off x="1826297" y="1907279"/>
            <a:ext cx="6480000" cy="3240000"/>
          </a:xfrm>
          <a:prstGeom prst="rect">
            <a:avLst/>
          </a:prstGeom>
        </p:spPr>
      </p:pic>
      <p:pic>
        <p:nvPicPr>
          <p:cNvPr id="56" name="Picture 55">
            <a:extLst>
              <a:ext uri="{FF2B5EF4-FFF2-40B4-BE49-F238E27FC236}">
                <a16:creationId xmlns:a16="http://schemas.microsoft.com/office/drawing/2014/main" id="{E73B8833-DBF4-73E8-EE9F-CD772B4E1997}"/>
              </a:ext>
            </a:extLst>
          </p:cNvPr>
          <p:cNvPicPr preferRelativeResize="0">
            <a:picLocks/>
          </p:cNvPicPr>
          <p:nvPr/>
        </p:nvPicPr>
        <p:blipFill>
          <a:blip r:embed="rId4"/>
          <a:stretch>
            <a:fillRect/>
          </a:stretch>
        </p:blipFill>
        <p:spPr>
          <a:xfrm>
            <a:off x="8737600" y="1907279"/>
            <a:ext cx="6480000" cy="3240000"/>
          </a:xfrm>
          <a:prstGeom prst="rect">
            <a:avLst/>
          </a:prstGeom>
        </p:spPr>
      </p:pic>
      <p:pic>
        <p:nvPicPr>
          <p:cNvPr id="58" name="Picture 57">
            <a:extLst>
              <a:ext uri="{FF2B5EF4-FFF2-40B4-BE49-F238E27FC236}">
                <a16:creationId xmlns:a16="http://schemas.microsoft.com/office/drawing/2014/main" id="{B9237079-6818-CEF1-4C9E-1D7E3F7B30D7}"/>
              </a:ext>
            </a:extLst>
          </p:cNvPr>
          <p:cNvPicPr preferRelativeResize="0">
            <a:picLocks/>
          </p:cNvPicPr>
          <p:nvPr/>
        </p:nvPicPr>
        <p:blipFill>
          <a:blip r:embed="rId5"/>
          <a:stretch>
            <a:fillRect/>
          </a:stretch>
        </p:blipFill>
        <p:spPr>
          <a:xfrm>
            <a:off x="8757024" y="5303231"/>
            <a:ext cx="6480000" cy="3240000"/>
          </a:xfrm>
          <a:prstGeom prst="rect">
            <a:avLst/>
          </a:prstGeom>
        </p:spPr>
      </p:pic>
      <p:pic>
        <p:nvPicPr>
          <p:cNvPr id="60" name="Picture 59">
            <a:extLst>
              <a:ext uri="{FF2B5EF4-FFF2-40B4-BE49-F238E27FC236}">
                <a16:creationId xmlns:a16="http://schemas.microsoft.com/office/drawing/2014/main" id="{05603925-CAAA-F059-F4AA-5C6D531ED137}"/>
              </a:ext>
            </a:extLst>
          </p:cNvPr>
          <p:cNvPicPr preferRelativeResize="0">
            <a:picLocks/>
          </p:cNvPicPr>
          <p:nvPr/>
        </p:nvPicPr>
        <p:blipFill>
          <a:blip r:embed="rId6"/>
          <a:stretch>
            <a:fillRect/>
          </a:stretch>
        </p:blipFill>
        <p:spPr>
          <a:xfrm>
            <a:off x="1826297" y="5303231"/>
            <a:ext cx="6480000" cy="324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1F2EC"/>
        </a:solidFill>
        <a:effectLst/>
      </p:bgPr>
    </p:bg>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14400" y="7150100"/>
            <a:ext cx="15646400" cy="1879600"/>
          </a:xfrm>
          <a:prstGeom prst="rect">
            <a:avLst/>
          </a:prstGeom>
        </p:spPr>
      </p:pic>
      <p:sp>
        <p:nvSpPr>
          <p:cNvPr id="3" name="object 3"/>
          <p:cNvSpPr txBox="1">
            <a:spLocks noGrp="1"/>
          </p:cNvSpPr>
          <p:nvPr>
            <p:ph type="title"/>
          </p:nvPr>
        </p:nvSpPr>
        <p:spPr>
          <a:xfrm>
            <a:off x="983975" y="914824"/>
            <a:ext cx="15093315" cy="755650"/>
          </a:xfrm>
          <a:prstGeom prst="rect">
            <a:avLst/>
          </a:prstGeom>
        </p:spPr>
        <p:txBody>
          <a:bodyPr vert="horz" wrap="square" lIns="0" tIns="11430" rIns="0" bIns="0" rtlCol="0">
            <a:spAutoFit/>
          </a:bodyPr>
          <a:lstStyle/>
          <a:p>
            <a:pPr marL="12700">
              <a:lnSpc>
                <a:spcPct val="100000"/>
              </a:lnSpc>
              <a:spcBef>
                <a:spcPts val="90"/>
              </a:spcBef>
            </a:pPr>
            <a:r>
              <a:rPr spc="-175" dirty="0">
                <a:solidFill>
                  <a:srgbClr val="1C1C1C"/>
                </a:solidFill>
                <a:latin typeface="+mj-lt"/>
                <a:cs typeface="Arial MT"/>
              </a:rPr>
              <a:t>The</a:t>
            </a:r>
            <a:r>
              <a:rPr spc="-305" dirty="0">
                <a:solidFill>
                  <a:srgbClr val="1C1C1C"/>
                </a:solidFill>
                <a:latin typeface="+mj-lt"/>
                <a:cs typeface="Arial MT"/>
              </a:rPr>
              <a:t> </a:t>
            </a:r>
            <a:r>
              <a:rPr spc="-175" dirty="0">
                <a:solidFill>
                  <a:srgbClr val="1A1A1A"/>
                </a:solidFill>
                <a:latin typeface="+mj-lt"/>
                <a:cs typeface="Arial MT"/>
              </a:rPr>
              <a:t>Chosen</a:t>
            </a:r>
            <a:r>
              <a:rPr spc="-200" dirty="0">
                <a:solidFill>
                  <a:srgbClr val="1A1A1A"/>
                </a:solidFill>
                <a:latin typeface="+mj-lt"/>
                <a:cs typeface="Arial MT"/>
              </a:rPr>
              <a:t> </a:t>
            </a:r>
            <a:r>
              <a:rPr spc="-30" dirty="0">
                <a:solidFill>
                  <a:srgbClr val="1C1C1C"/>
                </a:solidFill>
                <a:latin typeface="+mj-lt"/>
                <a:cs typeface="Arial MT"/>
              </a:rPr>
              <a:t>Solution:</a:t>
            </a:r>
            <a:r>
              <a:rPr spc="-305" dirty="0">
                <a:solidFill>
                  <a:srgbClr val="1C1C1C"/>
                </a:solidFill>
                <a:latin typeface="+mj-lt"/>
                <a:cs typeface="Arial MT"/>
              </a:rPr>
              <a:t> </a:t>
            </a:r>
            <a:r>
              <a:rPr spc="-420" dirty="0">
                <a:solidFill>
                  <a:srgbClr val="212121"/>
                </a:solidFill>
                <a:latin typeface="+mj-lt"/>
                <a:cs typeface="Arial MT"/>
              </a:rPr>
              <a:t>A</a:t>
            </a:r>
            <a:r>
              <a:rPr spc="-350" dirty="0">
                <a:solidFill>
                  <a:srgbClr val="212121"/>
                </a:solidFill>
                <a:latin typeface="+mj-lt"/>
                <a:cs typeface="Arial MT"/>
              </a:rPr>
              <a:t> </a:t>
            </a:r>
            <a:r>
              <a:rPr spc="-145" dirty="0">
                <a:solidFill>
                  <a:srgbClr val="1A1A1A"/>
                </a:solidFill>
                <a:latin typeface="+mj-lt"/>
                <a:cs typeface="Arial MT"/>
              </a:rPr>
              <a:t>Fine-</a:t>
            </a:r>
            <a:r>
              <a:rPr spc="-125" dirty="0">
                <a:solidFill>
                  <a:srgbClr val="1A1A1A"/>
                </a:solidFill>
                <a:latin typeface="+mj-lt"/>
                <a:cs typeface="Arial MT"/>
              </a:rPr>
              <a:t>Tuned</a:t>
            </a:r>
            <a:r>
              <a:rPr spc="-85" dirty="0">
                <a:solidFill>
                  <a:srgbClr val="1A1A1A"/>
                </a:solidFill>
                <a:latin typeface="+mj-lt"/>
                <a:cs typeface="Arial MT"/>
              </a:rPr>
              <a:t> </a:t>
            </a:r>
            <a:r>
              <a:rPr spc="-250" dirty="0">
                <a:solidFill>
                  <a:srgbClr val="1A1A1A"/>
                </a:solidFill>
                <a:latin typeface="+mj-lt"/>
                <a:cs typeface="Arial MT"/>
              </a:rPr>
              <a:t>Random</a:t>
            </a:r>
            <a:r>
              <a:rPr spc="-195" dirty="0">
                <a:solidFill>
                  <a:srgbClr val="1A1A1A"/>
                </a:solidFill>
                <a:latin typeface="+mj-lt"/>
                <a:cs typeface="Arial MT"/>
              </a:rPr>
              <a:t> </a:t>
            </a:r>
            <a:r>
              <a:rPr spc="-120" dirty="0">
                <a:solidFill>
                  <a:srgbClr val="1A1A1A"/>
                </a:solidFill>
                <a:latin typeface="+mj-lt"/>
                <a:cs typeface="Arial MT"/>
              </a:rPr>
              <a:t>Forest</a:t>
            </a:r>
            <a:r>
              <a:rPr spc="-160" dirty="0">
                <a:solidFill>
                  <a:srgbClr val="1A1A1A"/>
                </a:solidFill>
                <a:latin typeface="+mj-lt"/>
                <a:cs typeface="Arial MT"/>
              </a:rPr>
              <a:t> </a:t>
            </a:r>
            <a:r>
              <a:rPr spc="-10" dirty="0">
                <a:solidFill>
                  <a:srgbClr val="1A1A1A"/>
                </a:solidFill>
                <a:latin typeface="+mj-lt"/>
                <a:cs typeface="Arial MT"/>
              </a:rPr>
              <a:t>Model</a:t>
            </a:r>
          </a:p>
        </p:txBody>
      </p:sp>
      <p:sp>
        <p:nvSpPr>
          <p:cNvPr id="4" name="object 4"/>
          <p:cNvSpPr txBox="1">
            <a:spLocks noGrp="1"/>
          </p:cNvSpPr>
          <p:nvPr>
            <p:ph type="body" idx="1"/>
          </p:nvPr>
        </p:nvSpPr>
        <p:spPr>
          <a:xfrm>
            <a:off x="933194" y="1864430"/>
            <a:ext cx="15608810" cy="5127301"/>
          </a:xfrm>
          <a:prstGeom prst="rect">
            <a:avLst/>
          </a:prstGeom>
        </p:spPr>
        <p:txBody>
          <a:bodyPr vert="horz" wrap="square" lIns="0" tIns="10160" rIns="0" bIns="0" rtlCol="0">
            <a:spAutoFit/>
          </a:bodyPr>
          <a:lstStyle/>
          <a:p>
            <a:pPr marL="33655" marR="227329" indent="-1270">
              <a:lnSpc>
                <a:spcPct val="101299"/>
              </a:lnSpc>
              <a:spcBef>
                <a:spcPts val="80"/>
              </a:spcBef>
            </a:pPr>
            <a:r>
              <a:rPr sz="2600" spc="-85" dirty="0">
                <a:latin typeface="+mn-lt"/>
              </a:rPr>
              <a:t>Based</a:t>
            </a:r>
            <a:r>
              <a:rPr sz="2600" spc="-105" dirty="0">
                <a:latin typeface="+mn-lt"/>
              </a:rPr>
              <a:t> </a:t>
            </a:r>
            <a:r>
              <a:rPr sz="2600" spc="-50" dirty="0">
                <a:latin typeface="+mn-lt"/>
              </a:rPr>
              <a:t>on</a:t>
            </a:r>
            <a:r>
              <a:rPr sz="2600" spc="-130" dirty="0">
                <a:latin typeface="+mn-lt"/>
              </a:rPr>
              <a:t> </a:t>
            </a:r>
            <a:r>
              <a:rPr sz="2600" dirty="0">
                <a:latin typeface="+mn-lt"/>
              </a:rPr>
              <a:t>its</a:t>
            </a:r>
            <a:r>
              <a:rPr sz="2600" spc="-175" dirty="0">
                <a:latin typeface="+mn-lt"/>
              </a:rPr>
              <a:t> </a:t>
            </a:r>
            <a:r>
              <a:rPr sz="2600" spc="-45" dirty="0">
                <a:latin typeface="+mn-lt"/>
              </a:rPr>
              <a:t>superior</a:t>
            </a:r>
            <a:r>
              <a:rPr sz="2600" spc="40" dirty="0">
                <a:latin typeface="+mn-lt"/>
              </a:rPr>
              <a:t> </a:t>
            </a:r>
            <a:r>
              <a:rPr sz="2600" spc="-40" dirty="0">
                <a:latin typeface="+mn-lt"/>
              </a:rPr>
              <a:t>and</a:t>
            </a:r>
            <a:r>
              <a:rPr sz="2600" spc="-140" dirty="0">
                <a:latin typeface="+mn-lt"/>
              </a:rPr>
              <a:t> </a:t>
            </a:r>
            <a:r>
              <a:rPr sz="2600" dirty="0">
                <a:latin typeface="+mn-lt"/>
              </a:rPr>
              <a:t>highly</a:t>
            </a:r>
            <a:r>
              <a:rPr sz="2600" spc="65" dirty="0">
                <a:latin typeface="+mn-lt"/>
              </a:rPr>
              <a:t> </a:t>
            </a:r>
            <a:r>
              <a:rPr sz="2600" spc="-25" dirty="0">
                <a:latin typeface="+mn-lt"/>
              </a:rPr>
              <a:t>stable</a:t>
            </a:r>
            <a:r>
              <a:rPr sz="2600" spc="-65" dirty="0">
                <a:latin typeface="+mn-lt"/>
              </a:rPr>
              <a:t> </a:t>
            </a:r>
            <a:r>
              <a:rPr sz="2600" spc="-35" dirty="0">
                <a:latin typeface="+mn-lt"/>
              </a:rPr>
              <a:t>performance</a:t>
            </a:r>
            <a:r>
              <a:rPr sz="2600" spc="55" dirty="0">
                <a:latin typeface="+mn-lt"/>
              </a:rPr>
              <a:t> </a:t>
            </a:r>
            <a:r>
              <a:rPr sz="2600" spc="-10" dirty="0">
                <a:latin typeface="+mn-lt"/>
              </a:rPr>
              <a:t>during</a:t>
            </a:r>
            <a:r>
              <a:rPr sz="2600" spc="-60" dirty="0">
                <a:latin typeface="+mn-lt"/>
              </a:rPr>
              <a:t> </a:t>
            </a:r>
            <a:r>
              <a:rPr sz="2600" spc="-25" dirty="0">
                <a:latin typeface="+mn-lt"/>
              </a:rPr>
              <a:t>cross-</a:t>
            </a:r>
            <a:r>
              <a:rPr sz="2600" spc="-10" dirty="0">
                <a:latin typeface="+mn-lt"/>
              </a:rPr>
              <a:t>validation,</a:t>
            </a:r>
            <a:r>
              <a:rPr sz="2600" spc="-165" dirty="0">
                <a:latin typeface="+mn-lt"/>
              </a:rPr>
              <a:t> </a:t>
            </a:r>
            <a:r>
              <a:rPr sz="2600" dirty="0">
                <a:latin typeface="+mn-lt"/>
              </a:rPr>
              <a:t>the</a:t>
            </a:r>
            <a:r>
              <a:rPr sz="2600" spc="-165" dirty="0">
                <a:latin typeface="+mn-lt"/>
              </a:rPr>
              <a:t> </a:t>
            </a:r>
            <a:r>
              <a:rPr lang="en-PH" sz="2600" dirty="0">
                <a:latin typeface="+mn-lt"/>
              </a:rPr>
              <a:t>Support Vector Machine (SVM) </a:t>
            </a:r>
            <a:r>
              <a:rPr sz="2600" spc="-10" dirty="0">
                <a:latin typeface="+mn-lt"/>
              </a:rPr>
              <a:t>classifier</a:t>
            </a:r>
            <a:r>
              <a:rPr sz="2600" spc="110" dirty="0">
                <a:latin typeface="+mn-lt"/>
              </a:rPr>
              <a:t> </a:t>
            </a:r>
            <a:r>
              <a:rPr sz="2600" spc="-25" dirty="0">
                <a:latin typeface="+mn-lt"/>
              </a:rPr>
              <a:t>was </a:t>
            </a:r>
            <a:r>
              <a:rPr sz="2600" spc="-10" dirty="0">
                <a:latin typeface="+mn-lt"/>
              </a:rPr>
              <a:t>selected</a:t>
            </a:r>
            <a:r>
              <a:rPr sz="2600" spc="-75" dirty="0">
                <a:latin typeface="+mn-lt"/>
              </a:rPr>
              <a:t> </a:t>
            </a:r>
            <a:r>
              <a:rPr sz="2600" spc="-100" dirty="0">
                <a:latin typeface="+mn-lt"/>
              </a:rPr>
              <a:t>as</a:t>
            </a:r>
            <a:r>
              <a:rPr sz="2600" spc="-80" dirty="0">
                <a:latin typeface="+mn-lt"/>
              </a:rPr>
              <a:t> </a:t>
            </a:r>
            <a:r>
              <a:rPr sz="2600" dirty="0">
                <a:latin typeface="+mn-lt"/>
              </a:rPr>
              <a:t>the</a:t>
            </a:r>
            <a:r>
              <a:rPr sz="2600" spc="-145" dirty="0">
                <a:latin typeface="+mn-lt"/>
              </a:rPr>
              <a:t> </a:t>
            </a:r>
            <a:r>
              <a:rPr sz="2600" dirty="0">
                <a:latin typeface="+mn-lt"/>
              </a:rPr>
              <a:t>final</a:t>
            </a:r>
            <a:r>
              <a:rPr sz="2600" spc="-165" dirty="0">
                <a:latin typeface="+mn-lt"/>
              </a:rPr>
              <a:t> </a:t>
            </a:r>
            <a:r>
              <a:rPr sz="2600" spc="-55" dirty="0">
                <a:latin typeface="+mn-lt"/>
              </a:rPr>
              <a:t>model.</a:t>
            </a:r>
            <a:r>
              <a:rPr sz="2600" spc="-120" dirty="0">
                <a:latin typeface="+mn-lt"/>
              </a:rPr>
              <a:t> </a:t>
            </a:r>
            <a:r>
              <a:rPr sz="2600" dirty="0">
                <a:latin typeface="+mn-lt"/>
              </a:rPr>
              <a:t>It</a:t>
            </a:r>
            <a:r>
              <a:rPr sz="2600" spc="-30" dirty="0">
                <a:latin typeface="+mn-lt"/>
              </a:rPr>
              <a:t> </a:t>
            </a:r>
            <a:r>
              <a:rPr sz="2600" spc="-20" dirty="0">
                <a:latin typeface="+mn-lt"/>
              </a:rPr>
              <a:t>was</a:t>
            </a:r>
            <a:r>
              <a:rPr sz="2600" spc="-45" dirty="0">
                <a:latin typeface="+mn-lt"/>
              </a:rPr>
              <a:t> </a:t>
            </a:r>
            <a:r>
              <a:rPr sz="2600" dirty="0">
                <a:latin typeface="+mn-lt"/>
              </a:rPr>
              <a:t>then</a:t>
            </a:r>
            <a:r>
              <a:rPr sz="2600" spc="-20" dirty="0">
                <a:latin typeface="+mn-lt"/>
              </a:rPr>
              <a:t> </a:t>
            </a:r>
            <a:r>
              <a:rPr sz="2600" dirty="0">
                <a:latin typeface="+mn-lt"/>
              </a:rPr>
              <a:t>trained on</a:t>
            </a:r>
            <a:r>
              <a:rPr sz="2600" spc="-160" dirty="0">
                <a:latin typeface="+mn-lt"/>
              </a:rPr>
              <a:t> </a:t>
            </a:r>
            <a:r>
              <a:rPr sz="2600" dirty="0">
                <a:latin typeface="+mn-lt"/>
              </a:rPr>
              <a:t>the</a:t>
            </a:r>
            <a:r>
              <a:rPr sz="2600" spc="-150" dirty="0">
                <a:latin typeface="+mn-lt"/>
              </a:rPr>
              <a:t> </a:t>
            </a:r>
            <a:r>
              <a:rPr sz="2600" dirty="0">
                <a:latin typeface="+mn-lt"/>
              </a:rPr>
              <a:t>full</a:t>
            </a:r>
            <a:r>
              <a:rPr sz="2600" spc="-175" dirty="0">
                <a:latin typeface="+mn-lt"/>
              </a:rPr>
              <a:t> </a:t>
            </a:r>
            <a:r>
              <a:rPr sz="2600" spc="-60" dirty="0">
                <a:latin typeface="+mn-lt"/>
              </a:rPr>
              <a:t>pre-</a:t>
            </a:r>
            <a:r>
              <a:rPr sz="2600" spc="-25" dirty="0">
                <a:latin typeface="+mn-lt"/>
              </a:rPr>
              <a:t>processed</a:t>
            </a:r>
            <a:r>
              <a:rPr sz="2600" spc="175" dirty="0">
                <a:latin typeface="+mn-lt"/>
              </a:rPr>
              <a:t> </a:t>
            </a:r>
            <a:r>
              <a:rPr sz="2600" spc="-10" dirty="0">
                <a:latin typeface="+mn-lt"/>
              </a:rPr>
              <a:t>dataset.</a:t>
            </a:r>
          </a:p>
          <a:p>
            <a:pPr marL="38100">
              <a:lnSpc>
                <a:spcPct val="100000"/>
              </a:lnSpc>
              <a:spcBef>
                <a:spcPts val="2840"/>
              </a:spcBef>
            </a:pPr>
            <a:r>
              <a:rPr sz="3600" dirty="0">
                <a:solidFill>
                  <a:srgbClr val="111111"/>
                </a:solidFill>
                <a:latin typeface="+mn-lt"/>
              </a:rPr>
              <a:t>Winning</a:t>
            </a:r>
            <a:r>
              <a:rPr sz="3600" spc="-180" dirty="0">
                <a:solidFill>
                  <a:srgbClr val="111111"/>
                </a:solidFill>
                <a:latin typeface="+mn-lt"/>
              </a:rPr>
              <a:t> </a:t>
            </a:r>
            <a:r>
              <a:rPr sz="3600" spc="-10" dirty="0">
                <a:solidFill>
                  <a:srgbClr val="111111"/>
                </a:solidFill>
                <a:latin typeface="+mn-lt"/>
              </a:rPr>
              <a:t>Model</a:t>
            </a:r>
            <a:r>
              <a:rPr sz="3600" spc="-245" dirty="0">
                <a:solidFill>
                  <a:srgbClr val="111111"/>
                </a:solidFill>
                <a:latin typeface="+mn-lt"/>
              </a:rPr>
              <a:t> </a:t>
            </a:r>
            <a:r>
              <a:rPr sz="3600" spc="-10" dirty="0">
                <a:solidFill>
                  <a:srgbClr val="0A0A0A"/>
                </a:solidFill>
                <a:latin typeface="+mn-lt"/>
              </a:rPr>
              <a:t>Performance</a:t>
            </a:r>
            <a:endParaRPr sz="3600" dirty="0">
              <a:latin typeface="+mn-lt"/>
            </a:endParaRPr>
          </a:p>
          <a:p>
            <a:pPr marL="34290" marR="5080" indent="1270">
              <a:lnSpc>
                <a:spcPct val="105800"/>
              </a:lnSpc>
              <a:spcBef>
                <a:spcPts val="1945"/>
              </a:spcBef>
            </a:pPr>
            <a:r>
              <a:rPr sz="2600" spc="-114" dirty="0">
                <a:latin typeface="+mn-lt"/>
              </a:rPr>
              <a:t>The</a:t>
            </a:r>
            <a:r>
              <a:rPr sz="2600" spc="-120" dirty="0">
                <a:latin typeface="+mn-lt"/>
              </a:rPr>
              <a:t> </a:t>
            </a:r>
            <a:r>
              <a:rPr sz="2600" spc="-55" dirty="0">
                <a:latin typeface="+mn-lt"/>
              </a:rPr>
              <a:t>model</a:t>
            </a:r>
            <a:r>
              <a:rPr sz="2600" spc="-130" dirty="0">
                <a:latin typeface="+mn-lt"/>
              </a:rPr>
              <a:t> </a:t>
            </a:r>
            <a:r>
              <a:rPr sz="2600" spc="-75" dirty="0">
                <a:latin typeface="+mn-lt"/>
              </a:rPr>
              <a:t>achieved</a:t>
            </a:r>
            <a:r>
              <a:rPr sz="2600" spc="-80" dirty="0">
                <a:latin typeface="+mn-lt"/>
              </a:rPr>
              <a:t> </a:t>
            </a:r>
            <a:r>
              <a:rPr sz="2600" spc="-150" dirty="0">
                <a:latin typeface="+mn-lt"/>
              </a:rPr>
              <a:t>an</a:t>
            </a:r>
            <a:r>
              <a:rPr sz="2600" spc="-30" dirty="0">
                <a:latin typeface="+mn-lt"/>
              </a:rPr>
              <a:t> </a:t>
            </a:r>
            <a:r>
              <a:rPr sz="2600" spc="-45" dirty="0">
                <a:latin typeface="+mn-lt"/>
              </a:rPr>
              <a:t>outstanding</a:t>
            </a:r>
            <a:r>
              <a:rPr sz="2600" spc="-15" dirty="0">
                <a:latin typeface="+mn-lt"/>
              </a:rPr>
              <a:t> </a:t>
            </a:r>
            <a:r>
              <a:rPr sz="2600" spc="-125" dirty="0">
                <a:latin typeface="+mn-lt"/>
              </a:rPr>
              <a:t>Recall</a:t>
            </a:r>
            <a:r>
              <a:rPr sz="2600" spc="-5" dirty="0">
                <a:latin typeface="+mn-lt"/>
              </a:rPr>
              <a:t> </a:t>
            </a:r>
            <a:r>
              <a:rPr sz="2600" dirty="0">
                <a:latin typeface="+mn-lt"/>
              </a:rPr>
              <a:t>of</a:t>
            </a:r>
            <a:r>
              <a:rPr sz="2600" spc="55" dirty="0">
                <a:latin typeface="+mn-lt"/>
              </a:rPr>
              <a:t> </a:t>
            </a:r>
            <a:r>
              <a:rPr sz="2600" spc="-100" dirty="0">
                <a:solidFill>
                  <a:srgbClr val="C34F18"/>
                </a:solidFill>
                <a:latin typeface="+mn-lt"/>
              </a:rPr>
              <a:t> </a:t>
            </a:r>
            <a:r>
              <a:rPr lang="en-PH" sz="2600" spc="-100" dirty="0">
                <a:solidFill>
                  <a:srgbClr val="C34F18"/>
                </a:solidFill>
                <a:latin typeface="+mn-lt"/>
              </a:rPr>
              <a:t>0.95 </a:t>
            </a:r>
            <a:r>
              <a:rPr sz="2600" spc="-55" dirty="0">
                <a:latin typeface="+mn-lt"/>
              </a:rPr>
              <a:t>and</a:t>
            </a:r>
            <a:r>
              <a:rPr sz="2600" spc="-120" dirty="0">
                <a:latin typeface="+mn-lt"/>
              </a:rPr>
              <a:t> </a:t>
            </a:r>
            <a:r>
              <a:rPr sz="2600" spc="-110" dirty="0">
                <a:latin typeface="+mn-lt"/>
              </a:rPr>
              <a:t>an</a:t>
            </a:r>
            <a:r>
              <a:rPr sz="2600" spc="-145" dirty="0">
                <a:latin typeface="+mn-lt"/>
              </a:rPr>
              <a:t> </a:t>
            </a:r>
            <a:r>
              <a:rPr sz="2600" spc="-135" dirty="0">
                <a:latin typeface="+mn-lt"/>
              </a:rPr>
              <a:t>F1-</a:t>
            </a:r>
            <a:r>
              <a:rPr sz="2600" spc="-80" dirty="0">
                <a:latin typeface="+mn-lt"/>
              </a:rPr>
              <a:t>Score</a:t>
            </a:r>
            <a:r>
              <a:rPr sz="2600" spc="110" dirty="0">
                <a:latin typeface="+mn-lt"/>
              </a:rPr>
              <a:t> </a:t>
            </a:r>
            <a:r>
              <a:rPr sz="2600" dirty="0">
                <a:latin typeface="+mn-lt"/>
              </a:rPr>
              <a:t>of</a:t>
            </a:r>
            <a:r>
              <a:rPr sz="2600" spc="-10" dirty="0">
                <a:latin typeface="+mn-lt"/>
              </a:rPr>
              <a:t> </a:t>
            </a:r>
            <a:r>
              <a:rPr lang="en-PH" sz="2600" spc="-100" dirty="0">
                <a:solidFill>
                  <a:srgbClr val="C34F18"/>
                </a:solidFill>
                <a:latin typeface="+mn-lt"/>
              </a:rPr>
              <a:t>0.91 </a:t>
            </a:r>
            <a:r>
              <a:rPr sz="2600" spc="-10" dirty="0">
                <a:latin typeface="+mn-lt"/>
              </a:rPr>
              <a:t>for</a:t>
            </a:r>
            <a:r>
              <a:rPr sz="2600" spc="-165" dirty="0">
                <a:latin typeface="+mn-lt"/>
              </a:rPr>
              <a:t> </a:t>
            </a:r>
            <a:r>
              <a:rPr sz="2600" dirty="0">
                <a:latin typeface="+mn-lt"/>
              </a:rPr>
              <a:t>the</a:t>
            </a:r>
            <a:r>
              <a:rPr sz="2600" spc="-180" dirty="0">
                <a:latin typeface="+mn-lt"/>
              </a:rPr>
              <a:t> </a:t>
            </a:r>
            <a:r>
              <a:rPr sz="2600" spc="-85" dirty="0">
                <a:latin typeface="+mn-lt"/>
              </a:rPr>
              <a:t>’Graduate’</a:t>
            </a:r>
            <a:r>
              <a:rPr sz="2600" spc="-90" dirty="0">
                <a:latin typeface="+mn-lt"/>
              </a:rPr>
              <a:t> </a:t>
            </a:r>
            <a:r>
              <a:rPr sz="2600" spc="-70" dirty="0">
                <a:latin typeface="+mn-lt"/>
              </a:rPr>
              <a:t>class</a:t>
            </a:r>
            <a:r>
              <a:rPr sz="2600" spc="-90" dirty="0">
                <a:latin typeface="+mn-lt"/>
              </a:rPr>
              <a:t> </a:t>
            </a:r>
            <a:r>
              <a:rPr sz="2600" spc="-20" dirty="0">
                <a:latin typeface="+mn-lt"/>
              </a:rPr>
              <a:t>on</a:t>
            </a:r>
            <a:r>
              <a:rPr sz="2600" spc="-90" dirty="0">
                <a:latin typeface="+mn-lt"/>
              </a:rPr>
              <a:t> </a:t>
            </a:r>
            <a:r>
              <a:rPr sz="2600" spc="-25" dirty="0">
                <a:latin typeface="+mn-lt"/>
              </a:rPr>
              <a:t>the </a:t>
            </a:r>
            <a:r>
              <a:rPr sz="2600" spc="-60" dirty="0">
                <a:latin typeface="+mn-lt"/>
              </a:rPr>
              <a:t>held-</a:t>
            </a:r>
            <a:r>
              <a:rPr sz="2600" dirty="0">
                <a:latin typeface="+mn-lt"/>
              </a:rPr>
              <a:t>out</a:t>
            </a:r>
            <a:r>
              <a:rPr sz="2600" spc="-25" dirty="0">
                <a:latin typeface="+mn-lt"/>
              </a:rPr>
              <a:t> </a:t>
            </a:r>
            <a:r>
              <a:rPr sz="2600" dirty="0">
                <a:latin typeface="+mn-lt"/>
              </a:rPr>
              <a:t>test</a:t>
            </a:r>
            <a:r>
              <a:rPr sz="2600" spc="-75" dirty="0">
                <a:latin typeface="+mn-lt"/>
              </a:rPr>
              <a:t> </a:t>
            </a:r>
            <a:r>
              <a:rPr sz="2600" spc="-25" dirty="0">
                <a:latin typeface="+mn-lt"/>
              </a:rPr>
              <a:t>set,</a:t>
            </a:r>
            <a:r>
              <a:rPr sz="2600" spc="-155" dirty="0">
                <a:latin typeface="+mn-lt"/>
              </a:rPr>
              <a:t> </a:t>
            </a:r>
            <a:r>
              <a:rPr sz="2600" spc="-50" dirty="0">
                <a:latin typeface="+mn-lt"/>
              </a:rPr>
              <a:t>demonstrating</a:t>
            </a:r>
            <a:r>
              <a:rPr sz="2600" spc="20" dirty="0">
                <a:latin typeface="+mn-lt"/>
              </a:rPr>
              <a:t> </a:t>
            </a:r>
            <a:r>
              <a:rPr sz="2600" dirty="0">
                <a:latin typeface="+mn-lt"/>
              </a:rPr>
              <a:t>its</a:t>
            </a:r>
            <a:r>
              <a:rPr sz="2600" spc="-180" dirty="0">
                <a:latin typeface="+mn-lt"/>
              </a:rPr>
              <a:t> </a:t>
            </a:r>
            <a:r>
              <a:rPr sz="2600" spc="-40" dirty="0">
                <a:latin typeface="+mn-lt"/>
              </a:rPr>
              <a:t>effectiveness</a:t>
            </a:r>
            <a:r>
              <a:rPr sz="2600" spc="40" dirty="0">
                <a:latin typeface="+mn-lt"/>
              </a:rPr>
              <a:t> </a:t>
            </a:r>
            <a:r>
              <a:rPr sz="2600" dirty="0">
                <a:latin typeface="+mn-lt"/>
              </a:rPr>
              <a:t>at</a:t>
            </a:r>
            <a:r>
              <a:rPr sz="2600" spc="-45" dirty="0">
                <a:latin typeface="+mn-lt"/>
              </a:rPr>
              <a:t> </a:t>
            </a:r>
            <a:r>
              <a:rPr sz="2600" spc="-20" dirty="0">
                <a:latin typeface="+mn-lt"/>
              </a:rPr>
              <a:t>correctly</a:t>
            </a:r>
            <a:r>
              <a:rPr sz="2600" spc="-15" dirty="0">
                <a:latin typeface="+mn-lt"/>
              </a:rPr>
              <a:t> </a:t>
            </a:r>
            <a:r>
              <a:rPr sz="2600" spc="-10" dirty="0">
                <a:latin typeface="+mn-lt"/>
              </a:rPr>
              <a:t>identifying</a:t>
            </a:r>
            <a:r>
              <a:rPr sz="2600" spc="10" dirty="0">
                <a:latin typeface="+mn-lt"/>
              </a:rPr>
              <a:t> </a:t>
            </a:r>
            <a:r>
              <a:rPr sz="2600" spc="-35" dirty="0">
                <a:latin typeface="+mn-lt"/>
              </a:rPr>
              <a:t>students</a:t>
            </a:r>
            <a:r>
              <a:rPr sz="2600" spc="-50" dirty="0">
                <a:latin typeface="+mn-lt"/>
              </a:rPr>
              <a:t> </a:t>
            </a:r>
            <a:r>
              <a:rPr sz="2600" spc="-20" dirty="0">
                <a:latin typeface="+mn-lt"/>
              </a:rPr>
              <a:t>on</a:t>
            </a:r>
            <a:r>
              <a:rPr sz="2600" spc="-114" dirty="0">
                <a:latin typeface="+mn-lt"/>
              </a:rPr>
              <a:t> </a:t>
            </a:r>
            <a:r>
              <a:rPr sz="2600" spc="-10" dirty="0">
                <a:latin typeface="+mn-lt"/>
              </a:rPr>
              <a:t>the</a:t>
            </a:r>
            <a:r>
              <a:rPr sz="2600" spc="-170" dirty="0">
                <a:latin typeface="+mn-lt"/>
              </a:rPr>
              <a:t> </a:t>
            </a:r>
            <a:r>
              <a:rPr sz="2600" spc="-10" dirty="0">
                <a:latin typeface="+mn-lt"/>
              </a:rPr>
              <a:t>path</a:t>
            </a:r>
            <a:r>
              <a:rPr sz="2600" spc="-145" dirty="0">
                <a:latin typeface="+mn-lt"/>
              </a:rPr>
              <a:t> </a:t>
            </a:r>
            <a:r>
              <a:rPr sz="2600" dirty="0">
                <a:latin typeface="+mn-lt"/>
              </a:rPr>
              <a:t>to</a:t>
            </a:r>
            <a:r>
              <a:rPr sz="2600" spc="-95" dirty="0">
                <a:latin typeface="+mn-lt"/>
              </a:rPr>
              <a:t> </a:t>
            </a:r>
            <a:r>
              <a:rPr sz="2600" spc="-10" dirty="0">
                <a:latin typeface="+mn-lt"/>
              </a:rPr>
              <a:t>success.</a:t>
            </a:r>
            <a:endParaRPr sz="2600" dirty="0">
              <a:latin typeface="+mn-lt"/>
            </a:endParaRPr>
          </a:p>
          <a:p>
            <a:pPr marL="27940">
              <a:lnSpc>
                <a:spcPts val="2990"/>
              </a:lnSpc>
            </a:pPr>
            <a:r>
              <a:rPr sz="2600" spc="-50" dirty="0">
                <a:latin typeface="+mn-lt"/>
              </a:rPr>
              <a:t>Crucially,</a:t>
            </a:r>
            <a:r>
              <a:rPr sz="2600" spc="-130" dirty="0">
                <a:latin typeface="+mn-lt"/>
              </a:rPr>
              <a:t> </a:t>
            </a:r>
            <a:r>
              <a:rPr sz="2600" dirty="0">
                <a:latin typeface="+mn-lt"/>
              </a:rPr>
              <a:t>for</a:t>
            </a:r>
            <a:r>
              <a:rPr sz="2600" spc="-114" dirty="0">
                <a:latin typeface="+mn-lt"/>
              </a:rPr>
              <a:t> </a:t>
            </a:r>
            <a:r>
              <a:rPr sz="2600" dirty="0">
                <a:latin typeface="+mn-lt"/>
              </a:rPr>
              <a:t>the</a:t>
            </a:r>
            <a:r>
              <a:rPr sz="2600" spc="-180" dirty="0">
                <a:latin typeface="+mn-lt"/>
              </a:rPr>
              <a:t> </a:t>
            </a:r>
            <a:r>
              <a:rPr sz="2600" spc="-30" dirty="0">
                <a:latin typeface="+mn-lt"/>
              </a:rPr>
              <a:t>’Dropout’</a:t>
            </a:r>
            <a:r>
              <a:rPr sz="2600" spc="-70" dirty="0">
                <a:latin typeface="+mn-lt"/>
              </a:rPr>
              <a:t> </a:t>
            </a:r>
            <a:r>
              <a:rPr sz="2600" spc="-40" dirty="0">
                <a:latin typeface="+mn-lt"/>
              </a:rPr>
              <a:t>class,</a:t>
            </a:r>
            <a:r>
              <a:rPr sz="2600" spc="-70" dirty="0">
                <a:latin typeface="+mn-lt"/>
              </a:rPr>
              <a:t> </a:t>
            </a:r>
            <a:r>
              <a:rPr sz="2600" dirty="0">
                <a:latin typeface="+mn-lt"/>
              </a:rPr>
              <a:t>it</a:t>
            </a:r>
            <a:r>
              <a:rPr sz="2600" spc="-90" dirty="0">
                <a:latin typeface="+mn-lt"/>
              </a:rPr>
              <a:t> </a:t>
            </a:r>
            <a:r>
              <a:rPr sz="2600" spc="-30" dirty="0">
                <a:latin typeface="+mn-lt"/>
              </a:rPr>
              <a:t>maintained</a:t>
            </a:r>
            <a:r>
              <a:rPr sz="2600" spc="10" dirty="0">
                <a:latin typeface="+mn-lt"/>
              </a:rPr>
              <a:t> </a:t>
            </a:r>
            <a:r>
              <a:rPr sz="2600" dirty="0">
                <a:latin typeface="+mn-lt"/>
              </a:rPr>
              <a:t>high</a:t>
            </a:r>
            <a:r>
              <a:rPr sz="2600" spc="-60" dirty="0">
                <a:latin typeface="+mn-lt"/>
              </a:rPr>
              <a:t> </a:t>
            </a:r>
            <a:r>
              <a:rPr sz="2600" spc="-35" dirty="0">
                <a:latin typeface="+mn-lt"/>
              </a:rPr>
              <a:t>performance,</a:t>
            </a:r>
            <a:r>
              <a:rPr sz="2600" spc="15" dirty="0">
                <a:latin typeface="+mn-lt"/>
              </a:rPr>
              <a:t> </a:t>
            </a:r>
            <a:r>
              <a:rPr sz="2600" spc="-20" dirty="0">
                <a:latin typeface="+mn-lt"/>
              </a:rPr>
              <a:t>ensuring</a:t>
            </a:r>
            <a:r>
              <a:rPr sz="2600" spc="25" dirty="0">
                <a:latin typeface="+mn-lt"/>
              </a:rPr>
              <a:t> </a:t>
            </a:r>
            <a:r>
              <a:rPr sz="2600" dirty="0">
                <a:latin typeface="+mn-lt"/>
              </a:rPr>
              <a:t>that</a:t>
            </a:r>
            <a:r>
              <a:rPr sz="2600" spc="-80" dirty="0">
                <a:latin typeface="+mn-lt"/>
              </a:rPr>
              <a:t> </a:t>
            </a:r>
            <a:r>
              <a:rPr sz="2600" dirty="0">
                <a:latin typeface="+mn-lt"/>
              </a:rPr>
              <a:t>at-risk</a:t>
            </a:r>
            <a:r>
              <a:rPr sz="2600" spc="-25" dirty="0">
                <a:latin typeface="+mn-lt"/>
              </a:rPr>
              <a:t> </a:t>
            </a:r>
            <a:r>
              <a:rPr sz="2600" spc="-10" dirty="0">
                <a:latin typeface="+mn-lt"/>
              </a:rPr>
              <a:t>students</a:t>
            </a:r>
            <a:r>
              <a:rPr sz="2600" spc="-75" dirty="0">
                <a:latin typeface="+mn-lt"/>
              </a:rPr>
              <a:t> </a:t>
            </a:r>
            <a:r>
              <a:rPr sz="2600" spc="-65" dirty="0">
                <a:latin typeface="+mn-lt"/>
              </a:rPr>
              <a:t>are</a:t>
            </a:r>
            <a:r>
              <a:rPr sz="2600" spc="-114" dirty="0">
                <a:latin typeface="+mn-lt"/>
              </a:rPr>
              <a:t> </a:t>
            </a:r>
            <a:r>
              <a:rPr sz="2600" dirty="0">
                <a:latin typeface="+mn-lt"/>
              </a:rPr>
              <a:t>not</a:t>
            </a:r>
            <a:r>
              <a:rPr sz="2600" spc="-70" dirty="0">
                <a:latin typeface="+mn-lt"/>
              </a:rPr>
              <a:t> </a:t>
            </a:r>
            <a:r>
              <a:rPr sz="2600" spc="-10" dirty="0">
                <a:latin typeface="+mn-lt"/>
              </a:rPr>
              <a:t>missed.</a:t>
            </a:r>
          </a:p>
          <a:p>
            <a:pPr marL="33020">
              <a:lnSpc>
                <a:spcPct val="100000"/>
              </a:lnSpc>
              <a:spcBef>
                <a:spcPts val="2890"/>
              </a:spcBef>
            </a:pPr>
            <a:r>
              <a:rPr sz="3600" spc="-75" dirty="0">
                <a:solidFill>
                  <a:srgbClr val="1F1F1F"/>
                </a:solidFill>
                <a:latin typeface="+mn-lt"/>
              </a:rPr>
              <a:t>The</a:t>
            </a:r>
            <a:r>
              <a:rPr sz="3600" spc="-250" dirty="0">
                <a:solidFill>
                  <a:srgbClr val="1F1F1F"/>
                </a:solidFill>
                <a:latin typeface="+mn-lt"/>
              </a:rPr>
              <a:t> </a:t>
            </a:r>
            <a:r>
              <a:rPr sz="3600" spc="-55" dirty="0">
                <a:solidFill>
                  <a:srgbClr val="131313"/>
                </a:solidFill>
                <a:latin typeface="+mn-lt"/>
              </a:rPr>
              <a:t>Final</a:t>
            </a:r>
            <a:r>
              <a:rPr sz="3600" spc="-195" dirty="0">
                <a:solidFill>
                  <a:srgbClr val="131313"/>
                </a:solidFill>
                <a:latin typeface="+mn-lt"/>
              </a:rPr>
              <a:t> </a:t>
            </a:r>
            <a:r>
              <a:rPr sz="3600" spc="-55" dirty="0">
                <a:solidFill>
                  <a:srgbClr val="131313"/>
                </a:solidFill>
                <a:latin typeface="+mn-lt"/>
              </a:rPr>
              <a:t>Engineered</a:t>
            </a:r>
            <a:r>
              <a:rPr sz="3600" spc="-195" dirty="0">
                <a:solidFill>
                  <a:srgbClr val="131313"/>
                </a:solidFill>
                <a:latin typeface="+mn-lt"/>
              </a:rPr>
              <a:t> </a:t>
            </a:r>
            <a:r>
              <a:rPr sz="3600" dirty="0">
                <a:solidFill>
                  <a:srgbClr val="161616"/>
                </a:solidFill>
                <a:latin typeface="+mn-lt"/>
              </a:rPr>
              <a:t>Pipeline</a:t>
            </a:r>
            <a:r>
              <a:rPr sz="3600" spc="-55" dirty="0">
                <a:solidFill>
                  <a:srgbClr val="161616"/>
                </a:solidFill>
                <a:latin typeface="+mn-lt"/>
              </a:rPr>
              <a:t> </a:t>
            </a:r>
            <a:r>
              <a:rPr sz="3600" spc="90" dirty="0">
                <a:solidFill>
                  <a:srgbClr val="0E0E0E"/>
                </a:solidFill>
                <a:latin typeface="+mn-lt"/>
              </a:rPr>
              <a:t>(</a:t>
            </a:r>
            <a:r>
              <a:rPr lang="en-PH" sz="3600" spc="90" dirty="0" err="1">
                <a:solidFill>
                  <a:srgbClr val="0E0E0E"/>
                </a:solidFill>
                <a:latin typeface="+mn-lt"/>
              </a:rPr>
              <a:t>svc_pipeline</a:t>
            </a:r>
            <a:r>
              <a:rPr sz="3600" spc="90" dirty="0">
                <a:solidFill>
                  <a:srgbClr val="0E0E0E"/>
                </a:solidFill>
                <a:latin typeface="+mn-lt"/>
              </a:rPr>
              <a:t>.</a:t>
            </a:r>
            <a:r>
              <a:rPr sz="3600" spc="-160" dirty="0">
                <a:solidFill>
                  <a:srgbClr val="0E0E0E"/>
                </a:solidFill>
                <a:latin typeface="+mn-lt"/>
              </a:rPr>
              <a:t> </a:t>
            </a:r>
            <a:r>
              <a:rPr lang="en-PH" sz="3600" spc="45" dirty="0" err="1">
                <a:solidFill>
                  <a:srgbClr val="111111"/>
                </a:solidFill>
                <a:latin typeface="+mn-lt"/>
              </a:rPr>
              <a:t>joblib</a:t>
            </a:r>
            <a:r>
              <a:rPr sz="3600" spc="45" dirty="0">
                <a:solidFill>
                  <a:srgbClr val="111111"/>
                </a:solidFill>
                <a:latin typeface="+mn-lt"/>
              </a:rPr>
              <a:t>)</a:t>
            </a:r>
            <a:endParaRPr sz="3600" dirty="0">
              <a:latin typeface="+mn-lt"/>
            </a:endParaRPr>
          </a:p>
          <a:p>
            <a:pPr marL="35560">
              <a:lnSpc>
                <a:spcPts val="3095"/>
              </a:lnSpc>
              <a:spcBef>
                <a:spcPts val="980"/>
              </a:spcBef>
            </a:pPr>
            <a:r>
              <a:rPr sz="2600" spc="-190" dirty="0">
                <a:latin typeface="+mn-lt"/>
              </a:rPr>
              <a:t>The</a:t>
            </a:r>
            <a:r>
              <a:rPr sz="2600" dirty="0">
                <a:latin typeface="+mn-lt"/>
              </a:rPr>
              <a:t> </a:t>
            </a:r>
            <a:r>
              <a:rPr sz="2600" spc="-80" dirty="0">
                <a:latin typeface="+mn-lt"/>
              </a:rPr>
              <a:t>entire</a:t>
            </a:r>
            <a:r>
              <a:rPr sz="2600" spc="-105" dirty="0">
                <a:latin typeface="+mn-lt"/>
              </a:rPr>
              <a:t> </a:t>
            </a:r>
            <a:r>
              <a:rPr sz="2600" spc="-114" dirty="0">
                <a:latin typeface="+mn-lt"/>
              </a:rPr>
              <a:t>workflow,</a:t>
            </a:r>
            <a:r>
              <a:rPr sz="2600" spc="-75" dirty="0">
                <a:latin typeface="+mn-lt"/>
              </a:rPr>
              <a:t> </a:t>
            </a:r>
            <a:r>
              <a:rPr sz="2600" spc="-85" dirty="0">
                <a:latin typeface="+mn-lt"/>
              </a:rPr>
              <a:t>from</a:t>
            </a:r>
            <a:r>
              <a:rPr sz="2600" spc="-100" dirty="0">
                <a:latin typeface="+mn-lt"/>
              </a:rPr>
              <a:t> </a:t>
            </a:r>
            <a:r>
              <a:rPr sz="2600" spc="-120" dirty="0">
                <a:latin typeface="+mn-lt"/>
              </a:rPr>
              <a:t>data</a:t>
            </a:r>
            <a:r>
              <a:rPr sz="2600" spc="-70" dirty="0">
                <a:latin typeface="+mn-lt"/>
              </a:rPr>
              <a:t> </a:t>
            </a:r>
            <a:r>
              <a:rPr sz="2600" spc="-105" dirty="0">
                <a:latin typeface="+mn-lt"/>
              </a:rPr>
              <a:t>preparation</a:t>
            </a:r>
            <a:r>
              <a:rPr sz="2600" spc="-80" dirty="0">
                <a:latin typeface="+mn-lt"/>
              </a:rPr>
              <a:t> </a:t>
            </a:r>
            <a:r>
              <a:rPr sz="2600" dirty="0">
                <a:latin typeface="+mn-lt"/>
              </a:rPr>
              <a:t>to</a:t>
            </a:r>
            <a:r>
              <a:rPr sz="2600" spc="-140" dirty="0">
                <a:latin typeface="+mn-lt"/>
              </a:rPr>
              <a:t> </a:t>
            </a:r>
            <a:r>
              <a:rPr sz="2600" spc="-60" dirty="0">
                <a:latin typeface="+mn-lt"/>
              </a:rPr>
              <a:t>the</a:t>
            </a:r>
            <a:r>
              <a:rPr sz="2600" spc="-75" dirty="0">
                <a:latin typeface="+mn-lt"/>
              </a:rPr>
              <a:t> </a:t>
            </a:r>
            <a:r>
              <a:rPr sz="2600" spc="-80" dirty="0">
                <a:latin typeface="+mn-lt"/>
              </a:rPr>
              <a:t>final</a:t>
            </a:r>
            <a:r>
              <a:rPr sz="2600" spc="-100" dirty="0">
                <a:latin typeface="+mn-lt"/>
              </a:rPr>
              <a:t> </a:t>
            </a:r>
            <a:r>
              <a:rPr sz="2600" spc="-80" dirty="0">
                <a:latin typeface="+mn-lt"/>
              </a:rPr>
              <a:t>prediction,</a:t>
            </a:r>
            <a:r>
              <a:rPr sz="2600" spc="-15" dirty="0">
                <a:latin typeface="+mn-lt"/>
              </a:rPr>
              <a:t> </a:t>
            </a:r>
            <a:r>
              <a:rPr sz="2600" spc="-165" dirty="0">
                <a:latin typeface="+mn-lt"/>
              </a:rPr>
              <a:t>has</a:t>
            </a:r>
            <a:r>
              <a:rPr sz="2600" spc="-40" dirty="0">
                <a:latin typeface="+mn-lt"/>
              </a:rPr>
              <a:t> </a:t>
            </a:r>
            <a:r>
              <a:rPr sz="2600" spc="-180" dirty="0">
                <a:latin typeface="+mn-lt"/>
              </a:rPr>
              <a:t>been</a:t>
            </a:r>
            <a:r>
              <a:rPr sz="2600" spc="-10" dirty="0">
                <a:latin typeface="+mn-lt"/>
              </a:rPr>
              <a:t> </a:t>
            </a:r>
            <a:r>
              <a:rPr sz="2600" spc="-120" dirty="0">
                <a:latin typeface="+mn-lt"/>
              </a:rPr>
              <a:t>encapsulated</a:t>
            </a:r>
            <a:r>
              <a:rPr sz="2600" spc="75" dirty="0">
                <a:latin typeface="+mn-lt"/>
              </a:rPr>
              <a:t> </a:t>
            </a:r>
            <a:r>
              <a:rPr sz="2600" spc="-60" dirty="0">
                <a:latin typeface="+mn-lt"/>
              </a:rPr>
              <a:t>into</a:t>
            </a:r>
            <a:r>
              <a:rPr sz="2600" spc="-130" dirty="0">
                <a:latin typeface="+mn-lt"/>
              </a:rPr>
              <a:t> </a:t>
            </a:r>
            <a:r>
              <a:rPr sz="2600" spc="-254" dirty="0">
                <a:latin typeface="+mn-lt"/>
              </a:rPr>
              <a:t>a</a:t>
            </a:r>
            <a:r>
              <a:rPr sz="2600" spc="10" dirty="0">
                <a:latin typeface="+mn-lt"/>
              </a:rPr>
              <a:t> </a:t>
            </a:r>
            <a:r>
              <a:rPr sz="2600" spc="-10" dirty="0">
                <a:latin typeface="+mn-lt"/>
              </a:rPr>
              <a:t>single,</a:t>
            </a:r>
            <a:endParaRPr sz="2600" dirty="0">
              <a:latin typeface="+mn-lt"/>
            </a:endParaRPr>
          </a:p>
          <a:p>
            <a:pPr marL="33020">
              <a:lnSpc>
                <a:spcPts val="3275"/>
              </a:lnSpc>
            </a:pPr>
            <a:r>
              <a:rPr sz="2600" spc="-204" dirty="0">
                <a:latin typeface="+mn-lt"/>
              </a:rPr>
              <a:t>serialised</a:t>
            </a:r>
            <a:r>
              <a:rPr sz="2600" spc="-15" dirty="0">
                <a:latin typeface="+mn-lt"/>
              </a:rPr>
              <a:t> </a:t>
            </a:r>
            <a:r>
              <a:rPr sz="2600" spc="-185" dirty="0">
                <a:latin typeface="+mn-lt"/>
              </a:rPr>
              <a:t>pipeline</a:t>
            </a:r>
            <a:r>
              <a:rPr sz="2600" spc="35" dirty="0">
                <a:latin typeface="+mn-lt"/>
              </a:rPr>
              <a:t> </a:t>
            </a:r>
            <a:r>
              <a:rPr sz="2600" spc="-165" dirty="0">
                <a:latin typeface="+mn-lt"/>
              </a:rPr>
              <a:t>object</a:t>
            </a:r>
            <a:r>
              <a:rPr sz="2600" spc="-10" dirty="0">
                <a:latin typeface="+mn-lt"/>
              </a:rPr>
              <a:t> </a:t>
            </a:r>
            <a:r>
              <a:rPr sz="2600" spc="-145" dirty="0">
                <a:latin typeface="+mn-lt"/>
              </a:rPr>
              <a:t>for</a:t>
            </a:r>
            <a:r>
              <a:rPr sz="2600" spc="-75" dirty="0">
                <a:latin typeface="+mn-lt"/>
              </a:rPr>
              <a:t> </a:t>
            </a:r>
            <a:r>
              <a:rPr sz="2600" spc="-165" dirty="0">
                <a:latin typeface="+mn-lt"/>
              </a:rPr>
              <a:t>robust</a:t>
            </a:r>
            <a:r>
              <a:rPr sz="2600" spc="30" dirty="0">
                <a:latin typeface="+mn-lt"/>
              </a:rPr>
              <a:t> </a:t>
            </a:r>
            <a:r>
              <a:rPr sz="2600" spc="-95" dirty="0">
                <a:latin typeface="+mn-lt"/>
              </a:rPr>
              <a:t>deployment.</a:t>
            </a:r>
            <a:endParaRPr sz="2600" dirty="0">
              <a:latin typeface="+mn-lt"/>
            </a:endParaRPr>
          </a:p>
        </p:txBody>
      </p:sp>
      <p:sp>
        <p:nvSpPr>
          <p:cNvPr id="5" name="object 5"/>
          <p:cNvSpPr txBox="1"/>
          <p:nvPr/>
        </p:nvSpPr>
        <p:spPr>
          <a:xfrm>
            <a:off x="1417074" y="8184444"/>
            <a:ext cx="1008380" cy="300990"/>
          </a:xfrm>
          <a:prstGeom prst="rect">
            <a:avLst/>
          </a:prstGeom>
          <a:solidFill>
            <a:srgbClr val="F1F2EC"/>
          </a:solidFill>
        </p:spPr>
        <p:txBody>
          <a:bodyPr vert="horz" wrap="square" lIns="0" tIns="13335" rIns="0" bIns="0" rtlCol="0">
            <a:spAutoFit/>
          </a:bodyPr>
          <a:lstStyle/>
          <a:p>
            <a:pPr marL="12700" algn="ctr">
              <a:lnSpc>
                <a:spcPct val="100000"/>
              </a:lnSpc>
              <a:spcBef>
                <a:spcPts val="105"/>
              </a:spcBef>
            </a:pPr>
            <a:r>
              <a:rPr sz="1800" b="1" dirty="0">
                <a:solidFill>
                  <a:srgbClr val="07243D"/>
                </a:solidFill>
                <a:latin typeface="+mn-lt"/>
                <a:cs typeface="Arial MT"/>
              </a:rPr>
              <a:t>Raw</a:t>
            </a:r>
            <a:r>
              <a:rPr sz="1800" b="1" spc="-120" dirty="0">
                <a:solidFill>
                  <a:srgbClr val="07243D"/>
                </a:solidFill>
                <a:latin typeface="+mn-lt"/>
                <a:cs typeface="Arial MT"/>
              </a:rPr>
              <a:t> </a:t>
            </a:r>
            <a:r>
              <a:rPr sz="1800" b="1" spc="-20" dirty="0">
                <a:solidFill>
                  <a:srgbClr val="07243D"/>
                </a:solidFill>
                <a:latin typeface="+mn-lt"/>
                <a:cs typeface="Arial MT"/>
              </a:rPr>
              <a:t>Data</a:t>
            </a:r>
            <a:endParaRPr sz="1800" b="1" dirty="0">
              <a:solidFill>
                <a:srgbClr val="07243D"/>
              </a:solidFill>
              <a:latin typeface="+mn-lt"/>
              <a:cs typeface="Arial MT"/>
            </a:endParaRPr>
          </a:p>
        </p:txBody>
      </p:sp>
      <p:sp>
        <p:nvSpPr>
          <p:cNvPr id="6" name="object 6"/>
          <p:cNvSpPr txBox="1"/>
          <p:nvPr/>
        </p:nvSpPr>
        <p:spPr>
          <a:xfrm>
            <a:off x="3694199" y="8184444"/>
            <a:ext cx="1630045" cy="332740"/>
          </a:xfrm>
          <a:prstGeom prst="rect">
            <a:avLst/>
          </a:prstGeom>
          <a:solidFill>
            <a:srgbClr val="F1F2EC"/>
          </a:solidFill>
        </p:spPr>
        <p:txBody>
          <a:bodyPr vert="horz" wrap="square" lIns="0" tIns="13970" rIns="0" bIns="0" rtlCol="0">
            <a:spAutoFit/>
          </a:bodyPr>
          <a:lstStyle/>
          <a:p>
            <a:pPr marL="12700" algn="ctr">
              <a:lnSpc>
                <a:spcPct val="100000"/>
              </a:lnSpc>
              <a:spcBef>
                <a:spcPts val="110"/>
              </a:spcBef>
            </a:pPr>
            <a:r>
              <a:rPr lang="en-PH" sz="2000" b="1" spc="-85" dirty="0">
                <a:solidFill>
                  <a:srgbClr val="07243D"/>
                </a:solidFill>
                <a:latin typeface="+mn-lt"/>
                <a:cs typeface="Arial MT"/>
              </a:rPr>
              <a:t>Standard Scaler</a:t>
            </a:r>
            <a:endParaRPr sz="2000" b="1" dirty="0">
              <a:solidFill>
                <a:srgbClr val="07243D"/>
              </a:solidFill>
              <a:latin typeface="+mn-lt"/>
              <a:cs typeface="Arial MT"/>
            </a:endParaRPr>
          </a:p>
        </p:txBody>
      </p:sp>
      <p:sp>
        <p:nvSpPr>
          <p:cNvPr id="8" name="object 8"/>
          <p:cNvSpPr txBox="1"/>
          <p:nvPr/>
        </p:nvSpPr>
        <p:spPr>
          <a:xfrm>
            <a:off x="9047385" y="7958666"/>
            <a:ext cx="2160270" cy="876300"/>
          </a:xfrm>
          <a:prstGeom prst="rect">
            <a:avLst/>
          </a:prstGeom>
          <a:solidFill>
            <a:srgbClr val="F1F2EC"/>
          </a:solidFill>
        </p:spPr>
        <p:txBody>
          <a:bodyPr vert="horz" wrap="square" lIns="0" tIns="63500" rIns="0" bIns="0" rtlCol="0">
            <a:spAutoFit/>
          </a:bodyPr>
          <a:lstStyle/>
          <a:p>
            <a:pPr marL="12700" marR="5080" algn="ctr">
              <a:lnSpc>
                <a:spcPts val="2100"/>
              </a:lnSpc>
              <a:spcBef>
                <a:spcPts val="500"/>
              </a:spcBef>
            </a:pPr>
            <a:r>
              <a:rPr sz="2050" b="1" spc="-105" dirty="0">
                <a:solidFill>
                  <a:srgbClr val="9A542F"/>
                </a:solidFill>
                <a:latin typeface="+mn-lt"/>
                <a:cs typeface="Arial MT"/>
              </a:rPr>
              <a:t>Principal</a:t>
            </a:r>
            <a:r>
              <a:rPr sz="2050" b="1" spc="-10" dirty="0">
                <a:solidFill>
                  <a:srgbClr val="9A542F"/>
                </a:solidFill>
                <a:latin typeface="+mn-lt"/>
                <a:cs typeface="Arial MT"/>
              </a:rPr>
              <a:t> </a:t>
            </a:r>
            <a:r>
              <a:rPr sz="2050" b="1" spc="-150" dirty="0">
                <a:solidFill>
                  <a:srgbClr val="9A542F"/>
                </a:solidFill>
                <a:latin typeface="+mn-lt"/>
                <a:cs typeface="Arial MT"/>
              </a:rPr>
              <a:t>Component </a:t>
            </a:r>
            <a:r>
              <a:rPr sz="2050" b="1" spc="-120" dirty="0">
                <a:solidFill>
                  <a:srgbClr val="9A542F"/>
                </a:solidFill>
                <a:latin typeface="+mn-lt"/>
                <a:cs typeface="Arial MT"/>
              </a:rPr>
              <a:t>Analysis</a:t>
            </a:r>
            <a:r>
              <a:rPr sz="2050" b="1" spc="-10" dirty="0">
                <a:solidFill>
                  <a:srgbClr val="9A542F"/>
                </a:solidFill>
                <a:latin typeface="+mn-lt"/>
                <a:cs typeface="Arial MT"/>
              </a:rPr>
              <a:t> </a:t>
            </a:r>
            <a:r>
              <a:rPr sz="2050" b="1" spc="-20" dirty="0">
                <a:solidFill>
                  <a:srgbClr val="9A542F"/>
                </a:solidFill>
                <a:latin typeface="+mn-lt"/>
                <a:cs typeface="Arial MT"/>
              </a:rPr>
              <a:t>(PCA)</a:t>
            </a:r>
            <a:endParaRPr sz="2050" b="1" dirty="0">
              <a:solidFill>
                <a:srgbClr val="9A542F"/>
              </a:solidFill>
              <a:latin typeface="+mn-lt"/>
              <a:cs typeface="Arial MT"/>
            </a:endParaRPr>
          </a:p>
          <a:p>
            <a:pPr marL="5080" algn="ctr">
              <a:lnSpc>
                <a:spcPts val="2090"/>
              </a:lnSpc>
            </a:pPr>
            <a:r>
              <a:rPr sz="2050" b="1" spc="-150" dirty="0">
                <a:solidFill>
                  <a:srgbClr val="9A542F"/>
                </a:solidFill>
                <a:latin typeface="+mn-lt"/>
                <a:cs typeface="Arial MT"/>
              </a:rPr>
              <a:t>(</a:t>
            </a:r>
            <a:r>
              <a:rPr lang="en-PH" sz="2050" b="1" spc="-150" dirty="0">
                <a:solidFill>
                  <a:srgbClr val="9A542F"/>
                </a:solidFill>
                <a:latin typeface="+mn-lt"/>
                <a:cs typeface="Arial MT"/>
              </a:rPr>
              <a:t>8</a:t>
            </a:r>
            <a:r>
              <a:rPr sz="2050" b="1" spc="-90" dirty="0">
                <a:solidFill>
                  <a:srgbClr val="9A542F"/>
                </a:solidFill>
                <a:latin typeface="+mn-lt"/>
                <a:cs typeface="Arial MT"/>
              </a:rPr>
              <a:t> </a:t>
            </a:r>
            <a:r>
              <a:rPr sz="2050" b="1" spc="-60" dirty="0">
                <a:solidFill>
                  <a:srgbClr val="9A542F"/>
                </a:solidFill>
                <a:latin typeface="+mn-lt"/>
                <a:cs typeface="Arial MT"/>
              </a:rPr>
              <a:t>Components)</a:t>
            </a:r>
            <a:endParaRPr sz="2050" b="1" dirty="0">
              <a:solidFill>
                <a:srgbClr val="9A542F"/>
              </a:solidFill>
              <a:latin typeface="+mn-lt"/>
              <a:cs typeface="Arial MT"/>
            </a:endParaRPr>
          </a:p>
        </p:txBody>
      </p:sp>
      <p:sp>
        <p:nvSpPr>
          <p:cNvPr id="10" name="object 10"/>
          <p:cNvSpPr txBox="1"/>
          <p:nvPr/>
        </p:nvSpPr>
        <p:spPr>
          <a:xfrm>
            <a:off x="15004364" y="8157985"/>
            <a:ext cx="1049020" cy="332740"/>
          </a:xfrm>
          <a:prstGeom prst="rect">
            <a:avLst/>
          </a:prstGeom>
          <a:solidFill>
            <a:srgbClr val="F1F2EC"/>
          </a:solidFill>
        </p:spPr>
        <p:txBody>
          <a:bodyPr vert="horz" wrap="square" lIns="0" tIns="13970" rIns="0" bIns="0" rtlCol="0">
            <a:spAutoFit/>
          </a:bodyPr>
          <a:lstStyle/>
          <a:p>
            <a:pPr marL="12700">
              <a:lnSpc>
                <a:spcPct val="100000"/>
              </a:lnSpc>
              <a:spcBef>
                <a:spcPts val="110"/>
              </a:spcBef>
            </a:pPr>
            <a:r>
              <a:rPr sz="2000" b="1" spc="-85" dirty="0">
                <a:solidFill>
                  <a:srgbClr val="07243D"/>
                </a:solidFill>
                <a:latin typeface="+mn-lt"/>
                <a:cs typeface="Arial MT"/>
              </a:rPr>
              <a:t>Prediction</a:t>
            </a:r>
            <a:endParaRPr sz="2000" b="1" dirty="0">
              <a:solidFill>
                <a:srgbClr val="07243D"/>
              </a:solidFill>
              <a:latin typeface="+mn-lt"/>
              <a:cs typeface="Arial MT"/>
            </a:endParaRPr>
          </a:p>
        </p:txBody>
      </p:sp>
      <p:sp>
        <p:nvSpPr>
          <p:cNvPr id="14" name="object 8">
            <a:extLst>
              <a:ext uri="{FF2B5EF4-FFF2-40B4-BE49-F238E27FC236}">
                <a16:creationId xmlns:a16="http://schemas.microsoft.com/office/drawing/2014/main" id="{B42BF02E-3E33-4A1D-8A1C-8EF336B121CA}"/>
              </a:ext>
            </a:extLst>
          </p:cNvPr>
          <p:cNvSpPr txBox="1"/>
          <p:nvPr/>
        </p:nvSpPr>
        <p:spPr>
          <a:xfrm>
            <a:off x="6133184" y="7960881"/>
            <a:ext cx="2160270" cy="874085"/>
          </a:xfrm>
          <a:prstGeom prst="rect">
            <a:avLst/>
          </a:prstGeom>
          <a:solidFill>
            <a:srgbClr val="F1F2EC"/>
          </a:solidFill>
        </p:spPr>
        <p:txBody>
          <a:bodyPr vert="horz" wrap="square" lIns="0" tIns="63500" rIns="0" bIns="0" rtlCol="0">
            <a:spAutoFit/>
          </a:bodyPr>
          <a:lstStyle/>
          <a:p>
            <a:pPr marL="12700" marR="5080" algn="ctr">
              <a:lnSpc>
                <a:spcPts val="2100"/>
              </a:lnSpc>
              <a:spcBef>
                <a:spcPts val="500"/>
              </a:spcBef>
            </a:pPr>
            <a:r>
              <a:rPr lang="en-PH" sz="2050" b="1" spc="-105" dirty="0">
                <a:solidFill>
                  <a:srgbClr val="07243D"/>
                </a:solidFill>
                <a:latin typeface="+mn-lt"/>
                <a:cs typeface="Arial MT"/>
              </a:rPr>
              <a:t>Recursive Feature Elimination (RFE) – Top 10 </a:t>
            </a:r>
            <a:endParaRPr sz="2050" b="1" dirty="0">
              <a:solidFill>
                <a:srgbClr val="07243D"/>
              </a:solidFill>
              <a:latin typeface="+mn-lt"/>
              <a:cs typeface="Arial MT"/>
            </a:endParaRPr>
          </a:p>
        </p:txBody>
      </p:sp>
      <p:pic>
        <p:nvPicPr>
          <p:cNvPr id="16" name="Picture 15">
            <a:extLst>
              <a:ext uri="{FF2B5EF4-FFF2-40B4-BE49-F238E27FC236}">
                <a16:creationId xmlns:a16="http://schemas.microsoft.com/office/drawing/2014/main" id="{A8895640-7379-623A-90CB-B82CD5032FB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439007" y="7202327"/>
            <a:ext cx="1088172" cy="1088172"/>
          </a:xfrm>
          <a:prstGeom prst="rect">
            <a:avLst/>
          </a:prstGeom>
          <a:solidFill>
            <a:srgbClr val="F1F2EC"/>
          </a:solidFill>
        </p:spPr>
      </p:pic>
      <p:sp>
        <p:nvSpPr>
          <p:cNvPr id="9" name="object 9"/>
          <p:cNvSpPr txBox="1"/>
          <p:nvPr/>
        </p:nvSpPr>
        <p:spPr>
          <a:xfrm>
            <a:off x="12171201" y="8085666"/>
            <a:ext cx="1575435" cy="604781"/>
          </a:xfrm>
          <a:prstGeom prst="rect">
            <a:avLst/>
          </a:prstGeom>
          <a:solidFill>
            <a:srgbClr val="F1F2EC"/>
          </a:solidFill>
        </p:spPr>
        <p:txBody>
          <a:bodyPr vert="horz" wrap="square" lIns="0" tIns="63500" rIns="0" bIns="0" rtlCol="0">
            <a:spAutoFit/>
          </a:bodyPr>
          <a:lstStyle/>
          <a:p>
            <a:pPr marR="5080" indent="12700" algn="ctr">
              <a:lnSpc>
                <a:spcPts val="2100"/>
              </a:lnSpc>
              <a:spcBef>
                <a:spcPts val="500"/>
              </a:spcBef>
            </a:pPr>
            <a:r>
              <a:rPr lang="en-PH" sz="2050" b="1" spc="-200" dirty="0">
                <a:solidFill>
                  <a:srgbClr val="9A542F"/>
                </a:solidFill>
                <a:latin typeface="+mn-lt"/>
                <a:cs typeface="Arial MT"/>
              </a:rPr>
              <a:t>Support Vector Machine (SVM)</a:t>
            </a:r>
            <a:endParaRPr sz="2050" b="1" dirty="0">
              <a:solidFill>
                <a:srgbClr val="9A542F"/>
              </a:solidFill>
              <a:latin typeface="+mn-lt"/>
              <a:cs typeface="Arial M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1F2EC"/>
        </a:solidFill>
        <a:effectLst/>
      </p:bgPr>
    </p:bg>
    <p:spTree>
      <p:nvGrpSpPr>
        <p:cNvPr id="1" name=""/>
        <p:cNvGrpSpPr/>
        <p:nvPr/>
      </p:nvGrpSpPr>
      <p:grpSpPr>
        <a:xfrm>
          <a:off x="0" y="0"/>
          <a:ext cx="0" cy="0"/>
          <a:chOff x="0" y="0"/>
          <a:chExt cx="0" cy="0"/>
        </a:xfrm>
      </p:grpSpPr>
      <p:sp>
        <p:nvSpPr>
          <p:cNvPr id="7" name="object 7"/>
          <p:cNvSpPr txBox="1">
            <a:spLocks noGrp="1"/>
          </p:cNvSpPr>
          <p:nvPr>
            <p:ph type="title"/>
          </p:nvPr>
        </p:nvSpPr>
        <p:spPr>
          <a:xfrm>
            <a:off x="729684" y="337608"/>
            <a:ext cx="16313716" cy="750205"/>
          </a:xfrm>
          <a:prstGeom prst="rect">
            <a:avLst/>
          </a:prstGeom>
        </p:spPr>
        <p:txBody>
          <a:bodyPr vert="horz" wrap="square" lIns="0" tIns="11430" rIns="0" bIns="0" rtlCol="0">
            <a:spAutoFit/>
          </a:bodyPr>
          <a:lstStyle/>
          <a:p>
            <a:pPr marL="8890">
              <a:lnSpc>
                <a:spcPct val="100000"/>
              </a:lnSpc>
              <a:spcBef>
                <a:spcPts val="90"/>
              </a:spcBef>
            </a:pPr>
            <a:r>
              <a:rPr dirty="0">
                <a:solidFill>
                  <a:srgbClr val="242424"/>
                </a:solidFill>
                <a:latin typeface="+mn-lt"/>
                <a:cs typeface="Times New Roman"/>
              </a:rPr>
              <a:t>Building </a:t>
            </a:r>
            <a:r>
              <a:rPr dirty="0">
                <a:solidFill>
                  <a:srgbClr val="212121"/>
                </a:solidFill>
                <a:latin typeface="+mn-lt"/>
                <a:cs typeface="Times New Roman"/>
              </a:rPr>
              <a:t>Trust: Understanding </a:t>
            </a:r>
            <a:r>
              <a:rPr dirty="0">
                <a:solidFill>
                  <a:srgbClr val="262626"/>
                </a:solidFill>
                <a:latin typeface="+mn-lt"/>
                <a:cs typeface="Times New Roman"/>
              </a:rPr>
              <a:t>the </a:t>
            </a:r>
            <a:r>
              <a:rPr dirty="0">
                <a:solidFill>
                  <a:srgbClr val="1D1D1D"/>
                </a:solidFill>
                <a:latin typeface="+mn-lt"/>
                <a:cs typeface="Times New Roman"/>
              </a:rPr>
              <a:t>Model's </a:t>
            </a:r>
            <a:r>
              <a:rPr dirty="0">
                <a:solidFill>
                  <a:srgbClr val="1F1F1F"/>
                </a:solidFill>
                <a:latin typeface="+mn-lt"/>
                <a:cs typeface="Times New Roman"/>
              </a:rPr>
              <a:t>Logic </a:t>
            </a:r>
            <a:r>
              <a:rPr dirty="0">
                <a:solidFill>
                  <a:srgbClr val="232323"/>
                </a:solidFill>
                <a:latin typeface="+mn-lt"/>
                <a:cs typeface="Times New Roman"/>
              </a:rPr>
              <a:t>on </a:t>
            </a:r>
            <a:r>
              <a:rPr dirty="0">
                <a:solidFill>
                  <a:srgbClr val="2D2D2D"/>
                </a:solidFill>
                <a:latin typeface="+mn-lt"/>
                <a:cs typeface="Times New Roman"/>
              </a:rPr>
              <a:t>a </a:t>
            </a:r>
            <a:r>
              <a:rPr dirty="0">
                <a:solidFill>
                  <a:srgbClr val="232323"/>
                </a:solidFill>
                <a:latin typeface="+mn-lt"/>
                <a:cs typeface="Times New Roman"/>
              </a:rPr>
              <a:t>Global Scale</a:t>
            </a:r>
          </a:p>
        </p:txBody>
      </p:sp>
      <p:sp>
        <p:nvSpPr>
          <p:cNvPr id="8" name="object 8"/>
          <p:cNvSpPr txBox="1"/>
          <p:nvPr/>
        </p:nvSpPr>
        <p:spPr>
          <a:xfrm>
            <a:off x="727630" y="1066800"/>
            <a:ext cx="16313716" cy="1048813"/>
          </a:xfrm>
          <a:prstGeom prst="rect">
            <a:avLst/>
          </a:prstGeom>
        </p:spPr>
        <p:txBody>
          <a:bodyPr vert="horz" wrap="square" lIns="0" tIns="85090" rIns="0" bIns="0" rtlCol="0">
            <a:spAutoFit/>
          </a:bodyPr>
          <a:lstStyle/>
          <a:p>
            <a:pPr marL="12700" marR="5080" indent="1270">
              <a:lnSpc>
                <a:spcPts val="2500"/>
              </a:lnSpc>
              <a:spcBef>
                <a:spcPts val="670"/>
              </a:spcBef>
            </a:pPr>
            <a:r>
              <a:rPr sz="2400" dirty="0">
                <a:latin typeface="+mn-lt"/>
                <a:cs typeface="Arial MT"/>
              </a:rPr>
              <a:t>To ensure the model is not a 'black box', </a:t>
            </a:r>
            <a:r>
              <a:rPr sz="2400" b="1" dirty="0">
                <a:latin typeface="+mn-lt"/>
                <a:cs typeface="Arial MT"/>
              </a:rPr>
              <a:t>SHAP</a:t>
            </a:r>
            <a:r>
              <a:rPr sz="2400" dirty="0">
                <a:latin typeface="+mn-lt"/>
                <a:cs typeface="Arial MT"/>
              </a:rPr>
              <a:t> (</a:t>
            </a:r>
            <a:r>
              <a:rPr sz="2400" b="1" dirty="0">
                <a:latin typeface="+mn-lt"/>
                <a:cs typeface="Arial MT"/>
              </a:rPr>
              <a:t>SH</a:t>
            </a:r>
            <a:r>
              <a:rPr lang="en-PH" sz="2400" dirty="0">
                <a:latin typeface="+mn-lt"/>
                <a:cs typeface="Arial MT"/>
              </a:rPr>
              <a:t>ap</a:t>
            </a:r>
            <a:r>
              <a:rPr sz="2400" dirty="0">
                <a:latin typeface="+mn-lt"/>
                <a:cs typeface="Arial MT"/>
              </a:rPr>
              <a:t>ley </a:t>
            </a:r>
            <a:r>
              <a:rPr sz="2400" b="1" dirty="0">
                <a:latin typeface="+mn-lt"/>
                <a:cs typeface="Arial MT"/>
              </a:rPr>
              <a:t>A</a:t>
            </a:r>
            <a:r>
              <a:rPr sz="2400" dirty="0">
                <a:latin typeface="+mn-lt"/>
                <a:cs typeface="Arial MT"/>
              </a:rPr>
              <a:t>dditive ex</a:t>
            </a:r>
            <a:r>
              <a:rPr lang="en-PH" sz="2400" b="1" dirty="0">
                <a:latin typeface="+mn-lt"/>
                <a:cs typeface="Arial MT"/>
              </a:rPr>
              <a:t>P</a:t>
            </a:r>
            <a:r>
              <a:rPr sz="2400" dirty="0" err="1">
                <a:latin typeface="+mn-lt"/>
                <a:cs typeface="Arial MT"/>
              </a:rPr>
              <a:t>lanations</a:t>
            </a:r>
            <a:r>
              <a:rPr sz="2400" dirty="0">
                <a:latin typeface="+mn-lt"/>
                <a:cs typeface="Arial MT"/>
              </a:rPr>
              <a:t>) values were calculated. This reveals how each feature impacts the model's output across the entire dataset. The plot below shows the top 20 features, ranked by their importance.</a:t>
            </a:r>
          </a:p>
        </p:txBody>
      </p:sp>
      <p:sp>
        <p:nvSpPr>
          <p:cNvPr id="14" name="object 14"/>
          <p:cNvSpPr txBox="1"/>
          <p:nvPr/>
        </p:nvSpPr>
        <p:spPr>
          <a:xfrm>
            <a:off x="6527800" y="1667127"/>
            <a:ext cx="10744200" cy="7940379"/>
          </a:xfrm>
          <a:prstGeom prst="rect">
            <a:avLst/>
          </a:prstGeom>
        </p:spPr>
        <p:txBody>
          <a:bodyPr vert="horz" wrap="square" lIns="0" tIns="128905" rIns="0" bIns="0" rtlCol="0">
            <a:spAutoFit/>
          </a:bodyPr>
          <a:lstStyle/>
          <a:p>
            <a:pPr marL="12700">
              <a:lnSpc>
                <a:spcPct val="100000"/>
              </a:lnSpc>
              <a:spcBef>
                <a:spcPts val="1015"/>
              </a:spcBef>
            </a:pPr>
            <a:r>
              <a:rPr sz="2800" b="1" dirty="0">
                <a:solidFill>
                  <a:srgbClr val="161616"/>
                </a:solidFill>
                <a:latin typeface="+mn-lt"/>
                <a:cs typeface="Cambria"/>
              </a:rPr>
              <a:t>Interpretation</a:t>
            </a:r>
            <a:endParaRPr sz="2800" b="1" dirty="0">
              <a:latin typeface="+mn-lt"/>
              <a:cs typeface="Cambria"/>
            </a:endParaRPr>
          </a:p>
          <a:p>
            <a:pPr marL="382270" indent="-233045">
              <a:lnSpc>
                <a:spcPts val="2640"/>
              </a:lnSpc>
              <a:spcBef>
                <a:spcPts val="660"/>
              </a:spcBef>
              <a:buChar char="•"/>
              <a:tabLst>
                <a:tab pos="382270" algn="l"/>
              </a:tabLst>
            </a:pPr>
            <a:r>
              <a:rPr sz="2400" b="1" dirty="0">
                <a:latin typeface="+mn-lt"/>
                <a:cs typeface="Arial MT"/>
              </a:rPr>
              <a:t>Horizontal Axis</a:t>
            </a:r>
          </a:p>
          <a:p>
            <a:pPr marL="382270" marR="617220" indent="4445">
              <a:lnSpc>
                <a:spcPct val="82100"/>
              </a:lnSpc>
              <a:spcBef>
                <a:spcPts val="275"/>
              </a:spcBef>
            </a:pPr>
            <a:r>
              <a:rPr sz="2400" dirty="0">
                <a:latin typeface="+mn-lt"/>
                <a:cs typeface="Arial MT"/>
              </a:rPr>
              <a:t>The SHAP value (impact on model output). Positive values push the</a:t>
            </a:r>
            <a:r>
              <a:rPr lang="en-PH" sz="2400" dirty="0">
                <a:latin typeface="+mn-lt"/>
                <a:cs typeface="Arial MT"/>
              </a:rPr>
              <a:t> </a:t>
            </a:r>
            <a:r>
              <a:rPr sz="2400" dirty="0">
                <a:latin typeface="+mn-lt"/>
                <a:cs typeface="Arial MT"/>
              </a:rPr>
              <a:t>prediction towards "Dropout".</a:t>
            </a:r>
          </a:p>
          <a:p>
            <a:pPr marL="380365" indent="-231775">
              <a:lnSpc>
                <a:spcPts val="2875"/>
              </a:lnSpc>
              <a:spcBef>
                <a:spcPts val="1590"/>
              </a:spcBef>
              <a:buChar char="•"/>
              <a:tabLst>
                <a:tab pos="380365" algn="l"/>
              </a:tabLst>
            </a:pPr>
            <a:r>
              <a:rPr sz="2400" b="1" dirty="0">
                <a:latin typeface="+mn-lt"/>
                <a:cs typeface="Arial MT"/>
              </a:rPr>
              <a:t>Feature Importance</a:t>
            </a:r>
          </a:p>
          <a:p>
            <a:pPr marL="387985" marR="602615" indent="5080">
              <a:lnSpc>
                <a:spcPts val="2500"/>
              </a:lnSpc>
              <a:spcBef>
                <a:spcPts val="75"/>
              </a:spcBef>
            </a:pPr>
            <a:r>
              <a:rPr sz="2400" dirty="0">
                <a:latin typeface="+mn-lt"/>
                <a:cs typeface="Arial MT"/>
              </a:rPr>
              <a:t>"Curricular units 2nd sem (approved)" is the most important feature.</a:t>
            </a:r>
          </a:p>
          <a:p>
            <a:pPr marL="384175" indent="-233679">
              <a:lnSpc>
                <a:spcPts val="2520"/>
              </a:lnSpc>
              <a:spcBef>
                <a:spcPts val="1900"/>
              </a:spcBef>
              <a:buChar char="•"/>
              <a:tabLst>
                <a:tab pos="384175" algn="l"/>
              </a:tabLst>
            </a:pPr>
            <a:r>
              <a:rPr sz="2400" b="1" dirty="0">
                <a:latin typeface="+mn-lt"/>
                <a:cs typeface="Arial MT"/>
              </a:rPr>
              <a:t>How to Read</a:t>
            </a:r>
            <a:endParaRPr lang="en-PH" sz="2400" b="1" dirty="0">
              <a:latin typeface="+mn-lt"/>
              <a:cs typeface="Arial MT"/>
            </a:endParaRPr>
          </a:p>
          <a:p>
            <a:pPr marL="711200" lvl="1" indent="-342900">
              <a:lnSpc>
                <a:spcPts val="3240"/>
              </a:lnSpc>
              <a:spcBef>
                <a:spcPts val="114"/>
              </a:spcBef>
              <a:buFont typeface="Wingdings" panose="05000000000000000000" pitchFamily="2" charset="2"/>
              <a:buChar char="§"/>
            </a:pPr>
            <a:r>
              <a:rPr lang="en-US" sz="2400" dirty="0">
                <a:latin typeface="Calibri"/>
                <a:cs typeface="Calibri"/>
              </a:rPr>
              <a:t>Y-axis: Features ranked by importance (top = most influential)</a:t>
            </a:r>
          </a:p>
          <a:p>
            <a:pPr marL="711200" indent="-342900">
              <a:lnSpc>
                <a:spcPts val="3240"/>
              </a:lnSpc>
              <a:spcBef>
                <a:spcPts val="114"/>
              </a:spcBef>
              <a:buFont typeface="Wingdings" panose="05000000000000000000" pitchFamily="2" charset="2"/>
              <a:buChar char="§"/>
            </a:pPr>
            <a:r>
              <a:rPr lang="en-US" sz="2400" dirty="0">
                <a:latin typeface="Calibri"/>
                <a:cs typeface="Calibri"/>
              </a:rPr>
              <a:t>X-axis: SHAP value = impact on model output (positive = pushes toward dropout, negative = pushes away)</a:t>
            </a:r>
          </a:p>
          <a:p>
            <a:pPr marL="711200" indent="-342900">
              <a:lnSpc>
                <a:spcPts val="3240"/>
              </a:lnSpc>
              <a:spcBef>
                <a:spcPts val="114"/>
              </a:spcBef>
              <a:buFont typeface="Wingdings" panose="05000000000000000000" pitchFamily="2" charset="2"/>
              <a:buChar char="§"/>
            </a:pPr>
            <a:r>
              <a:rPr lang="en-US" sz="2400" dirty="0">
                <a:latin typeface="Calibri"/>
                <a:cs typeface="Calibri"/>
              </a:rPr>
              <a:t>Dots: Each dot = one student</a:t>
            </a:r>
          </a:p>
          <a:p>
            <a:pPr marL="987425" indent="-342900">
              <a:lnSpc>
                <a:spcPts val="3240"/>
              </a:lnSpc>
              <a:spcBef>
                <a:spcPts val="114"/>
              </a:spcBef>
              <a:buFont typeface="Wingdings" panose="05000000000000000000" pitchFamily="2" charset="2"/>
              <a:buChar char="Ø"/>
            </a:pPr>
            <a:r>
              <a:rPr lang="en-US" sz="2400" dirty="0">
                <a:latin typeface="Calibri"/>
                <a:cs typeface="Calibri"/>
              </a:rPr>
              <a:t>Color: Feature value (blue = low, red = high)</a:t>
            </a:r>
          </a:p>
          <a:p>
            <a:pPr marL="987425" indent="-342900">
              <a:lnSpc>
                <a:spcPts val="3240"/>
              </a:lnSpc>
              <a:spcBef>
                <a:spcPts val="114"/>
              </a:spcBef>
              <a:buFont typeface="Wingdings" panose="05000000000000000000" pitchFamily="2" charset="2"/>
              <a:buChar char="Ø"/>
            </a:pPr>
            <a:r>
              <a:rPr lang="en-US" sz="2400" dirty="0">
                <a:latin typeface="Calibri"/>
                <a:cs typeface="Calibri"/>
              </a:rPr>
              <a:t>Position: SHAP value (left = pushes toward dropout, right = pushes away)</a:t>
            </a:r>
            <a:endParaRPr lang="en-US" sz="2400" dirty="0">
              <a:latin typeface="+mn-lt"/>
              <a:cs typeface="Arial MT"/>
            </a:endParaRPr>
          </a:p>
          <a:p>
            <a:pPr marL="387985" marR="5080" indent="-5080">
              <a:lnSpc>
                <a:spcPct val="93800"/>
              </a:lnSpc>
              <a:spcBef>
                <a:spcPts val="45"/>
              </a:spcBef>
            </a:pPr>
            <a:r>
              <a:rPr lang="en-US" sz="2400" dirty="0">
                <a:latin typeface="+mn-lt"/>
                <a:cs typeface="Arial MT"/>
              </a:rPr>
              <a:t>For the top feature, low values (blue dots) have a high positive SHAP value, strongly increasing the likelihood of a "Dropout" prediction. High values (red dots) have a negative SHAP value, decreasing that likelihood.</a:t>
            </a:r>
          </a:p>
          <a:p>
            <a:pPr marL="386080" indent="-235585">
              <a:lnSpc>
                <a:spcPts val="2545"/>
              </a:lnSpc>
              <a:spcBef>
                <a:spcPts val="1960"/>
              </a:spcBef>
              <a:buChar char="•"/>
              <a:tabLst>
                <a:tab pos="386080" algn="l"/>
              </a:tabLst>
            </a:pPr>
            <a:r>
              <a:rPr sz="2400" b="1" dirty="0">
                <a:latin typeface="+mn-lt"/>
                <a:cs typeface="Arial MT"/>
              </a:rPr>
              <a:t>Key Insight</a:t>
            </a:r>
          </a:p>
          <a:p>
            <a:pPr marL="388620" marR="434975" indent="-3175">
              <a:lnSpc>
                <a:spcPct val="92200"/>
              </a:lnSpc>
              <a:spcBef>
                <a:spcPts val="105"/>
              </a:spcBef>
            </a:pPr>
            <a:r>
              <a:rPr sz="2400" dirty="0">
                <a:latin typeface="+mn-lt"/>
                <a:cs typeface="Arial MT"/>
              </a:rPr>
              <a:t>Poor academic performance (low approved units, low grades) is the single most powerful driver of a ’Dropout" prediction.</a:t>
            </a:r>
          </a:p>
        </p:txBody>
      </p:sp>
      <p:pic>
        <p:nvPicPr>
          <p:cNvPr id="17" name="Picture 16">
            <a:extLst>
              <a:ext uri="{FF2B5EF4-FFF2-40B4-BE49-F238E27FC236}">
                <a16:creationId xmlns:a16="http://schemas.microsoft.com/office/drawing/2014/main" id="{A2D6CD1D-FE01-3166-F24D-CAC7AA0A499F}"/>
              </a:ext>
            </a:extLst>
          </p:cNvPr>
          <p:cNvPicPr>
            <a:picLocks noChangeAspect="1"/>
          </p:cNvPicPr>
          <p:nvPr/>
        </p:nvPicPr>
        <p:blipFill>
          <a:blip r:embed="rId3"/>
          <a:stretch>
            <a:fillRect/>
          </a:stretch>
        </p:blipFill>
        <p:spPr>
          <a:xfrm>
            <a:off x="727630" y="2362200"/>
            <a:ext cx="5800170" cy="689274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1F2EC"/>
        </a:solidFill>
        <a:effectLst/>
      </p:bgPr>
    </p:bg>
    <p:spTree>
      <p:nvGrpSpPr>
        <p:cNvPr id="1" name=""/>
        <p:cNvGrpSpPr/>
        <p:nvPr/>
      </p:nvGrpSpPr>
      <p:grpSpPr>
        <a:xfrm>
          <a:off x="0" y="0"/>
          <a:ext cx="0" cy="0"/>
          <a:chOff x="0" y="0"/>
          <a:chExt cx="0" cy="0"/>
        </a:xfrm>
      </p:grpSpPr>
      <p:sp>
        <p:nvSpPr>
          <p:cNvPr id="17" name="object 17"/>
          <p:cNvSpPr txBox="1">
            <a:spLocks noGrp="1"/>
          </p:cNvSpPr>
          <p:nvPr>
            <p:ph type="title"/>
          </p:nvPr>
        </p:nvSpPr>
        <p:spPr>
          <a:xfrm>
            <a:off x="531709" y="340430"/>
            <a:ext cx="15422880" cy="607695"/>
          </a:xfrm>
          <a:prstGeom prst="rect">
            <a:avLst/>
          </a:prstGeom>
        </p:spPr>
        <p:txBody>
          <a:bodyPr vert="horz" wrap="square" lIns="0" tIns="15240" rIns="0" bIns="0" rtlCol="0">
            <a:spAutoFit/>
          </a:bodyPr>
          <a:lstStyle/>
          <a:p>
            <a:pPr marL="12700">
              <a:lnSpc>
                <a:spcPct val="100000"/>
              </a:lnSpc>
              <a:spcBef>
                <a:spcPts val="120"/>
              </a:spcBef>
            </a:pPr>
            <a:r>
              <a:rPr sz="3800" spc="-65" dirty="0">
                <a:solidFill>
                  <a:srgbClr val="1A1A1A"/>
                </a:solidFill>
                <a:latin typeface="+mn-lt"/>
                <a:cs typeface="Arial MT"/>
              </a:rPr>
              <a:t>From</a:t>
            </a:r>
            <a:r>
              <a:rPr sz="3800" spc="-125" dirty="0">
                <a:solidFill>
                  <a:srgbClr val="1A1A1A"/>
                </a:solidFill>
                <a:latin typeface="+mn-lt"/>
                <a:cs typeface="Arial MT"/>
              </a:rPr>
              <a:t> </a:t>
            </a:r>
            <a:r>
              <a:rPr sz="3800" spc="-30" dirty="0">
                <a:solidFill>
                  <a:srgbClr val="151515"/>
                </a:solidFill>
                <a:latin typeface="+mn-lt"/>
                <a:cs typeface="Arial MT"/>
              </a:rPr>
              <a:t>Global</a:t>
            </a:r>
            <a:r>
              <a:rPr sz="3800" spc="-55" dirty="0">
                <a:solidFill>
                  <a:srgbClr val="151515"/>
                </a:solidFill>
                <a:latin typeface="+mn-lt"/>
                <a:cs typeface="Arial MT"/>
              </a:rPr>
              <a:t> </a:t>
            </a:r>
            <a:r>
              <a:rPr sz="3800" spc="-20" dirty="0">
                <a:solidFill>
                  <a:srgbClr val="181818"/>
                </a:solidFill>
                <a:latin typeface="+mn-lt"/>
                <a:cs typeface="Arial MT"/>
              </a:rPr>
              <a:t>Trends</a:t>
            </a:r>
            <a:r>
              <a:rPr sz="3800" spc="-90" dirty="0">
                <a:solidFill>
                  <a:srgbClr val="181818"/>
                </a:solidFill>
                <a:latin typeface="+mn-lt"/>
                <a:cs typeface="Arial MT"/>
              </a:rPr>
              <a:t> </a:t>
            </a:r>
            <a:r>
              <a:rPr sz="3800" spc="90" dirty="0">
                <a:solidFill>
                  <a:srgbClr val="181818"/>
                </a:solidFill>
                <a:latin typeface="+mn-lt"/>
                <a:cs typeface="Arial MT"/>
              </a:rPr>
              <a:t>to</a:t>
            </a:r>
            <a:r>
              <a:rPr sz="3800" spc="-210" dirty="0">
                <a:solidFill>
                  <a:srgbClr val="181818"/>
                </a:solidFill>
                <a:latin typeface="+mn-lt"/>
                <a:cs typeface="Arial MT"/>
              </a:rPr>
              <a:t> </a:t>
            </a:r>
            <a:r>
              <a:rPr sz="3800" spc="-30" dirty="0">
                <a:solidFill>
                  <a:srgbClr val="1A1A1A"/>
                </a:solidFill>
                <a:latin typeface="+mn-lt"/>
                <a:cs typeface="Arial MT"/>
              </a:rPr>
              <a:t>an</a:t>
            </a:r>
            <a:r>
              <a:rPr sz="3800" spc="-380" dirty="0">
                <a:solidFill>
                  <a:srgbClr val="1A1A1A"/>
                </a:solidFill>
                <a:latin typeface="+mn-lt"/>
                <a:cs typeface="Arial MT"/>
              </a:rPr>
              <a:t> </a:t>
            </a:r>
            <a:r>
              <a:rPr sz="3800" dirty="0">
                <a:solidFill>
                  <a:srgbClr val="161616"/>
                </a:solidFill>
                <a:latin typeface="+mn-lt"/>
                <a:cs typeface="Arial MT"/>
              </a:rPr>
              <a:t>Individual</a:t>
            </a:r>
            <a:r>
              <a:rPr sz="3800" spc="-135" dirty="0">
                <a:solidFill>
                  <a:srgbClr val="161616"/>
                </a:solidFill>
                <a:latin typeface="+mn-lt"/>
                <a:cs typeface="Arial MT"/>
              </a:rPr>
              <a:t> </a:t>
            </a:r>
            <a:r>
              <a:rPr sz="3800" dirty="0">
                <a:solidFill>
                  <a:srgbClr val="1A1A1A"/>
                </a:solidFill>
                <a:latin typeface="+mn-lt"/>
                <a:cs typeface="Arial MT"/>
              </a:rPr>
              <a:t>Story:</a:t>
            </a:r>
            <a:r>
              <a:rPr sz="3800" spc="-345" dirty="0">
                <a:solidFill>
                  <a:srgbClr val="1A1A1A"/>
                </a:solidFill>
                <a:latin typeface="+mn-lt"/>
                <a:cs typeface="Arial MT"/>
              </a:rPr>
              <a:t> </a:t>
            </a:r>
            <a:r>
              <a:rPr sz="3800" dirty="0">
                <a:solidFill>
                  <a:srgbClr val="161616"/>
                </a:solidFill>
                <a:latin typeface="+mn-lt"/>
                <a:cs typeface="Arial MT"/>
              </a:rPr>
              <a:t>Explaining</a:t>
            </a:r>
            <a:r>
              <a:rPr sz="3800" spc="-45" dirty="0">
                <a:solidFill>
                  <a:srgbClr val="161616"/>
                </a:solidFill>
                <a:latin typeface="+mn-lt"/>
                <a:cs typeface="Arial MT"/>
              </a:rPr>
              <a:t> </a:t>
            </a:r>
            <a:r>
              <a:rPr sz="3800" spc="-200" dirty="0">
                <a:solidFill>
                  <a:srgbClr val="1C1C1C"/>
                </a:solidFill>
                <a:latin typeface="+mn-lt"/>
                <a:cs typeface="Arial MT"/>
              </a:rPr>
              <a:t>a</a:t>
            </a:r>
            <a:r>
              <a:rPr sz="3800" spc="-125" dirty="0">
                <a:solidFill>
                  <a:srgbClr val="1C1C1C"/>
                </a:solidFill>
                <a:latin typeface="+mn-lt"/>
                <a:cs typeface="Arial MT"/>
              </a:rPr>
              <a:t> </a:t>
            </a:r>
            <a:r>
              <a:rPr sz="3800" spc="-35" dirty="0">
                <a:solidFill>
                  <a:srgbClr val="131313"/>
                </a:solidFill>
                <a:latin typeface="+mn-lt"/>
                <a:cs typeface="Arial MT"/>
              </a:rPr>
              <a:t>Single</a:t>
            </a:r>
            <a:r>
              <a:rPr sz="3800" spc="-190" dirty="0">
                <a:solidFill>
                  <a:srgbClr val="131313"/>
                </a:solidFill>
                <a:latin typeface="+mn-lt"/>
                <a:cs typeface="Arial MT"/>
              </a:rPr>
              <a:t> </a:t>
            </a:r>
            <a:r>
              <a:rPr sz="3800" spc="-10" dirty="0">
                <a:solidFill>
                  <a:srgbClr val="111111"/>
                </a:solidFill>
                <a:latin typeface="+mn-lt"/>
                <a:cs typeface="Arial MT"/>
              </a:rPr>
              <a:t>Prediction</a:t>
            </a:r>
            <a:endParaRPr sz="3800" dirty="0">
              <a:latin typeface="+mn-lt"/>
              <a:cs typeface="Arial MT"/>
            </a:endParaRPr>
          </a:p>
        </p:txBody>
      </p:sp>
      <p:sp>
        <p:nvSpPr>
          <p:cNvPr id="18" name="object 18"/>
          <p:cNvSpPr txBox="1"/>
          <p:nvPr/>
        </p:nvSpPr>
        <p:spPr>
          <a:xfrm>
            <a:off x="536451" y="1230488"/>
            <a:ext cx="15488919" cy="1077218"/>
          </a:xfrm>
          <a:prstGeom prst="rect">
            <a:avLst/>
          </a:prstGeom>
        </p:spPr>
        <p:txBody>
          <a:bodyPr vert="horz" wrap="square" lIns="0" tIns="38100" rIns="0" bIns="0" rtlCol="0">
            <a:spAutoFit/>
          </a:bodyPr>
          <a:lstStyle/>
          <a:p>
            <a:pPr marL="12700" marR="5080" indent="8255">
              <a:lnSpc>
                <a:spcPts val="2700"/>
              </a:lnSpc>
              <a:spcBef>
                <a:spcPts val="300"/>
              </a:spcBef>
            </a:pPr>
            <a:r>
              <a:rPr sz="2400" b="1" dirty="0">
                <a:latin typeface="+mn-lt"/>
                <a:cs typeface="Arial MT"/>
              </a:rPr>
              <a:t>SHAP</a:t>
            </a:r>
            <a:r>
              <a:rPr sz="2400" dirty="0">
                <a:latin typeface="+mn-lt"/>
                <a:cs typeface="Arial MT"/>
              </a:rPr>
              <a:t> can also explain the prediction for a single student. The waterfall plot below shows the features that pushed the model's prediction away from the baseline (average prediction) to its final decision for one specific student flagged as being at risk of dropping out.</a:t>
            </a:r>
          </a:p>
        </p:txBody>
      </p:sp>
      <p:sp>
        <p:nvSpPr>
          <p:cNvPr id="41" name="object 41"/>
          <p:cNvSpPr txBox="1"/>
          <p:nvPr/>
        </p:nvSpPr>
        <p:spPr>
          <a:xfrm>
            <a:off x="10185400" y="1943445"/>
            <a:ext cx="6847591" cy="6464590"/>
          </a:xfrm>
          <a:prstGeom prst="rect">
            <a:avLst/>
          </a:prstGeom>
        </p:spPr>
        <p:txBody>
          <a:bodyPr vert="horz" wrap="square" lIns="0" tIns="113030" rIns="0" bIns="0" rtlCol="0">
            <a:spAutoFit/>
          </a:bodyPr>
          <a:lstStyle/>
          <a:p>
            <a:pPr marL="12700">
              <a:lnSpc>
                <a:spcPct val="100000"/>
              </a:lnSpc>
              <a:spcBef>
                <a:spcPts val="890"/>
              </a:spcBef>
            </a:pPr>
            <a:r>
              <a:rPr sz="2400" b="1" dirty="0">
                <a:latin typeface="+mn-lt"/>
                <a:cs typeface="Arial MT"/>
              </a:rPr>
              <a:t>Case Study Analysis</a:t>
            </a:r>
          </a:p>
          <a:p>
            <a:pPr marL="261938" indent="-158750">
              <a:lnSpc>
                <a:spcPts val="2490"/>
              </a:lnSpc>
              <a:spcBef>
                <a:spcPts val="600"/>
              </a:spcBef>
              <a:buFont typeface="Arial" panose="020B0604020202020204" pitchFamily="34" charset="0"/>
              <a:buChar char="•"/>
              <a:tabLst>
                <a:tab pos="314960" algn="l"/>
              </a:tabLst>
            </a:pPr>
            <a:r>
              <a:rPr sz="2400" b="1" dirty="0">
                <a:latin typeface="+mn-lt"/>
                <a:cs typeface="Arial MT"/>
              </a:rPr>
              <a:t>Baseline</a:t>
            </a:r>
          </a:p>
          <a:p>
            <a:pPr marL="449263">
              <a:lnSpc>
                <a:spcPts val="2455"/>
              </a:lnSpc>
            </a:pPr>
            <a:r>
              <a:rPr sz="2400" dirty="0">
                <a:latin typeface="+mn-lt"/>
                <a:cs typeface="Arial MT"/>
              </a:rPr>
              <a:t>The average prediction probability is 0.475</a:t>
            </a:r>
            <a:r>
              <a:rPr lang="en-PH" sz="2400" dirty="0">
                <a:latin typeface="+mn-lt"/>
                <a:cs typeface="Arial MT"/>
              </a:rPr>
              <a:t> </a:t>
            </a:r>
            <a:r>
              <a:rPr sz="2400" dirty="0">
                <a:latin typeface="+mn-lt"/>
                <a:cs typeface="Arial MT"/>
              </a:rPr>
              <a:t>(E[f(X)]).</a:t>
            </a:r>
          </a:p>
          <a:p>
            <a:pPr marL="261938" marR="5080" indent="-158750">
              <a:lnSpc>
                <a:spcPts val="2500"/>
              </a:lnSpc>
              <a:spcBef>
                <a:spcPts val="540"/>
              </a:spcBef>
              <a:buFont typeface="Arial" panose="020B0604020202020204" pitchFamily="34" charset="0"/>
              <a:buChar char="•"/>
              <a:tabLst>
                <a:tab pos="316230" algn="l"/>
              </a:tabLst>
            </a:pPr>
            <a:r>
              <a:rPr sz="2400" b="1" dirty="0">
                <a:latin typeface="+mn-lt"/>
                <a:cs typeface="Arial MT"/>
              </a:rPr>
              <a:t>Negative Drivers (Pushing towards Dropout) </a:t>
            </a:r>
            <a:endParaRPr lang="en-PH" sz="2400" b="1" dirty="0">
              <a:latin typeface="+mn-lt"/>
              <a:cs typeface="Arial MT"/>
            </a:endParaRPr>
          </a:p>
          <a:p>
            <a:pPr marL="449263" marR="5080" lvl="2">
              <a:lnSpc>
                <a:spcPts val="2500"/>
              </a:lnSpc>
              <a:spcBef>
                <a:spcPts val="540"/>
              </a:spcBef>
              <a:tabLst>
                <a:tab pos="316230" algn="l"/>
              </a:tabLst>
            </a:pPr>
            <a:r>
              <a:rPr sz="2400" dirty="0">
                <a:latin typeface="+mn-lt"/>
                <a:cs typeface="Arial MT"/>
              </a:rPr>
              <a:t>This student's outcome was heavily influenced by having 0 approved units in the 2nd 	semester (-0.25 impact) and 0 approved units in the 1st semester (-0.14 impact).These factors were the primary reasons for the</a:t>
            </a:r>
            <a:r>
              <a:rPr lang="en-PH" sz="2400" dirty="0">
                <a:latin typeface="+mn-lt"/>
                <a:cs typeface="Arial MT"/>
              </a:rPr>
              <a:t> </a:t>
            </a:r>
            <a:r>
              <a:rPr sz="2400" dirty="0">
                <a:latin typeface="+mn-lt"/>
                <a:cs typeface="Arial MT"/>
              </a:rPr>
              <a:t>at-risk flag.</a:t>
            </a:r>
          </a:p>
          <a:p>
            <a:pPr marL="261938" indent="-158750">
              <a:lnSpc>
                <a:spcPct val="100000"/>
              </a:lnSpc>
              <a:spcBef>
                <a:spcPts val="390"/>
              </a:spcBef>
              <a:buFont typeface="Arial" panose="020B0604020202020204" pitchFamily="34" charset="0"/>
              <a:buChar char="•"/>
              <a:tabLst>
                <a:tab pos="313690" algn="l"/>
              </a:tabLst>
            </a:pPr>
            <a:r>
              <a:rPr sz="2400" b="1" dirty="0">
                <a:latin typeface="+mn-lt"/>
                <a:cs typeface="Arial MT"/>
              </a:rPr>
              <a:t>Positive Drivers (Pushing towards Graduate)</a:t>
            </a:r>
            <a:endParaRPr lang="en-PH" sz="2400" b="1" dirty="0">
              <a:latin typeface="+mn-lt"/>
              <a:cs typeface="Arial MT"/>
            </a:endParaRPr>
          </a:p>
          <a:p>
            <a:pPr marL="449263">
              <a:lnSpc>
                <a:spcPct val="100000"/>
              </a:lnSpc>
              <a:spcBef>
                <a:spcPts val="390"/>
              </a:spcBef>
              <a:tabLst>
                <a:tab pos="313690" algn="l"/>
              </a:tabLst>
            </a:pPr>
            <a:r>
              <a:rPr lang="en-US" sz="2400" dirty="0">
                <a:latin typeface="+mn-lt"/>
                <a:cs typeface="Arial MT"/>
              </a:rPr>
              <a:t>A relatively high ’Age at enrollment(+0.02 impact) slightly counteracted the negative factors but was not strong enough to change the outcome.</a:t>
            </a:r>
          </a:p>
          <a:p>
            <a:pPr marL="261938" indent="-158750">
              <a:lnSpc>
                <a:spcPct val="100000"/>
              </a:lnSpc>
              <a:spcBef>
                <a:spcPts val="390"/>
              </a:spcBef>
              <a:buFont typeface="Arial" panose="020B0604020202020204" pitchFamily="34" charset="0"/>
              <a:buChar char="•"/>
              <a:tabLst>
                <a:tab pos="313690" algn="l"/>
              </a:tabLst>
            </a:pPr>
            <a:r>
              <a:rPr lang="en-US" sz="2400" b="1" dirty="0">
                <a:latin typeface="+mn-lt"/>
                <a:cs typeface="Arial MT"/>
              </a:rPr>
              <a:t>Final Prediction</a:t>
            </a:r>
          </a:p>
          <a:p>
            <a:pPr marL="449263">
              <a:lnSpc>
                <a:spcPct val="100000"/>
              </a:lnSpc>
              <a:spcBef>
                <a:spcPts val="390"/>
              </a:spcBef>
              <a:tabLst>
                <a:tab pos="313690" algn="l"/>
              </a:tabLst>
            </a:pPr>
            <a:r>
              <a:rPr lang="en-US" sz="2400" dirty="0">
                <a:latin typeface="+mn-lt"/>
                <a:cs typeface="Arial MT"/>
              </a:rPr>
              <a:t>The sum of these feature impacts results in the final prediction of f(x) - 0 ("Dropout").</a:t>
            </a:r>
          </a:p>
          <a:p>
            <a:pPr marL="104140">
              <a:lnSpc>
                <a:spcPct val="100000"/>
              </a:lnSpc>
              <a:spcBef>
                <a:spcPts val="390"/>
              </a:spcBef>
              <a:tabLst>
                <a:tab pos="313690" algn="l"/>
              </a:tabLst>
            </a:pPr>
            <a:endParaRPr sz="2400" dirty="0">
              <a:latin typeface="+mn-lt"/>
              <a:cs typeface="Arial MT"/>
            </a:endParaRPr>
          </a:p>
        </p:txBody>
      </p:sp>
      <p:pic>
        <p:nvPicPr>
          <p:cNvPr id="46" name="Picture 45">
            <a:extLst>
              <a:ext uri="{FF2B5EF4-FFF2-40B4-BE49-F238E27FC236}">
                <a16:creationId xmlns:a16="http://schemas.microsoft.com/office/drawing/2014/main" id="{E43FD6E3-E981-5EBB-B932-CA73F7FAF806}"/>
              </a:ext>
            </a:extLst>
          </p:cNvPr>
          <p:cNvPicPr>
            <a:picLocks noChangeAspect="1"/>
          </p:cNvPicPr>
          <p:nvPr/>
        </p:nvPicPr>
        <p:blipFill>
          <a:blip r:embed="rId2"/>
          <a:stretch>
            <a:fillRect/>
          </a:stretch>
        </p:blipFill>
        <p:spPr>
          <a:xfrm>
            <a:off x="531710" y="2590069"/>
            <a:ext cx="9514220" cy="541093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1F2EC"/>
        </a:solidFill>
        <a:effectLst/>
      </p:bgPr>
    </p:bg>
    <p:spTree>
      <p:nvGrpSpPr>
        <p:cNvPr id="1" name=""/>
        <p:cNvGrpSpPr/>
        <p:nvPr/>
      </p:nvGrpSpPr>
      <p:grpSpPr>
        <a:xfrm>
          <a:off x="0" y="0"/>
          <a:ext cx="0" cy="0"/>
          <a:chOff x="0" y="0"/>
          <a:chExt cx="0" cy="0"/>
        </a:xfrm>
      </p:grpSpPr>
      <p:sp>
        <p:nvSpPr>
          <p:cNvPr id="3" name="object 3"/>
          <p:cNvSpPr txBox="1">
            <a:spLocks noGrp="1"/>
          </p:cNvSpPr>
          <p:nvPr>
            <p:ph type="title"/>
          </p:nvPr>
        </p:nvSpPr>
        <p:spPr>
          <a:xfrm>
            <a:off x="729684" y="337608"/>
            <a:ext cx="15672435" cy="688650"/>
          </a:xfrm>
          <a:prstGeom prst="rect">
            <a:avLst/>
          </a:prstGeom>
        </p:spPr>
        <p:txBody>
          <a:bodyPr vert="horz" wrap="square" lIns="0" tIns="11430" rIns="0" bIns="0" rtlCol="0">
            <a:spAutoFit/>
          </a:bodyPr>
          <a:lstStyle/>
          <a:p>
            <a:pPr marL="12700">
              <a:lnSpc>
                <a:spcPct val="100000"/>
              </a:lnSpc>
              <a:spcBef>
                <a:spcPts val="90"/>
              </a:spcBef>
            </a:pPr>
            <a:r>
              <a:rPr sz="4400" dirty="0">
                <a:latin typeface="+mj-lt"/>
              </a:rPr>
              <a:t>The Payoff: Predicting the Future for Currently Enrolled Students</a:t>
            </a:r>
          </a:p>
        </p:txBody>
      </p:sp>
      <p:sp>
        <p:nvSpPr>
          <p:cNvPr id="4" name="object 4"/>
          <p:cNvSpPr txBox="1"/>
          <p:nvPr/>
        </p:nvSpPr>
        <p:spPr>
          <a:xfrm>
            <a:off x="745862" y="1193094"/>
            <a:ext cx="15409544" cy="1334340"/>
          </a:xfrm>
          <a:prstGeom prst="rect">
            <a:avLst/>
          </a:prstGeom>
        </p:spPr>
        <p:txBody>
          <a:bodyPr vert="horz" wrap="square" lIns="0" tIns="13335" rIns="0" bIns="0" rtlCol="0">
            <a:spAutoFit/>
          </a:bodyPr>
          <a:lstStyle/>
          <a:p>
            <a:pPr marL="19685">
              <a:lnSpc>
                <a:spcPts val="3454"/>
              </a:lnSpc>
              <a:spcBef>
                <a:spcPts val="105"/>
              </a:spcBef>
            </a:pPr>
            <a:r>
              <a:rPr sz="3050" dirty="0">
                <a:latin typeface="+mn-lt"/>
                <a:cs typeface="Arial MT"/>
              </a:rPr>
              <a:t>The true value of the model lies in its application to students whose outcomes are not yet known. The</a:t>
            </a:r>
            <a:r>
              <a:rPr lang="en-PH" sz="3050" dirty="0">
                <a:latin typeface="+mn-lt"/>
                <a:cs typeface="Arial MT"/>
              </a:rPr>
              <a:t> </a:t>
            </a:r>
            <a:r>
              <a:rPr sz="2900" dirty="0">
                <a:latin typeface="+mn-lt"/>
                <a:cs typeface="Arial MT"/>
              </a:rPr>
              <a:t>final pipeline was used to predict the future status of the 794 students currently marked as “Enrolled”.</a:t>
            </a:r>
          </a:p>
        </p:txBody>
      </p:sp>
      <p:sp>
        <p:nvSpPr>
          <p:cNvPr id="6" name="object 6"/>
          <p:cNvSpPr txBox="1"/>
          <p:nvPr/>
        </p:nvSpPr>
        <p:spPr>
          <a:xfrm>
            <a:off x="746986" y="6968772"/>
            <a:ext cx="3864610" cy="859155"/>
          </a:xfrm>
          <a:prstGeom prst="rect">
            <a:avLst/>
          </a:prstGeom>
        </p:spPr>
        <p:txBody>
          <a:bodyPr vert="horz" wrap="square" lIns="0" tIns="15875" rIns="0" bIns="0" rtlCol="0">
            <a:spAutoFit/>
          </a:bodyPr>
          <a:lstStyle/>
          <a:p>
            <a:pPr marL="13335">
              <a:lnSpc>
                <a:spcPts val="3175"/>
              </a:lnSpc>
              <a:spcBef>
                <a:spcPts val="125"/>
              </a:spcBef>
            </a:pPr>
            <a:r>
              <a:rPr sz="2750" dirty="0">
                <a:latin typeface="+mn-lt"/>
                <a:cs typeface="Arial MT"/>
              </a:rPr>
              <a:t>“Predicted to Graduate”:</a:t>
            </a:r>
            <a:endParaRPr sz="2750">
              <a:latin typeface="+mn-lt"/>
              <a:cs typeface="Arial MT"/>
            </a:endParaRPr>
          </a:p>
          <a:p>
            <a:pPr marL="12700">
              <a:lnSpc>
                <a:spcPts val="3354"/>
              </a:lnSpc>
            </a:pPr>
            <a:r>
              <a:rPr sz="2900" dirty="0">
                <a:latin typeface="+mn-lt"/>
                <a:cs typeface="Arial MT"/>
              </a:rPr>
              <a:t>“Predicted to Dropout":</a:t>
            </a:r>
            <a:endParaRPr sz="2900">
              <a:latin typeface="+mn-lt"/>
              <a:cs typeface="Arial MT"/>
            </a:endParaRPr>
          </a:p>
        </p:txBody>
      </p:sp>
      <p:sp>
        <p:nvSpPr>
          <p:cNvPr id="7" name="object 7"/>
          <p:cNvSpPr txBox="1"/>
          <p:nvPr/>
        </p:nvSpPr>
        <p:spPr>
          <a:xfrm>
            <a:off x="4886642" y="6968772"/>
            <a:ext cx="10852785" cy="859155"/>
          </a:xfrm>
          <a:prstGeom prst="rect">
            <a:avLst/>
          </a:prstGeom>
        </p:spPr>
        <p:txBody>
          <a:bodyPr vert="horz" wrap="square" lIns="0" tIns="15875" rIns="0" bIns="0" rtlCol="0">
            <a:spAutoFit/>
          </a:bodyPr>
          <a:lstStyle/>
          <a:p>
            <a:pPr marL="23495">
              <a:lnSpc>
                <a:spcPts val="3175"/>
              </a:lnSpc>
              <a:spcBef>
                <a:spcPts val="125"/>
              </a:spcBef>
            </a:pPr>
            <a:r>
              <a:rPr sz="2750" dirty="0">
                <a:latin typeface="+mn-lt"/>
                <a:cs typeface="Arial MT"/>
              </a:rPr>
              <a:t>430 students are predicted to be on track for graduation.</a:t>
            </a:r>
          </a:p>
          <a:p>
            <a:pPr marL="12700">
              <a:lnSpc>
                <a:spcPts val="3354"/>
              </a:lnSpc>
            </a:pPr>
            <a:r>
              <a:rPr sz="2900" dirty="0">
                <a:latin typeface="+mn-lt"/>
                <a:cs typeface="Arial MT"/>
              </a:rPr>
              <a:t>364 students are flagged by the model as being at high risk of attrition.</a:t>
            </a:r>
          </a:p>
        </p:txBody>
      </p:sp>
      <p:sp>
        <p:nvSpPr>
          <p:cNvPr id="8" name="object 8"/>
          <p:cNvSpPr txBox="1"/>
          <p:nvPr/>
        </p:nvSpPr>
        <p:spPr>
          <a:xfrm>
            <a:off x="726016" y="8125883"/>
            <a:ext cx="15963900" cy="912429"/>
          </a:xfrm>
          <a:prstGeom prst="rect">
            <a:avLst/>
          </a:prstGeom>
          <a:ln w="12700">
            <a:solidFill>
              <a:srgbClr val="80807C"/>
            </a:solidFill>
          </a:ln>
        </p:spPr>
        <p:txBody>
          <a:bodyPr vert="horz" wrap="square" lIns="0" tIns="65405" rIns="0" bIns="0" rtlCol="0">
            <a:spAutoFit/>
          </a:bodyPr>
          <a:lstStyle/>
          <a:p>
            <a:pPr marL="161290">
              <a:lnSpc>
                <a:spcPts val="3285"/>
              </a:lnSpc>
              <a:spcBef>
                <a:spcPts val="515"/>
              </a:spcBef>
            </a:pPr>
            <a:r>
              <a:rPr sz="2850" dirty="0">
                <a:latin typeface="+mn-lt"/>
                <a:cs typeface="Arial MT"/>
              </a:rPr>
              <a:t>Key Takeaway: The model has generated a high-priority, data-validated list of </a:t>
            </a:r>
            <a:r>
              <a:rPr sz="2850" dirty="0">
                <a:solidFill>
                  <a:srgbClr val="A54D1C"/>
                </a:solidFill>
                <a:latin typeface="+mn-lt"/>
                <a:cs typeface="Arial MT"/>
              </a:rPr>
              <a:t>364 </a:t>
            </a:r>
            <a:r>
              <a:rPr sz="2850" dirty="0">
                <a:solidFill>
                  <a:srgbClr val="AF5621"/>
                </a:solidFill>
                <a:latin typeface="+mn-lt"/>
                <a:cs typeface="Arial MT"/>
              </a:rPr>
              <a:t>students </a:t>
            </a:r>
            <a:r>
              <a:rPr sz="2850" dirty="0">
                <a:latin typeface="+mn-lt"/>
                <a:cs typeface="Arial MT"/>
              </a:rPr>
              <a:t>for</a:t>
            </a:r>
          </a:p>
          <a:p>
            <a:pPr marL="163195">
              <a:lnSpc>
                <a:spcPts val="3345"/>
              </a:lnSpc>
            </a:pPr>
            <a:r>
              <a:rPr sz="2900" dirty="0">
                <a:latin typeface="+mn-lt"/>
                <a:cs typeface="Arial MT"/>
              </a:rPr>
              <a:t>immediate proactive outreach by academic advisors and support staff.</a:t>
            </a:r>
          </a:p>
        </p:txBody>
      </p:sp>
      <p:pic>
        <p:nvPicPr>
          <p:cNvPr id="11" name="Picture 10">
            <a:extLst>
              <a:ext uri="{FF2B5EF4-FFF2-40B4-BE49-F238E27FC236}">
                <a16:creationId xmlns:a16="http://schemas.microsoft.com/office/drawing/2014/main" id="{DC9F12C5-51F4-40E7-B240-8EAA8FA8EDAC}"/>
              </a:ext>
            </a:extLst>
          </p:cNvPr>
          <p:cNvPicPr>
            <a:picLocks noChangeAspect="1"/>
          </p:cNvPicPr>
          <p:nvPr/>
        </p:nvPicPr>
        <p:blipFill>
          <a:blip r:embed="rId2"/>
          <a:stretch>
            <a:fillRect/>
          </a:stretch>
        </p:blipFill>
        <p:spPr>
          <a:xfrm>
            <a:off x="5507409" y="2337695"/>
            <a:ext cx="5886450" cy="44767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1F2EC"/>
        </a:solidFill>
        <a:effectLst/>
      </p:bgPr>
    </p:bg>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991600" y="7645400"/>
            <a:ext cx="1041400" cy="1016000"/>
          </a:xfrm>
          <a:prstGeom prst="rect">
            <a:avLst/>
          </a:prstGeom>
        </p:spPr>
      </p:pic>
      <p:pic>
        <p:nvPicPr>
          <p:cNvPr id="3" name="object 3"/>
          <p:cNvPicPr/>
          <p:nvPr/>
        </p:nvPicPr>
        <p:blipFill>
          <a:blip r:embed="rId3" cstate="print"/>
          <a:stretch>
            <a:fillRect/>
          </a:stretch>
        </p:blipFill>
        <p:spPr>
          <a:xfrm>
            <a:off x="9080500" y="5816600"/>
            <a:ext cx="876300" cy="889000"/>
          </a:xfrm>
          <a:prstGeom prst="rect">
            <a:avLst/>
          </a:prstGeom>
        </p:spPr>
      </p:pic>
      <p:pic>
        <p:nvPicPr>
          <p:cNvPr id="4" name="object 4"/>
          <p:cNvPicPr/>
          <p:nvPr/>
        </p:nvPicPr>
        <p:blipFill>
          <a:blip r:embed="rId4" cstate="print"/>
          <a:stretch>
            <a:fillRect/>
          </a:stretch>
        </p:blipFill>
        <p:spPr>
          <a:xfrm>
            <a:off x="9004300" y="3873500"/>
            <a:ext cx="1028700" cy="876300"/>
          </a:xfrm>
          <a:prstGeom prst="rect">
            <a:avLst/>
          </a:prstGeom>
        </p:spPr>
      </p:pic>
      <p:pic>
        <p:nvPicPr>
          <p:cNvPr id="5" name="object 5"/>
          <p:cNvPicPr/>
          <p:nvPr/>
        </p:nvPicPr>
        <p:blipFill>
          <a:blip r:embed="rId5" cstate="print"/>
          <a:stretch>
            <a:fillRect/>
          </a:stretch>
        </p:blipFill>
        <p:spPr>
          <a:xfrm>
            <a:off x="977900" y="2311400"/>
            <a:ext cx="15519400" cy="25400"/>
          </a:xfrm>
          <a:prstGeom prst="rect">
            <a:avLst/>
          </a:prstGeom>
        </p:spPr>
      </p:pic>
      <p:sp>
        <p:nvSpPr>
          <p:cNvPr id="6" name="object 6"/>
          <p:cNvSpPr txBox="1">
            <a:spLocks noGrp="1"/>
          </p:cNvSpPr>
          <p:nvPr>
            <p:ph type="title"/>
          </p:nvPr>
        </p:nvSpPr>
        <p:spPr>
          <a:xfrm>
            <a:off x="960489" y="440972"/>
            <a:ext cx="11064240" cy="1586973"/>
          </a:xfrm>
          <a:prstGeom prst="rect">
            <a:avLst/>
          </a:prstGeom>
        </p:spPr>
        <p:txBody>
          <a:bodyPr vert="horz" wrap="square" lIns="0" tIns="98425" rIns="0" bIns="0" rtlCol="0">
            <a:spAutoFit/>
          </a:bodyPr>
          <a:lstStyle/>
          <a:p>
            <a:pPr marL="12700" marR="5080">
              <a:lnSpc>
                <a:spcPts val="5750"/>
              </a:lnSpc>
              <a:spcBef>
                <a:spcPts val="775"/>
              </a:spcBef>
            </a:pPr>
            <a:r>
              <a:rPr sz="5250" spc="-30" dirty="0">
                <a:latin typeface="+mj-lt"/>
                <a:cs typeface="Arial MT"/>
              </a:rPr>
              <a:t>From</a:t>
            </a:r>
            <a:r>
              <a:rPr sz="5250" spc="-285" dirty="0">
                <a:latin typeface="+mj-lt"/>
                <a:cs typeface="Arial MT"/>
              </a:rPr>
              <a:t> </a:t>
            </a:r>
            <a:r>
              <a:rPr sz="5250" dirty="0">
                <a:latin typeface="+mj-lt"/>
                <a:cs typeface="Arial MT"/>
              </a:rPr>
              <a:t>Prediction</a:t>
            </a:r>
            <a:r>
              <a:rPr sz="5250" spc="-140" dirty="0">
                <a:latin typeface="+mj-lt"/>
                <a:cs typeface="Arial MT"/>
              </a:rPr>
              <a:t> </a:t>
            </a:r>
            <a:r>
              <a:rPr sz="5250" spc="170" dirty="0">
                <a:latin typeface="+mj-lt"/>
                <a:cs typeface="Arial MT"/>
              </a:rPr>
              <a:t>to</a:t>
            </a:r>
            <a:r>
              <a:rPr sz="5250" spc="-365" dirty="0">
                <a:latin typeface="+mj-lt"/>
                <a:cs typeface="Arial MT"/>
              </a:rPr>
              <a:t> </a:t>
            </a:r>
            <a:r>
              <a:rPr sz="5250" dirty="0">
                <a:latin typeface="+mj-lt"/>
                <a:cs typeface="Arial MT"/>
              </a:rPr>
              <a:t>Proactive</a:t>
            </a:r>
            <a:r>
              <a:rPr sz="5250" spc="-140" dirty="0">
                <a:latin typeface="+mj-lt"/>
                <a:cs typeface="Arial MT"/>
              </a:rPr>
              <a:t> </a:t>
            </a:r>
            <a:r>
              <a:rPr sz="5250" spc="-10" dirty="0">
                <a:latin typeface="+mj-lt"/>
                <a:cs typeface="Arial MT"/>
              </a:rPr>
              <a:t>Support: </a:t>
            </a:r>
            <a:r>
              <a:rPr sz="5250" spc="-100" dirty="0">
                <a:latin typeface="+mj-lt"/>
                <a:cs typeface="Arial MT"/>
              </a:rPr>
              <a:t>Summary</a:t>
            </a:r>
            <a:r>
              <a:rPr sz="5250" spc="-80" dirty="0">
                <a:latin typeface="+mj-lt"/>
                <a:cs typeface="Arial MT"/>
              </a:rPr>
              <a:t> </a:t>
            </a:r>
            <a:r>
              <a:rPr sz="5250" spc="-35" dirty="0">
                <a:latin typeface="+mj-lt"/>
                <a:cs typeface="Arial MT"/>
              </a:rPr>
              <a:t>and</a:t>
            </a:r>
            <a:r>
              <a:rPr sz="5250" spc="-335" dirty="0">
                <a:latin typeface="+mj-lt"/>
                <a:cs typeface="Arial MT"/>
              </a:rPr>
              <a:t> </a:t>
            </a:r>
            <a:r>
              <a:rPr sz="5250" spc="-10" dirty="0">
                <a:latin typeface="+mj-lt"/>
                <a:cs typeface="Arial MT"/>
              </a:rPr>
              <a:t>Future</a:t>
            </a:r>
            <a:r>
              <a:rPr sz="5250" spc="-335" dirty="0">
                <a:latin typeface="+mj-lt"/>
                <a:cs typeface="Arial MT"/>
              </a:rPr>
              <a:t> </a:t>
            </a:r>
            <a:r>
              <a:rPr sz="5250" spc="-10" dirty="0">
                <a:latin typeface="+mj-lt"/>
                <a:cs typeface="Arial MT"/>
              </a:rPr>
              <a:t>Directions</a:t>
            </a:r>
            <a:endParaRPr sz="5250" dirty="0">
              <a:latin typeface="+mj-lt"/>
              <a:cs typeface="Arial MT"/>
            </a:endParaRPr>
          </a:p>
        </p:txBody>
      </p:sp>
      <p:sp>
        <p:nvSpPr>
          <p:cNvPr id="7" name="object 7"/>
          <p:cNvSpPr txBox="1"/>
          <p:nvPr/>
        </p:nvSpPr>
        <p:spPr>
          <a:xfrm>
            <a:off x="954763" y="2773538"/>
            <a:ext cx="6803390" cy="2055691"/>
          </a:xfrm>
          <a:prstGeom prst="rect">
            <a:avLst/>
          </a:prstGeom>
        </p:spPr>
        <p:txBody>
          <a:bodyPr vert="horz" wrap="square" lIns="0" tIns="13970" rIns="0" bIns="0" rtlCol="0">
            <a:spAutoFit/>
          </a:bodyPr>
          <a:lstStyle/>
          <a:p>
            <a:pPr marL="25400">
              <a:lnSpc>
                <a:spcPct val="100000"/>
              </a:lnSpc>
              <a:spcBef>
                <a:spcPts val="110"/>
              </a:spcBef>
            </a:pPr>
            <a:r>
              <a:rPr sz="3600" dirty="0">
                <a:latin typeface="+mn-lt"/>
                <a:cs typeface="Arial MT"/>
              </a:rPr>
              <a:t>Project</a:t>
            </a:r>
            <a:r>
              <a:rPr sz="3600" spc="245" dirty="0">
                <a:latin typeface="+mn-lt"/>
                <a:cs typeface="Arial MT"/>
              </a:rPr>
              <a:t> </a:t>
            </a:r>
            <a:r>
              <a:rPr sz="3600" dirty="0">
                <a:latin typeface="+mn-lt"/>
                <a:cs typeface="Arial MT"/>
              </a:rPr>
              <a:t>Impact</a:t>
            </a:r>
            <a:r>
              <a:rPr sz="3600" spc="265" dirty="0">
                <a:latin typeface="+mn-lt"/>
                <a:cs typeface="Arial MT"/>
              </a:rPr>
              <a:t> </a:t>
            </a:r>
            <a:r>
              <a:rPr sz="3600" spc="-10" dirty="0">
                <a:latin typeface="+mn-lt"/>
                <a:cs typeface="Arial MT"/>
              </a:rPr>
              <a:t>Summary</a:t>
            </a:r>
            <a:endParaRPr sz="3600" dirty="0">
              <a:latin typeface="+mn-lt"/>
              <a:cs typeface="Arial MT"/>
            </a:endParaRPr>
          </a:p>
          <a:p>
            <a:pPr marL="15875" marR="5080" indent="-3810">
              <a:lnSpc>
                <a:spcPts val="2800"/>
              </a:lnSpc>
              <a:spcBef>
                <a:spcPts val="3240"/>
              </a:spcBef>
            </a:pPr>
            <a:r>
              <a:rPr sz="2400" b="1" dirty="0">
                <a:latin typeface="+mn-lt"/>
                <a:cs typeface="Arial MT"/>
              </a:rPr>
              <a:t>Problem:</a:t>
            </a:r>
            <a:r>
              <a:rPr sz="2400" spc="-95" dirty="0">
                <a:latin typeface="+mn-lt"/>
                <a:cs typeface="Arial MT"/>
              </a:rPr>
              <a:t> </a:t>
            </a:r>
            <a:br>
              <a:rPr lang="en-PH" sz="2400" spc="-95" dirty="0">
                <a:latin typeface="+mn-lt"/>
                <a:cs typeface="Arial MT"/>
              </a:rPr>
            </a:br>
            <a:r>
              <a:rPr sz="2400" spc="-25" dirty="0">
                <a:latin typeface="+mn-lt"/>
                <a:cs typeface="Arial MT"/>
              </a:rPr>
              <a:t>High</a:t>
            </a:r>
            <a:r>
              <a:rPr sz="2400" spc="-45" dirty="0">
                <a:latin typeface="+mn-lt"/>
                <a:cs typeface="Arial MT"/>
              </a:rPr>
              <a:t> </a:t>
            </a:r>
            <a:r>
              <a:rPr sz="2400" spc="-10" dirty="0">
                <a:latin typeface="+mn-lt"/>
                <a:cs typeface="Arial MT"/>
              </a:rPr>
              <a:t>student</a:t>
            </a:r>
            <a:r>
              <a:rPr sz="2400" spc="5" dirty="0">
                <a:latin typeface="+mn-lt"/>
                <a:cs typeface="Arial MT"/>
              </a:rPr>
              <a:t> </a:t>
            </a:r>
            <a:r>
              <a:rPr sz="2400" dirty="0">
                <a:latin typeface="+mn-lt"/>
                <a:cs typeface="Arial MT"/>
              </a:rPr>
              <a:t>attrition</a:t>
            </a:r>
            <a:r>
              <a:rPr sz="2400" spc="-130" dirty="0">
                <a:latin typeface="+mn-lt"/>
                <a:cs typeface="Arial MT"/>
              </a:rPr>
              <a:t> </a:t>
            </a:r>
            <a:r>
              <a:rPr sz="2400" spc="-30" dirty="0">
                <a:latin typeface="+mn-lt"/>
                <a:cs typeface="Arial MT"/>
              </a:rPr>
              <a:t>presents</a:t>
            </a:r>
            <a:r>
              <a:rPr sz="2400" spc="-135" dirty="0">
                <a:latin typeface="+mn-lt"/>
                <a:cs typeface="Arial MT"/>
              </a:rPr>
              <a:t> </a:t>
            </a:r>
            <a:r>
              <a:rPr sz="2400" dirty="0">
                <a:latin typeface="+mn-lt"/>
                <a:cs typeface="Arial MT"/>
              </a:rPr>
              <a:t>a</a:t>
            </a:r>
            <a:r>
              <a:rPr sz="2400" spc="-65" dirty="0">
                <a:latin typeface="+mn-lt"/>
                <a:cs typeface="Arial MT"/>
              </a:rPr>
              <a:t> </a:t>
            </a:r>
            <a:r>
              <a:rPr sz="2400" spc="-30" dirty="0">
                <a:latin typeface="+mn-lt"/>
                <a:cs typeface="Arial MT"/>
              </a:rPr>
              <a:t>significant </a:t>
            </a:r>
            <a:r>
              <a:rPr sz="2400" spc="-10" dirty="0">
                <a:latin typeface="+mn-lt"/>
                <a:cs typeface="Arial MT"/>
              </a:rPr>
              <a:t>institutional</a:t>
            </a:r>
            <a:r>
              <a:rPr sz="2400" spc="-50" dirty="0">
                <a:latin typeface="+mn-lt"/>
                <a:cs typeface="Arial MT"/>
              </a:rPr>
              <a:t> </a:t>
            </a:r>
            <a:r>
              <a:rPr sz="2400" spc="-45" dirty="0">
                <a:latin typeface="+mn-lt"/>
                <a:cs typeface="Arial MT"/>
              </a:rPr>
              <a:t>and</a:t>
            </a:r>
            <a:r>
              <a:rPr sz="2400" spc="-120" dirty="0">
                <a:latin typeface="+mn-lt"/>
                <a:cs typeface="Arial MT"/>
              </a:rPr>
              <a:t> </a:t>
            </a:r>
            <a:r>
              <a:rPr sz="2400" spc="-25" dirty="0">
                <a:latin typeface="+mn-lt"/>
                <a:cs typeface="Arial MT"/>
              </a:rPr>
              <a:t>financial</a:t>
            </a:r>
            <a:r>
              <a:rPr sz="2400" spc="-60" dirty="0">
                <a:latin typeface="+mn-lt"/>
                <a:cs typeface="Arial MT"/>
              </a:rPr>
              <a:t> </a:t>
            </a:r>
            <a:r>
              <a:rPr sz="2400" spc="-10" dirty="0">
                <a:latin typeface="+mn-lt"/>
                <a:cs typeface="Arial MT"/>
              </a:rPr>
              <a:t>challenge.</a:t>
            </a:r>
            <a:endParaRPr sz="2400" dirty="0">
              <a:latin typeface="+mn-lt"/>
              <a:cs typeface="Arial MT"/>
            </a:endParaRPr>
          </a:p>
        </p:txBody>
      </p:sp>
      <p:sp>
        <p:nvSpPr>
          <p:cNvPr id="8" name="object 8"/>
          <p:cNvSpPr txBox="1"/>
          <p:nvPr/>
        </p:nvSpPr>
        <p:spPr>
          <a:xfrm>
            <a:off x="897488" y="5345288"/>
            <a:ext cx="6997700" cy="3595215"/>
          </a:xfrm>
          <a:prstGeom prst="rect">
            <a:avLst/>
          </a:prstGeom>
        </p:spPr>
        <p:txBody>
          <a:bodyPr vert="horz" wrap="square" lIns="0" tIns="13970" rIns="0" bIns="0" rtlCol="0">
            <a:spAutoFit/>
          </a:bodyPr>
          <a:lstStyle/>
          <a:p>
            <a:pPr marL="53975">
              <a:lnSpc>
                <a:spcPts val="2810"/>
              </a:lnSpc>
              <a:spcBef>
                <a:spcPts val="110"/>
              </a:spcBef>
            </a:pPr>
            <a:r>
              <a:rPr sz="2400" b="1" spc="-10" dirty="0">
                <a:latin typeface="+mn-lt"/>
                <a:cs typeface="Arial MT"/>
              </a:rPr>
              <a:t>Solution:</a:t>
            </a:r>
            <a:endParaRPr sz="2400" b="1" dirty="0">
              <a:latin typeface="+mn-lt"/>
              <a:cs typeface="Arial MT"/>
            </a:endParaRPr>
          </a:p>
          <a:p>
            <a:pPr marL="67945">
              <a:lnSpc>
                <a:spcPts val="2810"/>
              </a:lnSpc>
            </a:pPr>
            <a:r>
              <a:rPr sz="2400" spc="-210" dirty="0">
                <a:latin typeface="+mn-lt"/>
                <a:cs typeface="Arial MT"/>
              </a:rPr>
              <a:t>A</a:t>
            </a:r>
            <a:r>
              <a:rPr sz="2400" spc="-80" dirty="0">
                <a:latin typeface="+mn-lt"/>
                <a:cs typeface="Arial MT"/>
              </a:rPr>
              <a:t> </a:t>
            </a:r>
            <a:r>
              <a:rPr sz="2400" dirty="0">
                <a:latin typeface="+mn-lt"/>
                <a:cs typeface="Arial MT"/>
              </a:rPr>
              <a:t>robust</a:t>
            </a:r>
            <a:r>
              <a:rPr sz="2400" spc="-130" dirty="0">
                <a:latin typeface="+mn-lt"/>
                <a:cs typeface="Arial MT"/>
              </a:rPr>
              <a:t> </a:t>
            </a:r>
            <a:r>
              <a:rPr sz="2400" spc="-65" dirty="0">
                <a:latin typeface="+mn-lt"/>
                <a:cs typeface="Arial MT"/>
              </a:rPr>
              <a:t>and</a:t>
            </a:r>
            <a:r>
              <a:rPr sz="2400" spc="-95" dirty="0">
                <a:latin typeface="+mn-lt"/>
                <a:cs typeface="Arial MT"/>
              </a:rPr>
              <a:t> </a:t>
            </a:r>
            <a:r>
              <a:rPr sz="2400" spc="-25" dirty="0">
                <a:latin typeface="+mn-lt"/>
                <a:cs typeface="Arial MT"/>
              </a:rPr>
              <a:t>interpretable</a:t>
            </a:r>
            <a:r>
              <a:rPr sz="2400" spc="-55" dirty="0">
                <a:latin typeface="+mn-lt"/>
                <a:cs typeface="Arial MT"/>
              </a:rPr>
              <a:t> </a:t>
            </a:r>
            <a:r>
              <a:rPr lang="en-PH" sz="2400" spc="-90" dirty="0">
                <a:latin typeface="+mn-lt"/>
                <a:cs typeface="Arial MT"/>
              </a:rPr>
              <a:t>SVM </a:t>
            </a:r>
            <a:r>
              <a:rPr sz="2400" spc="-10" dirty="0">
                <a:latin typeface="+mn-lt"/>
                <a:cs typeface="Arial MT"/>
              </a:rPr>
              <a:t>model,</a:t>
            </a:r>
            <a:endParaRPr sz="2400" dirty="0">
              <a:latin typeface="+mn-lt"/>
              <a:cs typeface="Arial MT"/>
            </a:endParaRPr>
          </a:p>
          <a:p>
            <a:pPr marL="55880">
              <a:lnSpc>
                <a:spcPts val="2865"/>
              </a:lnSpc>
              <a:spcBef>
                <a:spcPts val="30"/>
              </a:spcBef>
            </a:pPr>
            <a:r>
              <a:rPr sz="2400" spc="-70" dirty="0">
                <a:latin typeface="+mn-lt"/>
                <a:cs typeface="Arial MT"/>
              </a:rPr>
              <a:t>encapsulated</a:t>
            </a:r>
            <a:r>
              <a:rPr sz="2400" spc="50" dirty="0">
                <a:latin typeface="+mn-lt"/>
                <a:cs typeface="Arial MT"/>
              </a:rPr>
              <a:t> </a:t>
            </a:r>
            <a:r>
              <a:rPr sz="2400" spc="-30" dirty="0">
                <a:latin typeface="+mn-lt"/>
                <a:cs typeface="Arial MT"/>
              </a:rPr>
              <a:t>in</a:t>
            </a:r>
            <a:r>
              <a:rPr sz="2400" spc="-135" dirty="0">
                <a:latin typeface="+mn-lt"/>
                <a:cs typeface="Arial MT"/>
              </a:rPr>
              <a:t> </a:t>
            </a:r>
            <a:r>
              <a:rPr sz="2400" spc="-220" dirty="0">
                <a:latin typeface="+mn-lt"/>
                <a:cs typeface="Arial MT"/>
              </a:rPr>
              <a:t>a</a:t>
            </a:r>
            <a:r>
              <a:rPr sz="2400" dirty="0">
                <a:latin typeface="+mn-lt"/>
                <a:cs typeface="Arial MT"/>
              </a:rPr>
              <a:t> </a:t>
            </a:r>
            <a:r>
              <a:rPr sz="2400" spc="-45" dirty="0">
                <a:latin typeface="+mn-lt"/>
                <a:cs typeface="Arial MT"/>
              </a:rPr>
              <a:t>deployment-</a:t>
            </a:r>
            <a:r>
              <a:rPr sz="2400" spc="-35" dirty="0">
                <a:latin typeface="+mn-lt"/>
                <a:cs typeface="Arial MT"/>
              </a:rPr>
              <a:t>ready</a:t>
            </a:r>
            <a:r>
              <a:rPr sz="2400" spc="-130" dirty="0">
                <a:latin typeface="+mn-lt"/>
                <a:cs typeface="Arial MT"/>
              </a:rPr>
              <a:t> </a:t>
            </a:r>
            <a:r>
              <a:rPr sz="2400" spc="-55" dirty="0">
                <a:latin typeface="+mn-lt"/>
                <a:cs typeface="Arial MT"/>
              </a:rPr>
              <a:t>pipeline,</a:t>
            </a:r>
            <a:r>
              <a:rPr sz="2400" spc="5" dirty="0">
                <a:latin typeface="+mn-lt"/>
                <a:cs typeface="Arial MT"/>
              </a:rPr>
              <a:t> </a:t>
            </a:r>
            <a:r>
              <a:rPr sz="2400" spc="-25" dirty="0">
                <a:latin typeface="+mn-lt"/>
                <a:cs typeface="Arial MT"/>
              </a:rPr>
              <a:t>was</a:t>
            </a:r>
            <a:endParaRPr sz="2400" dirty="0">
              <a:latin typeface="+mn-lt"/>
              <a:cs typeface="Arial MT"/>
            </a:endParaRPr>
          </a:p>
          <a:p>
            <a:pPr marL="57150">
              <a:lnSpc>
                <a:spcPts val="2805"/>
              </a:lnSpc>
            </a:pPr>
            <a:r>
              <a:rPr sz="2400" spc="-40" dirty="0">
                <a:latin typeface="+mn-lt"/>
                <a:cs typeface="Arial MT"/>
              </a:rPr>
              <a:t>developed</a:t>
            </a:r>
            <a:r>
              <a:rPr sz="2400" spc="-135" dirty="0">
                <a:latin typeface="+mn-lt"/>
                <a:cs typeface="Arial MT"/>
              </a:rPr>
              <a:t> </a:t>
            </a:r>
            <a:r>
              <a:rPr sz="2400" spc="65" dirty="0">
                <a:latin typeface="+mn-lt"/>
                <a:cs typeface="Arial MT"/>
              </a:rPr>
              <a:t>to</a:t>
            </a:r>
            <a:r>
              <a:rPr sz="2400" spc="-160" dirty="0">
                <a:latin typeface="+mn-lt"/>
                <a:cs typeface="Arial MT"/>
              </a:rPr>
              <a:t> </a:t>
            </a:r>
            <a:r>
              <a:rPr sz="2400" dirty="0">
                <a:latin typeface="+mn-lt"/>
                <a:cs typeface="Arial MT"/>
              </a:rPr>
              <a:t>predict</a:t>
            </a:r>
            <a:r>
              <a:rPr sz="2400" spc="-50" dirty="0">
                <a:latin typeface="+mn-lt"/>
                <a:cs typeface="Arial MT"/>
              </a:rPr>
              <a:t> </a:t>
            </a:r>
            <a:r>
              <a:rPr sz="2400" dirty="0">
                <a:latin typeface="+mn-lt"/>
                <a:cs typeface="Arial MT"/>
              </a:rPr>
              <a:t>student</a:t>
            </a:r>
            <a:r>
              <a:rPr sz="2400" spc="75" dirty="0">
                <a:latin typeface="+mn-lt"/>
                <a:cs typeface="Arial MT"/>
              </a:rPr>
              <a:t> </a:t>
            </a:r>
            <a:r>
              <a:rPr sz="2400" spc="-10" dirty="0">
                <a:latin typeface="+mn-lt"/>
                <a:cs typeface="Arial MT"/>
              </a:rPr>
              <a:t>outcomes.</a:t>
            </a:r>
            <a:endParaRPr lang="en-PH" sz="2400" spc="-10" dirty="0">
              <a:latin typeface="+mn-lt"/>
              <a:cs typeface="Arial MT"/>
            </a:endParaRPr>
          </a:p>
          <a:p>
            <a:pPr marL="57150">
              <a:lnSpc>
                <a:spcPts val="2805"/>
              </a:lnSpc>
            </a:pPr>
            <a:endParaRPr sz="2400" dirty="0">
              <a:latin typeface="+mn-lt"/>
              <a:cs typeface="Arial MT"/>
            </a:endParaRPr>
          </a:p>
          <a:p>
            <a:pPr marL="29845" marR="5080" indent="-17780">
              <a:lnSpc>
                <a:spcPct val="96300"/>
              </a:lnSpc>
              <a:spcBef>
                <a:spcPts val="5"/>
              </a:spcBef>
            </a:pPr>
            <a:r>
              <a:rPr sz="2400" b="1" spc="-50" dirty="0">
                <a:latin typeface="+mn-lt"/>
                <a:cs typeface="Arial MT"/>
              </a:rPr>
              <a:t>Impact:</a:t>
            </a:r>
            <a:r>
              <a:rPr sz="2400" b="1" spc="-125" dirty="0">
                <a:latin typeface="+mn-lt"/>
                <a:cs typeface="Arial MT"/>
              </a:rPr>
              <a:t> </a:t>
            </a:r>
            <a:br>
              <a:rPr lang="en-PH" sz="2400" spc="-125" dirty="0">
                <a:latin typeface="+mn-lt"/>
                <a:cs typeface="Arial MT"/>
              </a:rPr>
            </a:br>
            <a:r>
              <a:rPr sz="2400" spc="-155" dirty="0">
                <a:latin typeface="+mn-lt"/>
                <a:cs typeface="Arial MT"/>
              </a:rPr>
              <a:t>The</a:t>
            </a:r>
            <a:r>
              <a:rPr sz="2400" spc="-80" dirty="0">
                <a:latin typeface="+mn-lt"/>
                <a:cs typeface="Arial MT"/>
              </a:rPr>
              <a:t> </a:t>
            </a:r>
            <a:r>
              <a:rPr sz="2400" spc="-140" dirty="0">
                <a:latin typeface="+mn-lt"/>
                <a:cs typeface="Arial MT"/>
              </a:rPr>
              <a:t>model</a:t>
            </a:r>
            <a:r>
              <a:rPr sz="2400" spc="-35" dirty="0">
                <a:latin typeface="+mn-lt"/>
                <a:cs typeface="Arial MT"/>
              </a:rPr>
              <a:t> </a:t>
            </a:r>
            <a:r>
              <a:rPr sz="2400" spc="-105" dirty="0">
                <a:latin typeface="+mn-lt"/>
                <a:cs typeface="Arial MT"/>
              </a:rPr>
              <a:t>provides</a:t>
            </a:r>
            <a:r>
              <a:rPr sz="2400" spc="-70" dirty="0">
                <a:latin typeface="+mn-lt"/>
                <a:cs typeface="Arial MT"/>
              </a:rPr>
              <a:t> </a:t>
            </a:r>
            <a:r>
              <a:rPr sz="2400" spc="-160" dirty="0">
                <a:latin typeface="+mn-lt"/>
                <a:cs typeface="Arial MT"/>
              </a:rPr>
              <a:t>an</a:t>
            </a:r>
            <a:r>
              <a:rPr sz="2400" spc="-70" dirty="0">
                <a:latin typeface="+mn-lt"/>
                <a:cs typeface="Arial MT"/>
              </a:rPr>
              <a:t> </a:t>
            </a:r>
            <a:r>
              <a:rPr sz="2400" spc="-110" dirty="0">
                <a:latin typeface="+mn-lt"/>
                <a:cs typeface="Arial MT"/>
              </a:rPr>
              <a:t>actionable</a:t>
            </a:r>
            <a:r>
              <a:rPr sz="2400" spc="-65" dirty="0">
                <a:latin typeface="+mn-lt"/>
                <a:cs typeface="Arial MT"/>
              </a:rPr>
              <a:t> </a:t>
            </a:r>
            <a:r>
              <a:rPr sz="2400" spc="-10" dirty="0">
                <a:latin typeface="+mn-lt"/>
                <a:cs typeface="Arial MT"/>
              </a:rPr>
              <a:t>list </a:t>
            </a:r>
            <a:r>
              <a:rPr sz="2400" spc="-60" dirty="0">
                <a:latin typeface="+mn-lt"/>
                <a:cs typeface="Arial MT"/>
              </a:rPr>
              <a:t>of</a:t>
            </a:r>
            <a:r>
              <a:rPr sz="2400" spc="-40" dirty="0">
                <a:latin typeface="+mn-lt"/>
                <a:cs typeface="Arial MT"/>
              </a:rPr>
              <a:t> </a:t>
            </a:r>
            <a:r>
              <a:rPr sz="2400" spc="-25" dirty="0">
                <a:solidFill>
                  <a:srgbClr val="9E4118"/>
                </a:solidFill>
                <a:latin typeface="+mn-lt"/>
                <a:cs typeface="Arial MT"/>
              </a:rPr>
              <a:t>364 </a:t>
            </a:r>
            <a:r>
              <a:rPr sz="2400" dirty="0">
                <a:solidFill>
                  <a:srgbClr val="B85724"/>
                </a:solidFill>
                <a:latin typeface="+mn-lt"/>
                <a:cs typeface="Arial MT"/>
              </a:rPr>
              <a:t>currently</a:t>
            </a:r>
            <a:r>
              <a:rPr sz="2400" spc="35" dirty="0">
                <a:solidFill>
                  <a:srgbClr val="B85724"/>
                </a:solidFill>
                <a:latin typeface="+mn-lt"/>
                <a:cs typeface="Arial MT"/>
              </a:rPr>
              <a:t> </a:t>
            </a:r>
            <a:r>
              <a:rPr sz="2400" spc="-30" dirty="0">
                <a:solidFill>
                  <a:srgbClr val="AA4916"/>
                </a:solidFill>
                <a:latin typeface="+mn-lt"/>
                <a:cs typeface="Arial MT"/>
              </a:rPr>
              <a:t>enrolled</a:t>
            </a:r>
            <a:r>
              <a:rPr sz="2400" spc="-85" dirty="0">
                <a:solidFill>
                  <a:srgbClr val="AA4916"/>
                </a:solidFill>
                <a:latin typeface="+mn-lt"/>
                <a:cs typeface="Arial MT"/>
              </a:rPr>
              <a:t> </a:t>
            </a:r>
            <a:r>
              <a:rPr sz="2400" dirty="0">
                <a:solidFill>
                  <a:srgbClr val="B14F23"/>
                </a:solidFill>
                <a:latin typeface="+mn-lt"/>
                <a:cs typeface="Arial MT"/>
              </a:rPr>
              <a:t>students</a:t>
            </a:r>
            <a:r>
              <a:rPr sz="2400" spc="70" dirty="0">
                <a:solidFill>
                  <a:srgbClr val="B14F23"/>
                </a:solidFill>
                <a:latin typeface="+mn-lt"/>
                <a:cs typeface="Arial MT"/>
              </a:rPr>
              <a:t> </a:t>
            </a:r>
            <a:r>
              <a:rPr sz="2400" dirty="0">
                <a:latin typeface="+mn-lt"/>
                <a:cs typeface="Arial MT"/>
              </a:rPr>
              <a:t>at</a:t>
            </a:r>
            <a:r>
              <a:rPr sz="2400" spc="-50" dirty="0">
                <a:latin typeface="+mn-lt"/>
                <a:cs typeface="Arial MT"/>
              </a:rPr>
              <a:t> </a:t>
            </a:r>
            <a:r>
              <a:rPr sz="2400" spc="-70" dirty="0">
                <a:latin typeface="+mn-lt"/>
                <a:cs typeface="Arial MT"/>
              </a:rPr>
              <a:t>high</a:t>
            </a:r>
            <a:r>
              <a:rPr sz="2400" spc="-95" dirty="0">
                <a:latin typeface="+mn-lt"/>
                <a:cs typeface="Arial MT"/>
              </a:rPr>
              <a:t> </a:t>
            </a:r>
            <a:r>
              <a:rPr sz="2400" spc="-25" dirty="0">
                <a:latin typeface="+mn-lt"/>
                <a:cs typeface="Arial MT"/>
              </a:rPr>
              <a:t>risk</a:t>
            </a:r>
            <a:r>
              <a:rPr sz="2400" spc="-15" dirty="0">
                <a:latin typeface="+mn-lt"/>
                <a:cs typeface="Arial MT"/>
              </a:rPr>
              <a:t> </a:t>
            </a:r>
            <a:r>
              <a:rPr sz="2400" dirty="0">
                <a:latin typeface="+mn-lt"/>
                <a:cs typeface="Arial MT"/>
              </a:rPr>
              <a:t>of</a:t>
            </a:r>
            <a:r>
              <a:rPr sz="2400" spc="15" dirty="0">
                <a:latin typeface="+mn-lt"/>
                <a:cs typeface="Arial MT"/>
              </a:rPr>
              <a:t> </a:t>
            </a:r>
            <a:r>
              <a:rPr sz="2400" spc="-10" dirty="0">
                <a:latin typeface="+mn-lt"/>
                <a:cs typeface="Arial MT"/>
              </a:rPr>
              <a:t>attrition, </a:t>
            </a:r>
            <a:r>
              <a:rPr sz="2400" spc="-120" dirty="0">
                <a:latin typeface="+mn-lt"/>
                <a:cs typeface="Arial MT"/>
              </a:rPr>
              <a:t>enabling</a:t>
            </a:r>
            <a:r>
              <a:rPr sz="2400" spc="-55" dirty="0">
                <a:latin typeface="+mn-lt"/>
                <a:cs typeface="Arial MT"/>
              </a:rPr>
              <a:t> </a:t>
            </a:r>
            <a:r>
              <a:rPr sz="2400" spc="-254" dirty="0">
                <a:latin typeface="+mn-lt"/>
                <a:cs typeface="Arial MT"/>
              </a:rPr>
              <a:t>a</a:t>
            </a:r>
            <a:r>
              <a:rPr sz="2400" spc="-25" dirty="0">
                <a:latin typeface="+mn-lt"/>
                <a:cs typeface="Arial MT"/>
              </a:rPr>
              <a:t> </a:t>
            </a:r>
            <a:r>
              <a:rPr sz="2400" spc="-60" dirty="0">
                <a:latin typeface="+mn-lt"/>
                <a:cs typeface="Arial MT"/>
              </a:rPr>
              <a:t>shift</a:t>
            </a:r>
            <a:r>
              <a:rPr sz="2400" spc="-114" dirty="0">
                <a:latin typeface="+mn-lt"/>
                <a:cs typeface="Arial MT"/>
              </a:rPr>
              <a:t> </a:t>
            </a:r>
            <a:r>
              <a:rPr sz="2400" spc="-95" dirty="0">
                <a:latin typeface="+mn-lt"/>
                <a:cs typeface="Arial MT"/>
              </a:rPr>
              <a:t>from</a:t>
            </a:r>
            <a:r>
              <a:rPr sz="2400" spc="-135" dirty="0">
                <a:latin typeface="+mn-lt"/>
                <a:cs typeface="Arial MT"/>
              </a:rPr>
              <a:t> </a:t>
            </a:r>
            <a:r>
              <a:rPr sz="2400" spc="-90" dirty="0">
                <a:latin typeface="+mn-lt"/>
                <a:cs typeface="Arial MT"/>
              </a:rPr>
              <a:t>reactive</a:t>
            </a:r>
            <a:r>
              <a:rPr sz="2400" spc="-85" dirty="0">
                <a:latin typeface="+mn-lt"/>
                <a:cs typeface="Arial MT"/>
              </a:rPr>
              <a:t> </a:t>
            </a:r>
            <a:r>
              <a:rPr sz="2400" spc="-55" dirty="0">
                <a:latin typeface="+mn-lt"/>
                <a:cs typeface="Arial MT"/>
              </a:rPr>
              <a:t>to</a:t>
            </a:r>
            <a:r>
              <a:rPr sz="2400" spc="-120" dirty="0">
                <a:latin typeface="+mn-lt"/>
                <a:cs typeface="Arial MT"/>
              </a:rPr>
              <a:t> </a:t>
            </a:r>
            <a:r>
              <a:rPr sz="2400" spc="-80" dirty="0">
                <a:latin typeface="+mn-lt"/>
                <a:cs typeface="Arial MT"/>
              </a:rPr>
              <a:t>proactive</a:t>
            </a:r>
            <a:r>
              <a:rPr sz="2400" spc="10" dirty="0">
                <a:latin typeface="+mn-lt"/>
                <a:cs typeface="Arial MT"/>
              </a:rPr>
              <a:t> </a:t>
            </a:r>
            <a:r>
              <a:rPr sz="2400" spc="-90" dirty="0">
                <a:latin typeface="+mn-lt"/>
                <a:cs typeface="Arial MT"/>
              </a:rPr>
              <a:t>support</a:t>
            </a:r>
            <a:r>
              <a:rPr sz="2400" spc="30" dirty="0">
                <a:latin typeface="+mn-lt"/>
                <a:cs typeface="Arial MT"/>
              </a:rPr>
              <a:t> </a:t>
            </a:r>
            <a:r>
              <a:rPr sz="2400" spc="-70" dirty="0">
                <a:latin typeface="+mn-lt"/>
                <a:cs typeface="Arial MT"/>
              </a:rPr>
              <a:t>and </a:t>
            </a:r>
            <a:r>
              <a:rPr sz="2400" spc="-130" dirty="0">
                <a:latin typeface="+mn-lt"/>
                <a:cs typeface="Arial MT"/>
              </a:rPr>
              <a:t>optimising</a:t>
            </a:r>
            <a:r>
              <a:rPr sz="2400" spc="60" dirty="0">
                <a:latin typeface="+mn-lt"/>
                <a:cs typeface="Arial MT"/>
              </a:rPr>
              <a:t> </a:t>
            </a:r>
            <a:r>
              <a:rPr sz="2400" spc="-105" dirty="0">
                <a:latin typeface="+mn-lt"/>
                <a:cs typeface="Arial MT"/>
              </a:rPr>
              <a:t>the</a:t>
            </a:r>
            <a:r>
              <a:rPr sz="2400" spc="-114" dirty="0">
                <a:latin typeface="+mn-lt"/>
                <a:cs typeface="Arial MT"/>
              </a:rPr>
              <a:t> </a:t>
            </a:r>
            <a:r>
              <a:rPr sz="2400" spc="-245" dirty="0">
                <a:latin typeface="+mn-lt"/>
                <a:cs typeface="Arial MT"/>
              </a:rPr>
              <a:t>use</a:t>
            </a:r>
            <a:r>
              <a:rPr sz="2400" spc="30" dirty="0">
                <a:latin typeface="+mn-lt"/>
                <a:cs typeface="Arial MT"/>
              </a:rPr>
              <a:t> </a:t>
            </a:r>
            <a:r>
              <a:rPr sz="2400" spc="-95" dirty="0">
                <a:latin typeface="+mn-lt"/>
                <a:cs typeface="Arial MT"/>
              </a:rPr>
              <a:t>of</a:t>
            </a:r>
            <a:r>
              <a:rPr sz="2400" spc="-20" dirty="0">
                <a:latin typeface="+mn-lt"/>
                <a:cs typeface="Arial MT"/>
              </a:rPr>
              <a:t> </a:t>
            </a:r>
            <a:r>
              <a:rPr sz="2400" spc="-145" dirty="0">
                <a:latin typeface="+mn-lt"/>
                <a:cs typeface="Arial MT"/>
              </a:rPr>
              <a:t>counselling</a:t>
            </a:r>
            <a:r>
              <a:rPr sz="2400" spc="-10" dirty="0">
                <a:latin typeface="+mn-lt"/>
                <a:cs typeface="Arial MT"/>
              </a:rPr>
              <a:t> </a:t>
            </a:r>
            <a:r>
              <a:rPr sz="2400" spc="-30" dirty="0">
                <a:latin typeface="+mn-lt"/>
                <a:cs typeface="Arial MT"/>
              </a:rPr>
              <a:t>resources.</a:t>
            </a:r>
            <a:endParaRPr sz="2400" dirty="0">
              <a:latin typeface="+mn-lt"/>
              <a:cs typeface="Arial MT"/>
            </a:endParaRPr>
          </a:p>
        </p:txBody>
      </p:sp>
      <p:sp>
        <p:nvSpPr>
          <p:cNvPr id="9" name="object 9"/>
          <p:cNvSpPr txBox="1"/>
          <p:nvPr/>
        </p:nvSpPr>
        <p:spPr>
          <a:xfrm>
            <a:off x="8980948" y="2773538"/>
            <a:ext cx="7183120" cy="575945"/>
          </a:xfrm>
          <a:prstGeom prst="rect">
            <a:avLst/>
          </a:prstGeom>
        </p:spPr>
        <p:txBody>
          <a:bodyPr vert="horz" wrap="square" lIns="0" tIns="13970" rIns="0" bIns="0" rtlCol="0">
            <a:spAutoFit/>
          </a:bodyPr>
          <a:lstStyle/>
          <a:p>
            <a:pPr marL="12700">
              <a:lnSpc>
                <a:spcPct val="100000"/>
              </a:lnSpc>
              <a:spcBef>
                <a:spcPts val="110"/>
              </a:spcBef>
            </a:pPr>
            <a:r>
              <a:rPr sz="3600" dirty="0">
                <a:latin typeface="+mn-lt"/>
                <a:cs typeface="Arial MT"/>
              </a:rPr>
              <a:t>Recommendations</a:t>
            </a:r>
            <a:r>
              <a:rPr sz="3600" spc="155" dirty="0">
                <a:latin typeface="+mn-lt"/>
                <a:cs typeface="Arial MT"/>
              </a:rPr>
              <a:t> </a:t>
            </a:r>
            <a:r>
              <a:rPr sz="3600" dirty="0">
                <a:latin typeface="+mn-lt"/>
                <a:cs typeface="Arial MT"/>
              </a:rPr>
              <a:t>and</a:t>
            </a:r>
            <a:r>
              <a:rPr sz="3600" spc="105" dirty="0">
                <a:latin typeface="+mn-lt"/>
                <a:cs typeface="Arial MT"/>
              </a:rPr>
              <a:t> </a:t>
            </a:r>
            <a:r>
              <a:rPr sz="3600" dirty="0">
                <a:latin typeface="+mn-lt"/>
                <a:cs typeface="Arial MT"/>
              </a:rPr>
              <a:t>Next</a:t>
            </a:r>
            <a:r>
              <a:rPr sz="3600" spc="275" dirty="0">
                <a:latin typeface="+mn-lt"/>
                <a:cs typeface="Arial MT"/>
              </a:rPr>
              <a:t> </a:t>
            </a:r>
            <a:r>
              <a:rPr sz="3600" spc="-10" dirty="0">
                <a:latin typeface="+mn-lt"/>
                <a:cs typeface="Arial MT"/>
              </a:rPr>
              <a:t>Steps</a:t>
            </a:r>
            <a:endParaRPr sz="3600">
              <a:latin typeface="+mn-lt"/>
              <a:cs typeface="Arial MT"/>
            </a:endParaRPr>
          </a:p>
        </p:txBody>
      </p:sp>
      <p:sp>
        <p:nvSpPr>
          <p:cNvPr id="10" name="object 10"/>
          <p:cNvSpPr txBox="1">
            <a:spLocks noGrp="1"/>
          </p:cNvSpPr>
          <p:nvPr>
            <p:ph sz="half" idx="3"/>
          </p:nvPr>
        </p:nvSpPr>
        <p:spPr>
          <a:xfrm>
            <a:off x="10376886" y="3728508"/>
            <a:ext cx="6442709" cy="5754204"/>
          </a:xfrm>
          <a:prstGeom prst="rect">
            <a:avLst/>
          </a:prstGeom>
        </p:spPr>
        <p:txBody>
          <a:bodyPr vert="horz" wrap="square" lIns="0" tIns="6985" rIns="0" bIns="0" rtlCol="0">
            <a:spAutoFit/>
          </a:bodyPr>
          <a:lstStyle/>
          <a:p>
            <a:pPr marL="13335" marR="177165" indent="635">
              <a:lnSpc>
                <a:spcPct val="101200"/>
              </a:lnSpc>
              <a:spcBef>
                <a:spcPts val="55"/>
              </a:spcBef>
            </a:pPr>
            <a:r>
              <a:rPr sz="2400" b="1" dirty="0">
                <a:latin typeface="+mn-lt"/>
              </a:rPr>
              <a:t>Deployment:</a:t>
            </a:r>
            <a:r>
              <a:rPr sz="2400" b="1" spc="-30" dirty="0">
                <a:latin typeface="+mn-lt"/>
              </a:rPr>
              <a:t> </a:t>
            </a:r>
            <a:br>
              <a:rPr lang="en-PH" sz="2400" spc="-30" dirty="0">
                <a:latin typeface="+mn-lt"/>
              </a:rPr>
            </a:br>
            <a:r>
              <a:rPr sz="2400" dirty="0">
                <a:latin typeface="+mn-lt"/>
              </a:rPr>
              <a:t>Integrate</a:t>
            </a:r>
            <a:r>
              <a:rPr sz="2400" spc="75" dirty="0">
                <a:latin typeface="+mn-lt"/>
              </a:rPr>
              <a:t> </a:t>
            </a:r>
            <a:r>
              <a:rPr sz="2400" dirty="0">
                <a:latin typeface="+mn-lt"/>
              </a:rPr>
              <a:t>the</a:t>
            </a:r>
            <a:r>
              <a:rPr sz="2400" spc="-140" dirty="0">
                <a:latin typeface="+mn-lt"/>
              </a:rPr>
              <a:t> </a:t>
            </a:r>
            <a:r>
              <a:rPr lang="en-PH" sz="2400" spc="-65" dirty="0">
                <a:latin typeface="+mn-lt"/>
              </a:rPr>
              <a:t>‘</a:t>
            </a:r>
            <a:r>
              <a:rPr lang="en-PH" sz="2400" spc="-65" dirty="0" err="1">
                <a:latin typeface="+mn-lt"/>
              </a:rPr>
              <a:t>svc_pipeline</a:t>
            </a:r>
            <a:r>
              <a:rPr sz="2400" spc="-65" dirty="0">
                <a:latin typeface="+mn-lt"/>
              </a:rPr>
              <a:t>.</a:t>
            </a:r>
            <a:r>
              <a:rPr lang="en-PH" sz="2400" spc="-65" dirty="0" err="1">
                <a:latin typeface="+mn-lt"/>
              </a:rPr>
              <a:t>joblib</a:t>
            </a:r>
            <a:r>
              <a:rPr sz="2400" spc="190" dirty="0">
                <a:latin typeface="+mn-lt"/>
              </a:rPr>
              <a:t>’ </a:t>
            </a:r>
            <a:r>
              <a:rPr sz="2400" spc="-45" dirty="0">
                <a:latin typeface="+mn-lt"/>
              </a:rPr>
              <a:t>model</a:t>
            </a:r>
            <a:r>
              <a:rPr sz="2400" spc="-120" dirty="0">
                <a:latin typeface="+mn-lt"/>
              </a:rPr>
              <a:t> </a:t>
            </a:r>
            <a:r>
              <a:rPr sz="2400" dirty="0">
                <a:latin typeface="+mn-lt"/>
              </a:rPr>
              <a:t>into</a:t>
            </a:r>
            <a:r>
              <a:rPr sz="2400" spc="-85" dirty="0">
                <a:latin typeface="+mn-lt"/>
              </a:rPr>
              <a:t> </a:t>
            </a:r>
            <a:r>
              <a:rPr sz="2400" dirty="0">
                <a:latin typeface="+mn-lt"/>
              </a:rPr>
              <a:t>a</a:t>
            </a:r>
            <a:r>
              <a:rPr sz="2400" spc="-95" dirty="0">
                <a:latin typeface="+mn-lt"/>
              </a:rPr>
              <a:t> </a:t>
            </a:r>
            <a:r>
              <a:rPr sz="2400" spc="-50" dirty="0">
                <a:latin typeface="+mn-lt"/>
              </a:rPr>
              <a:t>secure</a:t>
            </a:r>
            <a:r>
              <a:rPr sz="2400" spc="15" dirty="0">
                <a:latin typeface="+mn-lt"/>
              </a:rPr>
              <a:t> </a:t>
            </a:r>
            <a:r>
              <a:rPr sz="2400" spc="-45" dirty="0">
                <a:latin typeface="+mn-lt"/>
              </a:rPr>
              <a:t>dashboard</a:t>
            </a:r>
            <a:r>
              <a:rPr sz="2400" spc="-25" dirty="0">
                <a:latin typeface="+mn-lt"/>
              </a:rPr>
              <a:t> </a:t>
            </a:r>
            <a:r>
              <a:rPr sz="2400" dirty="0">
                <a:latin typeface="+mn-lt"/>
              </a:rPr>
              <a:t>for</a:t>
            </a:r>
            <a:r>
              <a:rPr sz="2400" spc="-65" dirty="0">
                <a:latin typeface="+mn-lt"/>
              </a:rPr>
              <a:t> </a:t>
            </a:r>
            <a:r>
              <a:rPr sz="2400" spc="-10" dirty="0">
                <a:latin typeface="+mn-lt"/>
              </a:rPr>
              <a:t>academic advisors</a:t>
            </a:r>
            <a:r>
              <a:rPr sz="2400" spc="-15" dirty="0">
                <a:latin typeface="+mn-lt"/>
              </a:rPr>
              <a:t> </a:t>
            </a:r>
            <a:r>
              <a:rPr sz="2400" dirty="0">
                <a:latin typeface="+mn-lt"/>
              </a:rPr>
              <a:t>to</a:t>
            </a:r>
            <a:r>
              <a:rPr sz="2400" spc="-160" dirty="0">
                <a:latin typeface="+mn-lt"/>
              </a:rPr>
              <a:t> </a:t>
            </a:r>
            <a:r>
              <a:rPr sz="2400" dirty="0">
                <a:latin typeface="+mn-lt"/>
              </a:rPr>
              <a:t>view</a:t>
            </a:r>
            <a:r>
              <a:rPr sz="2400" spc="-90" dirty="0">
                <a:latin typeface="+mn-lt"/>
              </a:rPr>
              <a:t> </a:t>
            </a:r>
            <a:r>
              <a:rPr sz="2400" spc="-10" dirty="0">
                <a:latin typeface="+mn-lt"/>
              </a:rPr>
              <a:t>at-</a:t>
            </a:r>
            <a:r>
              <a:rPr sz="2400" dirty="0">
                <a:latin typeface="+mn-lt"/>
              </a:rPr>
              <a:t>risk</a:t>
            </a:r>
            <a:r>
              <a:rPr sz="2400" spc="-60" dirty="0">
                <a:latin typeface="+mn-lt"/>
              </a:rPr>
              <a:t> </a:t>
            </a:r>
            <a:r>
              <a:rPr sz="2400" dirty="0">
                <a:latin typeface="+mn-lt"/>
              </a:rPr>
              <a:t>student lists</a:t>
            </a:r>
            <a:r>
              <a:rPr sz="2400" spc="-140" dirty="0">
                <a:latin typeface="+mn-lt"/>
              </a:rPr>
              <a:t> </a:t>
            </a:r>
            <a:r>
              <a:rPr sz="2400" dirty="0">
                <a:latin typeface="+mn-lt"/>
              </a:rPr>
              <a:t>in</a:t>
            </a:r>
            <a:r>
              <a:rPr sz="2400" spc="-160" dirty="0">
                <a:latin typeface="+mn-lt"/>
              </a:rPr>
              <a:t> </a:t>
            </a:r>
            <a:r>
              <a:rPr sz="2400" spc="-45" dirty="0">
                <a:latin typeface="+mn-lt"/>
              </a:rPr>
              <a:t>near</a:t>
            </a:r>
            <a:r>
              <a:rPr sz="2400" spc="-20" dirty="0">
                <a:latin typeface="+mn-lt"/>
              </a:rPr>
              <a:t> real- </a:t>
            </a:r>
            <a:r>
              <a:rPr sz="2400" spc="-10" dirty="0">
                <a:latin typeface="+mn-lt"/>
              </a:rPr>
              <a:t>time.</a:t>
            </a:r>
            <a:endParaRPr sz="2400" dirty="0">
              <a:latin typeface="+mn-lt"/>
            </a:endParaRPr>
          </a:p>
          <a:p>
            <a:pPr>
              <a:lnSpc>
                <a:spcPct val="100000"/>
              </a:lnSpc>
              <a:spcBef>
                <a:spcPts val="1590"/>
              </a:spcBef>
            </a:pPr>
            <a:endParaRPr sz="2400" dirty="0">
              <a:latin typeface="+mn-lt"/>
            </a:endParaRPr>
          </a:p>
          <a:p>
            <a:pPr marL="12700" marR="163195" indent="635">
              <a:lnSpc>
                <a:spcPct val="97900"/>
              </a:lnSpc>
            </a:pPr>
            <a:r>
              <a:rPr sz="2400" b="1" dirty="0">
                <a:latin typeface="+mn-lt"/>
              </a:rPr>
              <a:t>Refinement:</a:t>
            </a:r>
            <a:r>
              <a:rPr sz="2400" b="1" spc="-50" dirty="0">
                <a:latin typeface="+mn-lt"/>
              </a:rPr>
              <a:t> </a:t>
            </a:r>
            <a:br>
              <a:rPr lang="en-PH" sz="2400" spc="-50" dirty="0">
                <a:latin typeface="+mn-lt"/>
              </a:rPr>
            </a:br>
            <a:r>
              <a:rPr sz="2400" spc="-40" dirty="0">
                <a:latin typeface="+mn-lt"/>
              </a:rPr>
              <a:t>Continuously</a:t>
            </a:r>
            <a:r>
              <a:rPr sz="2400" spc="-30" dirty="0">
                <a:latin typeface="+mn-lt"/>
              </a:rPr>
              <a:t> </a:t>
            </a:r>
            <a:r>
              <a:rPr sz="2400" spc="-10" dirty="0">
                <a:latin typeface="+mn-lt"/>
              </a:rPr>
              <a:t>retrain</a:t>
            </a:r>
            <a:r>
              <a:rPr sz="2400" spc="-85" dirty="0">
                <a:latin typeface="+mn-lt"/>
              </a:rPr>
              <a:t> </a:t>
            </a:r>
            <a:r>
              <a:rPr sz="2400" dirty="0">
                <a:latin typeface="+mn-lt"/>
              </a:rPr>
              <a:t>the</a:t>
            </a:r>
            <a:r>
              <a:rPr sz="2400" spc="-160" dirty="0">
                <a:latin typeface="+mn-lt"/>
              </a:rPr>
              <a:t> </a:t>
            </a:r>
            <a:r>
              <a:rPr sz="2400" spc="-25" dirty="0">
                <a:latin typeface="+mn-lt"/>
              </a:rPr>
              <a:t>model</a:t>
            </a:r>
            <a:r>
              <a:rPr sz="2400" spc="-75" dirty="0">
                <a:latin typeface="+mn-lt"/>
              </a:rPr>
              <a:t> </a:t>
            </a:r>
            <a:r>
              <a:rPr sz="2400" spc="-20" dirty="0">
                <a:latin typeface="+mn-lt"/>
              </a:rPr>
              <a:t>with </a:t>
            </a:r>
            <a:r>
              <a:rPr sz="2400" spc="-120" dirty="0">
                <a:latin typeface="+mn-lt"/>
              </a:rPr>
              <a:t>new</a:t>
            </a:r>
            <a:r>
              <a:rPr sz="2400" spc="-55" dirty="0">
                <a:latin typeface="+mn-lt"/>
              </a:rPr>
              <a:t> </a:t>
            </a:r>
            <a:r>
              <a:rPr sz="2400" spc="-80" dirty="0">
                <a:latin typeface="+mn-lt"/>
              </a:rPr>
              <a:t>student </a:t>
            </a:r>
            <a:r>
              <a:rPr sz="2400" spc="-105" dirty="0">
                <a:latin typeface="+mn-lt"/>
              </a:rPr>
              <a:t>data</a:t>
            </a:r>
            <a:r>
              <a:rPr sz="2400" spc="-70" dirty="0">
                <a:latin typeface="+mn-lt"/>
              </a:rPr>
              <a:t> </a:t>
            </a:r>
            <a:r>
              <a:rPr sz="2400" spc="-114" dirty="0">
                <a:latin typeface="+mn-lt"/>
              </a:rPr>
              <a:t>each</a:t>
            </a:r>
            <a:r>
              <a:rPr sz="2400" spc="-40" dirty="0">
                <a:latin typeface="+mn-lt"/>
              </a:rPr>
              <a:t> </a:t>
            </a:r>
            <a:r>
              <a:rPr sz="2400" spc="-145" dirty="0">
                <a:latin typeface="+mn-lt"/>
              </a:rPr>
              <a:t>semester</a:t>
            </a:r>
            <a:r>
              <a:rPr sz="2400" spc="35" dirty="0">
                <a:latin typeface="+mn-lt"/>
              </a:rPr>
              <a:t> </a:t>
            </a:r>
            <a:r>
              <a:rPr sz="2400" dirty="0">
                <a:latin typeface="+mn-lt"/>
              </a:rPr>
              <a:t>to</a:t>
            </a:r>
            <a:r>
              <a:rPr sz="2400" spc="-155" dirty="0">
                <a:latin typeface="+mn-lt"/>
              </a:rPr>
              <a:t> </a:t>
            </a:r>
            <a:r>
              <a:rPr sz="2400" spc="-114" dirty="0">
                <a:latin typeface="+mn-lt"/>
              </a:rPr>
              <a:t>adapt</a:t>
            </a:r>
            <a:r>
              <a:rPr sz="2400" spc="-50" dirty="0">
                <a:latin typeface="+mn-lt"/>
              </a:rPr>
              <a:t> </a:t>
            </a:r>
            <a:r>
              <a:rPr sz="2400" spc="-25" dirty="0">
                <a:latin typeface="+mn-lt"/>
              </a:rPr>
              <a:t>to </a:t>
            </a:r>
            <a:r>
              <a:rPr sz="2400" spc="-30" dirty="0">
                <a:latin typeface="+mn-lt"/>
              </a:rPr>
              <a:t>changing</a:t>
            </a:r>
            <a:r>
              <a:rPr sz="2400" spc="-135" dirty="0">
                <a:latin typeface="+mn-lt"/>
              </a:rPr>
              <a:t> </a:t>
            </a:r>
            <a:r>
              <a:rPr sz="2400" dirty="0">
                <a:latin typeface="+mn-lt"/>
              </a:rPr>
              <a:t>trends</a:t>
            </a:r>
            <a:r>
              <a:rPr sz="2400" spc="-130" dirty="0">
                <a:latin typeface="+mn-lt"/>
              </a:rPr>
              <a:t> </a:t>
            </a:r>
            <a:r>
              <a:rPr sz="2400" spc="-55" dirty="0">
                <a:latin typeface="+mn-lt"/>
              </a:rPr>
              <a:t>and</a:t>
            </a:r>
            <a:r>
              <a:rPr sz="2400" spc="-105" dirty="0">
                <a:latin typeface="+mn-lt"/>
              </a:rPr>
              <a:t> </a:t>
            </a:r>
            <a:r>
              <a:rPr sz="2400" spc="-40" dirty="0">
                <a:latin typeface="+mn-lt"/>
              </a:rPr>
              <a:t>maintain</a:t>
            </a:r>
            <a:r>
              <a:rPr sz="2400" spc="-100" dirty="0">
                <a:latin typeface="+mn-lt"/>
              </a:rPr>
              <a:t> </a:t>
            </a:r>
            <a:r>
              <a:rPr sz="2400" spc="-10" dirty="0">
                <a:latin typeface="+mn-lt"/>
              </a:rPr>
              <a:t>high</a:t>
            </a:r>
            <a:r>
              <a:rPr sz="2400" spc="-100" dirty="0">
                <a:latin typeface="+mn-lt"/>
              </a:rPr>
              <a:t> </a:t>
            </a:r>
            <a:r>
              <a:rPr sz="2400" spc="-10" dirty="0">
                <a:latin typeface="+mn-lt"/>
              </a:rPr>
              <a:t>accuracy.</a:t>
            </a:r>
            <a:endParaRPr lang="en-PH" sz="2400" spc="-10" dirty="0">
              <a:latin typeface="+mn-lt"/>
            </a:endParaRPr>
          </a:p>
          <a:p>
            <a:pPr marL="12700" marR="163195" indent="635">
              <a:lnSpc>
                <a:spcPct val="97900"/>
              </a:lnSpc>
            </a:pPr>
            <a:endParaRPr sz="2400" dirty="0">
              <a:latin typeface="+mn-lt"/>
            </a:endParaRPr>
          </a:p>
          <a:p>
            <a:pPr marL="21590" marR="5080" indent="-8255">
              <a:lnSpc>
                <a:spcPct val="101699"/>
              </a:lnSpc>
            </a:pPr>
            <a:r>
              <a:rPr sz="2400" b="1" spc="-10" dirty="0">
                <a:latin typeface="+mn-lt"/>
              </a:rPr>
              <a:t>Expansion:</a:t>
            </a:r>
            <a:r>
              <a:rPr sz="2400" b="1" spc="-15" dirty="0">
                <a:latin typeface="+mn-lt"/>
              </a:rPr>
              <a:t> </a:t>
            </a:r>
            <a:br>
              <a:rPr lang="en-PH" sz="2400" spc="-15" dirty="0">
                <a:latin typeface="+mn-lt"/>
              </a:rPr>
            </a:br>
            <a:r>
              <a:rPr sz="2400" spc="-70" dirty="0">
                <a:latin typeface="+mn-lt"/>
              </a:rPr>
              <a:t>Explore </a:t>
            </a:r>
            <a:r>
              <a:rPr sz="2400" dirty="0">
                <a:latin typeface="+mn-lt"/>
              </a:rPr>
              <a:t>the</a:t>
            </a:r>
            <a:r>
              <a:rPr sz="2400" spc="-150" dirty="0">
                <a:latin typeface="+mn-lt"/>
              </a:rPr>
              <a:t> </a:t>
            </a:r>
            <a:r>
              <a:rPr sz="2400" spc="-10" dirty="0">
                <a:latin typeface="+mn-lt"/>
              </a:rPr>
              <a:t>integration</a:t>
            </a:r>
            <a:r>
              <a:rPr sz="2400" spc="-5" dirty="0">
                <a:latin typeface="+mn-lt"/>
              </a:rPr>
              <a:t> </a:t>
            </a:r>
            <a:r>
              <a:rPr sz="2400" dirty="0">
                <a:latin typeface="+mn-lt"/>
              </a:rPr>
              <a:t>of</a:t>
            </a:r>
            <a:r>
              <a:rPr sz="2400" spc="-114" dirty="0">
                <a:latin typeface="+mn-lt"/>
              </a:rPr>
              <a:t> </a:t>
            </a:r>
            <a:r>
              <a:rPr sz="2400" spc="-10" dirty="0">
                <a:latin typeface="+mn-lt"/>
              </a:rPr>
              <a:t>additional </a:t>
            </a:r>
            <a:r>
              <a:rPr sz="2400" dirty="0">
                <a:latin typeface="+mn-lt"/>
              </a:rPr>
              <a:t>data</a:t>
            </a:r>
            <a:r>
              <a:rPr sz="2400" spc="-160" dirty="0">
                <a:latin typeface="+mn-lt"/>
              </a:rPr>
              <a:t> </a:t>
            </a:r>
            <a:r>
              <a:rPr sz="2400" spc="-50" dirty="0">
                <a:latin typeface="+mn-lt"/>
              </a:rPr>
              <a:t>sources,</a:t>
            </a:r>
            <a:r>
              <a:rPr sz="2400" spc="-95" dirty="0">
                <a:latin typeface="+mn-lt"/>
              </a:rPr>
              <a:t> </a:t>
            </a:r>
            <a:r>
              <a:rPr sz="2400" spc="-45" dirty="0">
                <a:latin typeface="+mn-lt"/>
              </a:rPr>
              <a:t>such</a:t>
            </a:r>
            <a:r>
              <a:rPr sz="2400" spc="-120" dirty="0">
                <a:latin typeface="+mn-lt"/>
              </a:rPr>
              <a:t> </a:t>
            </a:r>
            <a:r>
              <a:rPr sz="2400" spc="-35" dirty="0">
                <a:latin typeface="+mn-lt"/>
              </a:rPr>
              <a:t>as</a:t>
            </a:r>
            <a:r>
              <a:rPr sz="2400" spc="-125" dirty="0">
                <a:latin typeface="+mn-lt"/>
              </a:rPr>
              <a:t> </a:t>
            </a:r>
            <a:r>
              <a:rPr sz="2400" dirty="0">
                <a:latin typeface="+mn-lt"/>
              </a:rPr>
              <a:t>virtual</a:t>
            </a:r>
            <a:r>
              <a:rPr sz="2400" spc="-110" dirty="0">
                <a:latin typeface="+mn-lt"/>
              </a:rPr>
              <a:t> </a:t>
            </a:r>
            <a:r>
              <a:rPr sz="2400" spc="-40" dirty="0">
                <a:latin typeface="+mn-lt"/>
              </a:rPr>
              <a:t>learning</a:t>
            </a:r>
            <a:r>
              <a:rPr sz="2400" spc="-65" dirty="0">
                <a:latin typeface="+mn-lt"/>
              </a:rPr>
              <a:t> </a:t>
            </a:r>
            <a:r>
              <a:rPr sz="2400" spc="-50" dirty="0">
                <a:latin typeface="+mn-lt"/>
              </a:rPr>
              <a:t>environment </a:t>
            </a:r>
            <a:r>
              <a:rPr sz="2400" spc="-150" dirty="0">
                <a:latin typeface="+mn-lt"/>
              </a:rPr>
              <a:t>(VLE)</a:t>
            </a:r>
            <a:r>
              <a:rPr sz="2400" spc="-10" dirty="0">
                <a:latin typeface="+mn-lt"/>
              </a:rPr>
              <a:t> </a:t>
            </a:r>
            <a:r>
              <a:rPr sz="2400" spc="-45" dirty="0">
                <a:latin typeface="+mn-lt"/>
              </a:rPr>
              <a:t>engagement</a:t>
            </a:r>
            <a:r>
              <a:rPr sz="2400" spc="65" dirty="0">
                <a:latin typeface="+mn-lt"/>
              </a:rPr>
              <a:t> </a:t>
            </a:r>
            <a:r>
              <a:rPr sz="2400" spc="-25" dirty="0">
                <a:latin typeface="+mn-lt"/>
              </a:rPr>
              <a:t>logs,</a:t>
            </a:r>
            <a:r>
              <a:rPr sz="2400" spc="-90" dirty="0">
                <a:latin typeface="+mn-lt"/>
              </a:rPr>
              <a:t> </a:t>
            </a:r>
            <a:r>
              <a:rPr sz="2400" dirty="0">
                <a:latin typeface="+mn-lt"/>
              </a:rPr>
              <a:t>to</a:t>
            </a:r>
            <a:r>
              <a:rPr sz="2400" spc="-135" dirty="0">
                <a:latin typeface="+mn-lt"/>
              </a:rPr>
              <a:t> </a:t>
            </a:r>
            <a:r>
              <a:rPr sz="2400" dirty="0">
                <a:latin typeface="+mn-lt"/>
              </a:rPr>
              <a:t>further</a:t>
            </a:r>
            <a:r>
              <a:rPr sz="2400" spc="-10" dirty="0">
                <a:latin typeface="+mn-lt"/>
              </a:rPr>
              <a:t> </a:t>
            </a:r>
            <a:r>
              <a:rPr sz="2400" spc="-25" dirty="0">
                <a:latin typeface="+mn-lt"/>
              </a:rPr>
              <a:t>enrich</a:t>
            </a:r>
            <a:r>
              <a:rPr sz="2400" spc="-45" dirty="0">
                <a:latin typeface="+mn-lt"/>
              </a:rPr>
              <a:t> </a:t>
            </a:r>
            <a:r>
              <a:rPr sz="2400" spc="-25" dirty="0">
                <a:latin typeface="+mn-lt"/>
              </a:rPr>
              <a:t>the </a:t>
            </a:r>
            <a:r>
              <a:rPr sz="2400" spc="-10" dirty="0">
                <a:latin typeface="+mn-lt"/>
              </a:rPr>
              <a:t>feature</a:t>
            </a:r>
            <a:r>
              <a:rPr sz="2400" spc="-85" dirty="0">
                <a:latin typeface="+mn-lt"/>
              </a:rPr>
              <a:t> </a:t>
            </a:r>
            <a:r>
              <a:rPr sz="2400" spc="-65" dirty="0">
                <a:latin typeface="+mn-lt"/>
              </a:rPr>
              <a:t>space</a:t>
            </a:r>
            <a:r>
              <a:rPr sz="2400" spc="-95" dirty="0">
                <a:latin typeface="+mn-lt"/>
              </a:rPr>
              <a:t> </a:t>
            </a:r>
            <a:r>
              <a:rPr sz="2400" spc="-25" dirty="0">
                <a:latin typeface="+mn-lt"/>
              </a:rPr>
              <a:t>and</a:t>
            </a:r>
            <a:r>
              <a:rPr sz="2400" spc="-140" dirty="0">
                <a:latin typeface="+mn-lt"/>
              </a:rPr>
              <a:t> </a:t>
            </a:r>
            <a:r>
              <a:rPr sz="2400" spc="-60" dirty="0">
                <a:latin typeface="+mn-lt"/>
              </a:rPr>
              <a:t>enhance</a:t>
            </a:r>
            <a:r>
              <a:rPr sz="2400" spc="-85" dirty="0">
                <a:latin typeface="+mn-lt"/>
              </a:rPr>
              <a:t> </a:t>
            </a:r>
            <a:r>
              <a:rPr sz="2400" spc="-10" dirty="0">
                <a:latin typeface="+mn-lt"/>
              </a:rPr>
              <a:t>predictive</a:t>
            </a:r>
            <a:r>
              <a:rPr sz="2400" spc="-100" dirty="0">
                <a:latin typeface="+mn-lt"/>
              </a:rPr>
              <a:t> </a:t>
            </a:r>
            <a:r>
              <a:rPr sz="2400" spc="-10" dirty="0">
                <a:latin typeface="+mn-lt"/>
              </a:rPr>
              <a:t>power.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97</TotalTime>
  <Words>1724</Words>
  <Application>Microsoft Office PowerPoint</Application>
  <PresentationFormat>Custom</PresentationFormat>
  <Paragraphs>132</Paragraphs>
  <Slides>13</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Arial</vt:lpstr>
      <vt:lpstr>Arial MT</vt:lpstr>
      <vt:lpstr>Calibri</vt:lpstr>
      <vt:lpstr>Cambria</vt:lpstr>
      <vt:lpstr>Times New Roman</vt:lpstr>
      <vt:lpstr>Wingdings</vt:lpstr>
      <vt:lpstr>Office Theme</vt:lpstr>
      <vt:lpstr>PowerPoint Presentation</vt:lpstr>
      <vt:lpstr>The High Cost of Attrition: An Institutionai Challenge</vt:lpstr>
      <vt:lpstr>Framing the Data Science Solution</vt:lpstr>
      <vt:lpstr>Understanding the Target Population The raw dataset includes three student outcomes: 'Graduate', 'Dropout', and 'Enrolled'. For a predictive model, we focus on the two definitive final outcomes.</vt:lpstr>
      <vt:lpstr>Creating a Balanced Foundation for Modelling</vt:lpstr>
      <vt:lpstr>What Factors Drive Student Success? A Look at Feature Correlation</vt:lpstr>
      <vt:lpstr>Feature Engineering</vt:lpstr>
      <vt:lpstr>A Tournament of Champions: Selecting the Best Predictive Model</vt:lpstr>
      <vt:lpstr>The Chosen Solution: A Fine-Tuned Random Forest Model</vt:lpstr>
      <vt:lpstr>Building Trust: Understanding the Model's Logic on a Global Scale</vt:lpstr>
      <vt:lpstr>From Global Trends to an Individual Story: Explaining a Single Prediction</vt:lpstr>
      <vt:lpstr>The Payoff: Predicting the Future for Currently Enrolled Students</vt:lpstr>
      <vt:lpstr>From Prediction to Proactive Support: Summary and Future Directions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OOSA_Jomar</dc:creator>
  <cp:lastModifiedBy>OOSA_Jomar</cp:lastModifiedBy>
  <cp:revision>55</cp:revision>
  <dcterms:created xsi:type="dcterms:W3CDTF">2026-01-11T03:07:12Z</dcterms:created>
  <dcterms:modified xsi:type="dcterms:W3CDTF">2026-01-11T05:37:37Z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2026-01-11T00:00:00Z</vt:filetime>
  </property>
  <property fmtid="{D5CDD505-2E9C-101B-9397-08002B2CF9AE}" pid="3" name="LastSaved">
    <vt:filetime>2026-01-11T00:00:00Z</vt:filetime>
  </property>
</Properties>
</file>
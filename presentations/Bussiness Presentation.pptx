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2649"/>
    <a:srgbClr val="F9F4EE"/>
    <a:srgbClr val="00274E"/>
    <a:srgbClr val="FFFFFF"/>
    <a:srgbClr val="E4E9EC"/>
    <a:srgbClr val="FAF6ED"/>
    <a:srgbClr val="032A4D"/>
    <a:srgbClr val="26262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75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DF2A4A-944D-4746-B119-4081884ADBB0}" type="datetimeFigureOut">
              <a:rPr lang="en-PH" smtClean="0"/>
              <a:t>1/11/2026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1730C7-4D40-4E05-88C1-D1632374433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4253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1730C7-4D40-4E05-88C1-D1632374433D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13437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1730C7-4D40-4E05-88C1-D1632374433D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28556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rgbClr val="032A4B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350" b="0" i="0">
                <a:solidFill>
                  <a:srgbClr val="012F4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032A4B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350" b="0" i="0">
                <a:solidFill>
                  <a:srgbClr val="012F4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4600" y="7327900"/>
            <a:ext cx="876300" cy="8382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64600" y="6032500"/>
            <a:ext cx="876300" cy="8382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64600" y="4762500"/>
            <a:ext cx="800100" cy="8128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64600" y="3467100"/>
            <a:ext cx="863600" cy="8382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64600" y="2603500"/>
            <a:ext cx="863600" cy="317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032A4B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032A4B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4549" y="678391"/>
            <a:ext cx="15566101" cy="1009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rgbClr val="032A4B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61522" y="2502693"/>
            <a:ext cx="12352154" cy="5123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350" b="0" i="0">
                <a:solidFill>
                  <a:srgbClr val="012F4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7" Type="http://schemas.openxmlformats.org/officeDocument/2006/relationships/image" Target="../media/image23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7475200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84F9D61-9303-40B4-9F7E-66A9B4EDC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363526" cy="97536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esk with productivity items">
            <a:extLst>
              <a:ext uri="{FF2B5EF4-FFF2-40B4-BE49-F238E27FC236}">
                <a16:creationId xmlns:a16="http://schemas.microsoft.com/office/drawing/2014/main" id="{B4CE1E60-81D2-C347-0C56-487C66D4AD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703"/>
          <a:stretch>
            <a:fillRect/>
          </a:stretch>
        </p:blipFill>
        <p:spPr>
          <a:xfrm>
            <a:off x="-2" y="-1"/>
            <a:ext cx="17475199" cy="9753601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2" name="Overlay">
            <a:extLst>
              <a:ext uri="{FF2B5EF4-FFF2-40B4-BE49-F238E27FC236}">
                <a16:creationId xmlns:a16="http://schemas.microsoft.com/office/drawing/2014/main" id="{648D746A-0359-4EAE-8CF9-062E28169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32723" y="332725"/>
            <a:ext cx="9753600" cy="9088149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F24B0F10-20B2-32C0-D45B-9CF709BE63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3640" y="2326216"/>
            <a:ext cx="14397355" cy="4673395"/>
          </a:xfrm>
          <a:prstGeom prst="rect">
            <a:avLst/>
          </a:prstGeom>
          <a:solidFill>
            <a:srgbClr val="262626">
              <a:alpha val="45098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vert="horz" wrap="square" lIns="0" tIns="223520" rIns="0" bIns="0" rtlCol="0">
            <a:spAutoFit/>
          </a:bodyPr>
          <a:lstStyle/>
          <a:p>
            <a:pPr marL="12065" marR="5080" indent="-27940" algn="ctr">
              <a:lnSpc>
                <a:spcPts val="9900"/>
              </a:lnSpc>
              <a:spcBef>
                <a:spcPts val="1760"/>
              </a:spcBef>
            </a:pPr>
            <a:r>
              <a:rPr lang="en-US" sz="7200" dirty="0">
                <a:solidFill>
                  <a:schemeClr val="bg1"/>
                </a:solidFill>
                <a:latin typeface="Biome" panose="020B0502040204020203" pitchFamily="34" charset="0"/>
                <a:cs typeface="Biome" panose="020B0502040204020203" pitchFamily="34" charset="0"/>
              </a:rPr>
              <a:t>Predictive</a:t>
            </a:r>
            <a:r>
              <a:rPr lang="en-US" sz="7200" spc="-80" dirty="0">
                <a:solidFill>
                  <a:schemeClr val="bg1"/>
                </a:solidFill>
                <a:latin typeface="Biome" panose="020B0502040204020203" pitchFamily="34" charset="0"/>
                <a:cs typeface="Biome" panose="020B0502040204020203" pitchFamily="34" charset="0"/>
              </a:rPr>
              <a:t> </a:t>
            </a:r>
            <a:r>
              <a:rPr lang="en-US" sz="7200" dirty="0">
                <a:solidFill>
                  <a:schemeClr val="bg1"/>
                </a:solidFill>
                <a:latin typeface="Biome" panose="020B0502040204020203" pitchFamily="34" charset="0"/>
                <a:cs typeface="Biome" panose="020B0502040204020203" pitchFamily="34" charset="0"/>
              </a:rPr>
              <a:t>Analytics</a:t>
            </a:r>
            <a:r>
              <a:rPr lang="en-US" sz="7200" spc="-254" dirty="0">
                <a:solidFill>
                  <a:schemeClr val="bg1"/>
                </a:solidFill>
                <a:latin typeface="Biome" panose="020B0502040204020203" pitchFamily="34" charset="0"/>
                <a:cs typeface="Biome" panose="020B0502040204020203" pitchFamily="34" charset="0"/>
              </a:rPr>
              <a:t> </a:t>
            </a:r>
            <a:r>
              <a:rPr lang="en-US" sz="7200" spc="-25" dirty="0">
                <a:solidFill>
                  <a:schemeClr val="bg1"/>
                </a:solidFill>
                <a:latin typeface="Biome" panose="020B0502040204020203" pitchFamily="34" charset="0"/>
                <a:cs typeface="Biome" panose="020B0502040204020203" pitchFamily="34" charset="0"/>
              </a:rPr>
              <a:t>for </a:t>
            </a:r>
            <a:r>
              <a:rPr lang="en-US" sz="7200" dirty="0">
                <a:solidFill>
                  <a:schemeClr val="bg1"/>
                </a:solidFill>
                <a:latin typeface="Biome" panose="020B0502040204020203" pitchFamily="34" charset="0"/>
                <a:cs typeface="Biome" panose="020B0502040204020203" pitchFamily="34" charset="0"/>
              </a:rPr>
              <a:t>Strategic</a:t>
            </a:r>
            <a:r>
              <a:rPr lang="en-US" sz="7200" spc="380" dirty="0">
                <a:solidFill>
                  <a:schemeClr val="bg1"/>
                </a:solidFill>
                <a:latin typeface="Biome" panose="020B0502040204020203" pitchFamily="34" charset="0"/>
                <a:cs typeface="Biome" panose="020B0502040204020203" pitchFamily="34" charset="0"/>
              </a:rPr>
              <a:t> </a:t>
            </a:r>
            <a:r>
              <a:rPr lang="en-US" sz="7200" dirty="0">
                <a:solidFill>
                  <a:schemeClr val="bg1"/>
                </a:solidFill>
                <a:latin typeface="Biome" panose="020B0502040204020203" pitchFamily="34" charset="0"/>
                <a:cs typeface="Biome" panose="020B0502040204020203" pitchFamily="34" charset="0"/>
              </a:rPr>
              <a:t>Student</a:t>
            </a:r>
            <a:r>
              <a:rPr lang="en-US" sz="7200" spc="290" dirty="0">
                <a:solidFill>
                  <a:schemeClr val="bg1"/>
                </a:solidFill>
                <a:latin typeface="Biome" panose="020B0502040204020203" pitchFamily="34" charset="0"/>
                <a:cs typeface="Biome" panose="020B0502040204020203" pitchFamily="34" charset="0"/>
              </a:rPr>
              <a:t> </a:t>
            </a:r>
            <a:r>
              <a:rPr lang="en-US" sz="7200" spc="-10" dirty="0">
                <a:solidFill>
                  <a:schemeClr val="bg1"/>
                </a:solidFill>
                <a:latin typeface="Biome" panose="020B0502040204020203" pitchFamily="34" charset="0"/>
                <a:cs typeface="Biome" panose="020B0502040204020203" pitchFamily="34" charset="0"/>
              </a:rPr>
              <a:t>Retention</a:t>
            </a:r>
            <a:endParaRPr lang="en-US" sz="7200" dirty="0">
              <a:solidFill>
                <a:schemeClr val="bg1"/>
              </a:solidFill>
              <a:latin typeface="Biome" panose="020B0502040204020203" pitchFamily="34" charset="0"/>
              <a:cs typeface="Biome" panose="020B0502040204020203" pitchFamily="34" charset="0"/>
            </a:endParaRPr>
          </a:p>
          <a:p>
            <a:pPr marL="2574290" marR="2564765" algn="ctr">
              <a:lnSpc>
                <a:spcPts val="6850"/>
              </a:lnSpc>
              <a:spcBef>
                <a:spcPts val="1390"/>
              </a:spcBef>
            </a:pPr>
            <a:r>
              <a:rPr lang="en-US" sz="5400" spc="-155" dirty="0">
                <a:solidFill>
                  <a:schemeClr val="bg1"/>
                </a:solidFill>
                <a:latin typeface="Biome Light" panose="020B0502040204020203" pitchFamily="34" charset="0"/>
                <a:cs typeface="Biome Light" panose="020B0502040204020203" pitchFamily="34" charset="0"/>
              </a:rPr>
              <a:t>Reducing</a:t>
            </a:r>
            <a:r>
              <a:rPr lang="en-US" sz="5400" spc="-145" dirty="0">
                <a:solidFill>
                  <a:schemeClr val="bg1"/>
                </a:solidFill>
                <a:latin typeface="Biome Light" panose="020B0502040204020203" pitchFamily="34" charset="0"/>
                <a:cs typeface="Biome Light" panose="020B0502040204020203" pitchFamily="34" charset="0"/>
              </a:rPr>
              <a:t> </a:t>
            </a:r>
            <a:r>
              <a:rPr lang="en-US" sz="5400" spc="-140" dirty="0">
                <a:solidFill>
                  <a:schemeClr val="bg1"/>
                </a:solidFill>
                <a:latin typeface="Biome Light" panose="020B0502040204020203" pitchFamily="34" charset="0"/>
                <a:cs typeface="Biome Light" panose="020B0502040204020203" pitchFamily="34" charset="0"/>
              </a:rPr>
              <a:t>Dropout</a:t>
            </a:r>
            <a:r>
              <a:rPr lang="en-US" sz="5400" spc="-215" dirty="0">
                <a:solidFill>
                  <a:schemeClr val="bg1"/>
                </a:solidFill>
                <a:latin typeface="Biome Light" panose="020B0502040204020203" pitchFamily="34" charset="0"/>
                <a:cs typeface="Biome Light" panose="020B0502040204020203" pitchFamily="34" charset="0"/>
              </a:rPr>
              <a:t> </a:t>
            </a:r>
            <a:r>
              <a:rPr lang="en-US" sz="5400" spc="-114" dirty="0">
                <a:solidFill>
                  <a:schemeClr val="bg1"/>
                </a:solidFill>
                <a:latin typeface="Biome Light" panose="020B0502040204020203" pitchFamily="34" charset="0"/>
                <a:cs typeface="Biome Light" panose="020B0502040204020203" pitchFamily="34" charset="0"/>
              </a:rPr>
              <a:t>Rates</a:t>
            </a:r>
            <a:r>
              <a:rPr lang="en-US" sz="5400" spc="-254" dirty="0">
                <a:solidFill>
                  <a:schemeClr val="bg1"/>
                </a:solidFill>
                <a:latin typeface="Biome Light" panose="020B0502040204020203" pitchFamily="34" charset="0"/>
                <a:cs typeface="Biome Light" panose="020B0502040204020203" pitchFamily="34" charset="0"/>
              </a:rPr>
              <a:t> </a:t>
            </a:r>
            <a:r>
              <a:rPr lang="en-US" sz="5400" spc="-110" dirty="0">
                <a:solidFill>
                  <a:schemeClr val="bg1"/>
                </a:solidFill>
                <a:latin typeface="Biome Light" panose="020B0502040204020203" pitchFamily="34" charset="0"/>
                <a:cs typeface="Biome Light" panose="020B0502040204020203" pitchFamily="34" charset="0"/>
              </a:rPr>
              <a:t>and </a:t>
            </a:r>
            <a:r>
              <a:rPr lang="en-US" sz="5400" spc="-180" dirty="0">
                <a:solidFill>
                  <a:schemeClr val="bg1"/>
                </a:solidFill>
                <a:latin typeface="Biome Light" panose="020B0502040204020203" pitchFamily="34" charset="0"/>
                <a:cs typeface="Biome Light" panose="020B0502040204020203" pitchFamily="34" charset="0"/>
              </a:rPr>
              <a:t>Maximizing</a:t>
            </a:r>
            <a:r>
              <a:rPr lang="en-US" sz="5400" spc="-130" dirty="0">
                <a:solidFill>
                  <a:schemeClr val="bg1"/>
                </a:solidFill>
                <a:latin typeface="Biome Light" panose="020B0502040204020203" pitchFamily="34" charset="0"/>
                <a:cs typeface="Biome Light" panose="020B0502040204020203" pitchFamily="34" charset="0"/>
              </a:rPr>
              <a:t> </a:t>
            </a:r>
            <a:r>
              <a:rPr lang="en-US" sz="5400" spc="-150" dirty="0">
                <a:solidFill>
                  <a:schemeClr val="bg1"/>
                </a:solidFill>
                <a:latin typeface="Biome Light" panose="020B0502040204020203" pitchFamily="34" charset="0"/>
                <a:cs typeface="Biome Light" panose="020B0502040204020203" pitchFamily="34" charset="0"/>
              </a:rPr>
              <a:t>Institutional</a:t>
            </a:r>
            <a:r>
              <a:rPr lang="en-US" sz="5400" spc="-125" dirty="0">
                <a:solidFill>
                  <a:schemeClr val="bg1"/>
                </a:solidFill>
                <a:latin typeface="Biome Light" panose="020B0502040204020203" pitchFamily="34" charset="0"/>
                <a:cs typeface="Biome Light" panose="020B0502040204020203" pitchFamily="34" charset="0"/>
              </a:rPr>
              <a:t> </a:t>
            </a:r>
            <a:r>
              <a:rPr lang="en-US" sz="5400" spc="25" dirty="0">
                <a:solidFill>
                  <a:schemeClr val="bg1"/>
                </a:solidFill>
                <a:latin typeface="Biome Light" panose="020B0502040204020203" pitchFamily="34" charset="0"/>
                <a:cs typeface="Biome Light" panose="020B0502040204020203" pitchFamily="34" charset="0"/>
              </a:rPr>
              <a:t>ROI</a:t>
            </a:r>
            <a:endParaRPr lang="en-US" sz="5400" dirty="0">
              <a:solidFill>
                <a:schemeClr val="bg1"/>
              </a:solidFill>
              <a:latin typeface="Biome Light" panose="020B0502040204020203" pitchFamily="34" charset="0"/>
              <a:cs typeface="Biome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rcRect l="11845"/>
          <a:stretch>
            <a:fillRect/>
          </a:stretch>
        </p:blipFill>
        <p:spPr>
          <a:xfrm>
            <a:off x="9956800" y="2705100"/>
            <a:ext cx="6616700" cy="6350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6041" y="395463"/>
            <a:ext cx="14148435" cy="1595437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2225" marR="5080" indent="-10160">
              <a:lnSpc>
                <a:spcPts val="5900"/>
              </a:lnSpc>
              <a:spcBef>
                <a:spcPts val="865"/>
              </a:spcBef>
            </a:pPr>
            <a:r>
              <a:rPr sz="4400" spc="85" dirty="0">
                <a:latin typeface="Biome" panose="020B0503030204020804" pitchFamily="34" charset="0"/>
                <a:cs typeface="Biome" panose="020B0503030204020804" pitchFamily="34" charset="0"/>
              </a:rPr>
              <a:t>The</a:t>
            </a:r>
            <a:r>
              <a:rPr sz="4400" spc="135" dirty="0"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90" dirty="0">
                <a:solidFill>
                  <a:srgbClr val="002A5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Challenge:</a:t>
            </a:r>
            <a:r>
              <a:rPr sz="4400" spc="340" dirty="0">
                <a:solidFill>
                  <a:srgbClr val="002A5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70" dirty="0">
                <a:solidFill>
                  <a:srgbClr val="01284D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Student</a:t>
            </a:r>
            <a:r>
              <a:rPr sz="4400" spc="630" dirty="0">
                <a:solidFill>
                  <a:srgbClr val="01284D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60" dirty="0">
                <a:solidFill>
                  <a:srgbClr val="012444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Attrition</a:t>
            </a:r>
            <a:r>
              <a:rPr sz="4400" spc="315" dirty="0">
                <a:solidFill>
                  <a:srgbClr val="012444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dirty="0">
                <a:solidFill>
                  <a:srgbClr val="002649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Represents</a:t>
            </a:r>
            <a:r>
              <a:rPr sz="4400" spc="440" dirty="0">
                <a:solidFill>
                  <a:srgbClr val="002649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105" dirty="0">
                <a:solidFill>
                  <a:srgbClr val="032649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 </a:t>
            </a:r>
            <a:r>
              <a:rPr sz="4400" spc="125" dirty="0">
                <a:solidFill>
                  <a:srgbClr val="002344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Significant</a:t>
            </a:r>
            <a:r>
              <a:rPr sz="4400" spc="409" dirty="0">
                <a:solidFill>
                  <a:srgbClr val="002344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80" dirty="0">
                <a:solidFill>
                  <a:srgbClr val="002649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Institutional</a:t>
            </a:r>
            <a:r>
              <a:rPr sz="4400" spc="640" dirty="0">
                <a:solidFill>
                  <a:srgbClr val="002649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-20" dirty="0">
                <a:solidFill>
                  <a:srgbClr val="00264D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Risk</a:t>
            </a:r>
            <a:endParaRPr sz="44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6918" y="2222852"/>
            <a:ext cx="10386682" cy="696912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63500" marR="313055" indent="10795">
              <a:lnSpc>
                <a:spcPts val="3100"/>
              </a:lnSpc>
              <a:spcBef>
                <a:spcPts val="465"/>
              </a:spcBef>
            </a:pPr>
            <a:r>
              <a:rPr sz="2850" spc="-65" dirty="0">
                <a:solidFill>
                  <a:srgbClr val="0C0C0C"/>
                </a:solidFill>
                <a:latin typeface="Calibri"/>
                <a:cs typeface="Calibri"/>
              </a:rPr>
              <a:t>Student</a:t>
            </a:r>
            <a:r>
              <a:rPr sz="2850" spc="-10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850" spc="-20" dirty="0">
                <a:solidFill>
                  <a:srgbClr val="0F0F0F"/>
                </a:solidFill>
                <a:latin typeface="Calibri"/>
                <a:cs typeface="Calibri"/>
              </a:rPr>
              <a:t>attrition</a:t>
            </a:r>
            <a:r>
              <a:rPr sz="2850" spc="-14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850" spc="-45" dirty="0">
                <a:solidFill>
                  <a:srgbClr val="0E0E0E"/>
                </a:solidFill>
                <a:latin typeface="Calibri"/>
                <a:cs typeface="Calibri"/>
              </a:rPr>
              <a:t>leads</a:t>
            </a:r>
            <a:r>
              <a:rPr sz="2850" spc="-12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50" spc="-20" dirty="0">
                <a:solidFill>
                  <a:srgbClr val="111111"/>
                </a:solidFill>
                <a:latin typeface="Calibri"/>
                <a:cs typeface="Calibri"/>
              </a:rPr>
              <a:t>to</a:t>
            </a:r>
            <a:r>
              <a:rPr sz="2850" spc="-14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850" spc="-35" dirty="0">
                <a:solidFill>
                  <a:srgbClr val="0C0C0C"/>
                </a:solidFill>
                <a:latin typeface="Calibri"/>
                <a:cs typeface="Calibri"/>
              </a:rPr>
              <a:t>substantial</a:t>
            </a:r>
            <a:r>
              <a:rPr sz="2850" spc="3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850" spc="-55" dirty="0">
                <a:solidFill>
                  <a:srgbClr val="050505"/>
                </a:solidFill>
                <a:latin typeface="Calibri"/>
                <a:cs typeface="Calibri"/>
              </a:rPr>
              <a:t>revenue</a:t>
            </a:r>
            <a:r>
              <a:rPr sz="2850" spc="-50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2850" spc="-40" dirty="0">
                <a:solidFill>
                  <a:srgbClr val="111111"/>
                </a:solidFill>
                <a:latin typeface="Calibri"/>
                <a:cs typeface="Calibri"/>
              </a:rPr>
              <a:t>loss</a:t>
            </a:r>
            <a:r>
              <a:rPr sz="2850" spc="-12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850" spc="-80" dirty="0">
                <a:solidFill>
                  <a:srgbClr val="0F0F0F"/>
                </a:solidFill>
                <a:latin typeface="Calibri"/>
                <a:cs typeface="Calibri"/>
              </a:rPr>
              <a:t>and</a:t>
            </a:r>
            <a:r>
              <a:rPr sz="2850" spc="-8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850" spc="-10" dirty="0">
                <a:solidFill>
                  <a:srgbClr val="080808"/>
                </a:solidFill>
                <a:latin typeface="Calibri"/>
                <a:cs typeface="Calibri"/>
              </a:rPr>
              <a:t>impacts </a:t>
            </a:r>
            <a:r>
              <a:rPr sz="2850" spc="-35" dirty="0">
                <a:solidFill>
                  <a:srgbClr val="0F0F0F"/>
                </a:solidFill>
                <a:latin typeface="Calibri"/>
                <a:cs typeface="Calibri"/>
              </a:rPr>
              <a:t>institutional</a:t>
            </a:r>
            <a:r>
              <a:rPr sz="2850" spc="4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850" spc="-65" dirty="0">
                <a:solidFill>
                  <a:srgbClr val="0F0F0F"/>
                </a:solidFill>
                <a:latin typeface="Calibri"/>
                <a:cs typeface="Calibri"/>
              </a:rPr>
              <a:t>prestige.</a:t>
            </a:r>
            <a:r>
              <a:rPr sz="2850" spc="-10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131313"/>
                </a:solidFill>
                <a:latin typeface="Calibri"/>
                <a:cs typeface="Calibri"/>
              </a:rPr>
              <a:t>Our</a:t>
            </a:r>
            <a:r>
              <a:rPr sz="2850" spc="-11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850" spc="-40" dirty="0">
                <a:solidFill>
                  <a:srgbClr val="0C0C0C"/>
                </a:solidFill>
                <a:latin typeface="Calibri"/>
                <a:cs typeface="Calibri"/>
              </a:rPr>
              <a:t>traditional</a:t>
            </a:r>
            <a:r>
              <a:rPr sz="2850" spc="12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850" spc="-55" dirty="0">
                <a:solidFill>
                  <a:srgbClr val="0A0A0A"/>
                </a:solidFill>
                <a:latin typeface="Calibri"/>
                <a:cs typeface="Calibri"/>
              </a:rPr>
              <a:t>approach</a:t>
            </a:r>
            <a:r>
              <a:rPr sz="2850" spc="-3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111111"/>
                </a:solidFill>
                <a:latin typeface="Calibri"/>
                <a:cs typeface="Calibri"/>
              </a:rPr>
              <a:t>is</a:t>
            </a:r>
            <a:r>
              <a:rPr sz="2850" spc="-16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850" spc="-45" dirty="0">
                <a:solidFill>
                  <a:srgbClr val="0F0F0F"/>
                </a:solidFill>
                <a:latin typeface="Calibri"/>
                <a:cs typeface="Calibri"/>
              </a:rPr>
              <a:t>reactive,</a:t>
            </a:r>
            <a:r>
              <a:rPr sz="2850" spc="-10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850" spc="-10" dirty="0">
                <a:solidFill>
                  <a:srgbClr val="0F0F0F"/>
                </a:solidFill>
                <a:latin typeface="Calibri"/>
                <a:cs typeface="Calibri"/>
              </a:rPr>
              <a:t>often </a:t>
            </a:r>
            <a:r>
              <a:rPr sz="2850" spc="-35" dirty="0">
                <a:solidFill>
                  <a:srgbClr val="0C0C0C"/>
                </a:solidFill>
                <a:latin typeface="Calibri"/>
                <a:cs typeface="Calibri"/>
              </a:rPr>
              <a:t>intervening</a:t>
            </a:r>
            <a:r>
              <a:rPr sz="2850" spc="-7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850" spc="-50" dirty="0">
                <a:solidFill>
                  <a:srgbClr val="0E0E0E"/>
                </a:solidFill>
                <a:latin typeface="Calibri"/>
                <a:cs typeface="Calibri"/>
              </a:rPr>
              <a:t>only</a:t>
            </a:r>
            <a:r>
              <a:rPr sz="2850" spc="-13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50" spc="-25" dirty="0">
                <a:solidFill>
                  <a:srgbClr val="0E0E0E"/>
                </a:solidFill>
                <a:latin typeface="Calibri"/>
                <a:cs typeface="Calibri"/>
              </a:rPr>
              <a:t>after</a:t>
            </a:r>
            <a:r>
              <a:rPr sz="2850" spc="-14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50" spc="65" dirty="0">
                <a:solidFill>
                  <a:srgbClr val="131313"/>
                </a:solidFill>
                <a:latin typeface="Calibri"/>
                <a:cs typeface="Calibri"/>
              </a:rPr>
              <a:t>a</a:t>
            </a:r>
            <a:r>
              <a:rPr sz="2850" spc="-16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850" spc="-50" dirty="0">
                <a:solidFill>
                  <a:srgbClr val="0E0E0E"/>
                </a:solidFill>
                <a:latin typeface="Calibri"/>
                <a:cs typeface="Calibri"/>
              </a:rPr>
              <a:t>student</a:t>
            </a:r>
            <a:r>
              <a:rPr sz="2850" spc="-11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0F0F0F"/>
                </a:solidFill>
                <a:latin typeface="Calibri"/>
                <a:cs typeface="Calibri"/>
              </a:rPr>
              <a:t>is</a:t>
            </a:r>
            <a:r>
              <a:rPr sz="2850" spc="-16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850" spc="-20" dirty="0">
                <a:latin typeface="Calibri"/>
                <a:cs typeface="Calibri"/>
              </a:rPr>
              <a:t>already</a:t>
            </a:r>
            <a:r>
              <a:rPr sz="2850" spc="-35" dirty="0">
                <a:latin typeface="Calibri"/>
                <a:cs typeface="Calibri"/>
              </a:rPr>
              <a:t> </a:t>
            </a:r>
            <a:r>
              <a:rPr sz="2850" spc="-10" dirty="0">
                <a:solidFill>
                  <a:srgbClr val="080808"/>
                </a:solidFill>
                <a:latin typeface="Calibri"/>
                <a:cs typeface="Calibri"/>
              </a:rPr>
              <a:t>failing.</a:t>
            </a:r>
            <a:endParaRPr sz="28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2850" dirty="0">
              <a:latin typeface="Calibri"/>
              <a:cs typeface="Calibri"/>
            </a:endParaRPr>
          </a:p>
          <a:p>
            <a:pPr marL="3215640">
              <a:lnSpc>
                <a:spcPct val="100000"/>
              </a:lnSpc>
            </a:pPr>
            <a:r>
              <a:rPr lang="en-PH" sz="2550" spc="-65" dirty="0">
                <a:solidFill>
                  <a:srgbClr val="111111"/>
                </a:solidFill>
                <a:latin typeface="Calibri"/>
                <a:cs typeface="Calibri"/>
              </a:rPr>
              <a:t>              </a:t>
            </a:r>
            <a:r>
              <a:rPr sz="2550" spc="-65" dirty="0">
                <a:solidFill>
                  <a:srgbClr val="111111"/>
                </a:solidFill>
                <a:latin typeface="Calibri"/>
                <a:cs typeface="Calibri"/>
              </a:rPr>
              <a:t>49.9</a:t>
            </a:r>
            <a:r>
              <a:rPr lang="en-PH" sz="2550" spc="-80" dirty="0">
                <a:solidFill>
                  <a:srgbClr val="111111"/>
                </a:solidFill>
                <a:latin typeface="Calibri"/>
                <a:cs typeface="Calibri"/>
              </a:rPr>
              <a:t>% </a:t>
            </a:r>
            <a:r>
              <a:rPr sz="2550" spc="-10" dirty="0">
                <a:solidFill>
                  <a:srgbClr val="0E0E0E"/>
                </a:solidFill>
                <a:latin typeface="Calibri"/>
                <a:cs typeface="Calibri"/>
              </a:rPr>
              <a:t>Graduate:</a:t>
            </a:r>
            <a:r>
              <a:rPr sz="2550" spc="-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550" spc="-50" dirty="0">
                <a:solidFill>
                  <a:srgbClr val="0A0A0A"/>
                </a:solidFill>
                <a:latin typeface="Calibri"/>
                <a:cs typeface="Calibri"/>
              </a:rPr>
              <a:t>The</a:t>
            </a:r>
            <a:r>
              <a:rPr sz="2550" spc="-14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550" spc="-50" dirty="0">
                <a:latin typeface="Calibri"/>
                <a:cs typeface="Calibri"/>
              </a:rPr>
              <a:t>desired</a:t>
            </a:r>
            <a:r>
              <a:rPr sz="2550" spc="-95" dirty="0"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C0C0C"/>
                </a:solidFill>
                <a:latin typeface="Calibri"/>
                <a:cs typeface="Calibri"/>
              </a:rPr>
              <a:t>outcome.</a:t>
            </a:r>
            <a:endParaRPr lang="en-PH" sz="25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en-PH" sz="25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2550" dirty="0">
              <a:latin typeface="Calibri"/>
              <a:cs typeface="Calibri"/>
            </a:endParaRPr>
          </a:p>
          <a:p>
            <a:pPr marL="1481455" marR="1248410" indent="-649605" algn="r">
              <a:lnSpc>
                <a:spcPts val="2650"/>
              </a:lnSpc>
            </a:pPr>
            <a:r>
              <a:rPr sz="2600" spc="-114" dirty="0">
                <a:solidFill>
                  <a:srgbClr val="0E0E0E"/>
                </a:solidFill>
                <a:latin typeface="Calibri"/>
                <a:cs typeface="Calibri"/>
              </a:rPr>
              <a:t>32.1</a:t>
            </a:r>
            <a:r>
              <a:rPr lang="en-PH" sz="2600" spc="-114" dirty="0">
                <a:solidFill>
                  <a:srgbClr val="0E0E0E"/>
                </a:solidFill>
                <a:latin typeface="Calibri"/>
                <a:cs typeface="Calibri"/>
              </a:rPr>
              <a:t>%</a:t>
            </a:r>
            <a:r>
              <a:rPr sz="2600" spc="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600" spc="-30" dirty="0">
                <a:solidFill>
                  <a:srgbClr val="0C0C0C"/>
                </a:solidFill>
                <a:latin typeface="Calibri"/>
                <a:cs typeface="Calibri"/>
              </a:rPr>
              <a:t>Dropout:</a:t>
            </a:r>
            <a:r>
              <a:rPr sz="2600" spc="-2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11111"/>
                </a:solidFill>
                <a:latin typeface="Calibri"/>
                <a:cs typeface="Calibri"/>
              </a:rPr>
              <a:t>A</a:t>
            </a:r>
            <a:r>
              <a:rPr sz="2600" spc="-204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600" spc="-90" dirty="0">
                <a:latin typeface="Calibri"/>
                <a:cs typeface="Calibri"/>
              </a:rPr>
              <a:t>significant</a:t>
            </a:r>
            <a:r>
              <a:rPr sz="2600" spc="90" dirty="0">
                <a:latin typeface="Calibri"/>
                <a:cs typeface="Calibri"/>
              </a:rPr>
              <a:t> </a:t>
            </a:r>
            <a:r>
              <a:rPr sz="2600" spc="-90" dirty="0">
                <a:latin typeface="Calibri"/>
                <a:cs typeface="Calibri"/>
              </a:rPr>
              <a:t>loss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-130" dirty="0">
                <a:solidFill>
                  <a:srgbClr val="080808"/>
                </a:solidFill>
                <a:latin typeface="Calibri"/>
                <a:cs typeface="Calibri"/>
              </a:rPr>
              <a:t>of</a:t>
            </a:r>
            <a:r>
              <a:rPr sz="2600" spc="-150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2600" spc="-105" dirty="0">
                <a:latin typeface="Calibri"/>
                <a:cs typeface="Calibri"/>
              </a:rPr>
              <a:t>talent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70" dirty="0">
                <a:latin typeface="Calibri"/>
                <a:cs typeface="Calibri"/>
              </a:rPr>
              <a:t>and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50" dirty="0">
                <a:latin typeface="Calibri"/>
                <a:cs typeface="Calibri"/>
              </a:rPr>
              <a:t>revenue.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spc="-110" dirty="0">
                <a:solidFill>
                  <a:srgbClr val="0C0C0C"/>
                </a:solidFill>
                <a:latin typeface="Calibri"/>
                <a:cs typeface="Calibri"/>
              </a:rPr>
              <a:t>every</a:t>
            </a:r>
            <a:r>
              <a:rPr sz="2600" spc="-1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600" spc="-45" dirty="0">
                <a:solidFill>
                  <a:srgbClr val="050505"/>
                </a:solidFill>
                <a:latin typeface="Calibri"/>
                <a:cs typeface="Calibri"/>
              </a:rPr>
              <a:t>10</a:t>
            </a:r>
            <a:r>
              <a:rPr sz="2600" spc="-125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2600" spc="-125" dirty="0">
                <a:latin typeface="Calibri"/>
                <a:cs typeface="Calibri"/>
              </a:rPr>
              <a:t>students</a:t>
            </a:r>
            <a:r>
              <a:rPr sz="2600" spc="80" dirty="0">
                <a:latin typeface="Calibri"/>
                <a:cs typeface="Calibri"/>
              </a:rPr>
              <a:t> </a:t>
            </a:r>
            <a:r>
              <a:rPr sz="2600" spc="-150" dirty="0">
                <a:latin typeface="Calibri"/>
                <a:cs typeface="Calibri"/>
              </a:rPr>
              <a:t>who</a:t>
            </a:r>
            <a:r>
              <a:rPr sz="2600" spc="-175" dirty="0">
                <a:latin typeface="Calibri"/>
                <a:cs typeface="Calibri"/>
              </a:rPr>
              <a:t> </a:t>
            </a:r>
            <a:r>
              <a:rPr sz="2600" spc="-145" dirty="0">
                <a:latin typeface="Calibri"/>
                <a:cs typeface="Calibri"/>
              </a:rPr>
              <a:t>graduate,</a:t>
            </a:r>
            <a:r>
              <a:rPr sz="2600" spc="30" dirty="0">
                <a:latin typeface="Calibri"/>
                <a:cs typeface="Calibri"/>
              </a:rPr>
              <a:t> </a:t>
            </a:r>
            <a:r>
              <a:rPr sz="2600" spc="-150" dirty="0">
                <a:solidFill>
                  <a:srgbClr val="0A0A0A"/>
                </a:solidFill>
                <a:latin typeface="Calibri"/>
                <a:cs typeface="Calibri"/>
              </a:rPr>
              <a:t>more</a:t>
            </a:r>
            <a:r>
              <a:rPr sz="2600" spc="-12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600" spc="-120" dirty="0">
                <a:latin typeface="Calibri"/>
                <a:cs typeface="Calibri"/>
              </a:rPr>
              <a:t>than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6</a:t>
            </a:r>
            <a:r>
              <a:rPr sz="2600" spc="-275" dirty="0">
                <a:latin typeface="Calibri"/>
                <a:cs typeface="Calibri"/>
              </a:rPr>
              <a:t> </a:t>
            </a:r>
            <a:r>
              <a:rPr sz="2600" spc="-110" dirty="0">
                <a:solidFill>
                  <a:srgbClr val="0C0C0C"/>
                </a:solidFill>
                <a:latin typeface="Calibri"/>
                <a:cs typeface="Calibri"/>
              </a:rPr>
              <a:t>drop</a:t>
            </a:r>
            <a:r>
              <a:rPr sz="2600" spc="-19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600" spc="-50" dirty="0">
                <a:solidFill>
                  <a:srgbClr val="050505"/>
                </a:solidFill>
                <a:latin typeface="Calibri"/>
                <a:cs typeface="Calibri"/>
              </a:rPr>
              <a:t>out.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2600" dirty="0">
              <a:latin typeface="Calibri"/>
              <a:cs typeface="Calibri"/>
            </a:endParaRPr>
          </a:p>
          <a:p>
            <a:pPr marR="1265555" algn="r">
              <a:lnSpc>
                <a:spcPts val="3045"/>
              </a:lnSpc>
            </a:pPr>
            <a:r>
              <a:rPr sz="2700" spc="-105" dirty="0">
                <a:latin typeface="Calibri"/>
                <a:cs typeface="Calibri"/>
              </a:rPr>
              <a:t>17.9%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75" dirty="0">
                <a:solidFill>
                  <a:srgbClr val="0E0E0E"/>
                </a:solidFill>
                <a:latin typeface="Calibri"/>
                <a:cs typeface="Calibri"/>
              </a:rPr>
              <a:t>Enrolled:</a:t>
            </a:r>
            <a:r>
              <a:rPr sz="2700" spc="-2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700" spc="-120" dirty="0">
                <a:solidFill>
                  <a:srgbClr val="080808"/>
                </a:solidFill>
                <a:latin typeface="Calibri"/>
                <a:cs typeface="Calibri"/>
              </a:rPr>
              <a:t>The</a:t>
            </a:r>
            <a:r>
              <a:rPr sz="2700" spc="-140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2700" spc="-140" dirty="0">
                <a:latin typeface="Calibri"/>
                <a:cs typeface="Calibri"/>
              </a:rPr>
              <a:t>cohort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spc="-155" dirty="0">
                <a:solidFill>
                  <a:srgbClr val="070707"/>
                </a:solidFill>
                <a:latin typeface="Calibri"/>
                <a:cs typeface="Calibri"/>
              </a:rPr>
              <a:t>whose</a:t>
            </a:r>
            <a:r>
              <a:rPr sz="2700" spc="-130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2700" spc="-135" dirty="0">
                <a:latin typeface="Calibri"/>
                <a:cs typeface="Calibri"/>
              </a:rPr>
              <a:t>future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85" dirty="0">
                <a:latin typeface="Calibri"/>
                <a:cs typeface="Calibri"/>
              </a:rPr>
              <a:t>is</a:t>
            </a:r>
            <a:r>
              <a:rPr sz="2700" spc="-145" dirty="0">
                <a:latin typeface="Calibri"/>
                <a:cs typeface="Calibri"/>
              </a:rPr>
              <a:t> </a:t>
            </a:r>
            <a:r>
              <a:rPr sz="2700" spc="-75" dirty="0">
                <a:solidFill>
                  <a:srgbClr val="0A0A0A"/>
                </a:solidFill>
                <a:latin typeface="Calibri"/>
                <a:cs typeface="Calibri"/>
              </a:rPr>
              <a:t>still</a:t>
            </a:r>
            <a:r>
              <a:rPr sz="2700" spc="-9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uncertain,</a:t>
            </a:r>
            <a:endParaRPr sz="2700" dirty="0">
              <a:latin typeface="Calibri"/>
              <a:cs typeface="Calibri"/>
            </a:endParaRPr>
          </a:p>
          <a:p>
            <a:pPr marR="1265555" algn="r">
              <a:lnSpc>
                <a:spcPts val="2865"/>
              </a:lnSpc>
            </a:pPr>
            <a:r>
              <a:rPr sz="2550" spc="-65" dirty="0">
                <a:latin typeface="Calibri"/>
                <a:cs typeface="Calibri"/>
              </a:rPr>
              <a:t>representing</a:t>
            </a:r>
            <a:r>
              <a:rPr sz="2550" spc="-80" dirty="0">
                <a:latin typeface="Calibri"/>
                <a:cs typeface="Calibri"/>
              </a:rPr>
              <a:t> </a:t>
            </a:r>
            <a:r>
              <a:rPr sz="2550" spc="-70" dirty="0">
                <a:latin typeface="Calibri"/>
                <a:cs typeface="Calibri"/>
              </a:rPr>
              <a:t>both</a:t>
            </a:r>
            <a:r>
              <a:rPr sz="2550" spc="-145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risk</a:t>
            </a:r>
            <a:r>
              <a:rPr sz="2550" spc="-20" dirty="0">
                <a:latin typeface="Calibri"/>
                <a:cs typeface="Calibri"/>
              </a:rPr>
              <a:t> </a:t>
            </a:r>
            <a:r>
              <a:rPr sz="2550" spc="-114" dirty="0">
                <a:solidFill>
                  <a:srgbClr val="070707"/>
                </a:solidFill>
                <a:latin typeface="Calibri"/>
                <a:cs typeface="Calibri"/>
              </a:rPr>
              <a:t>and</a:t>
            </a:r>
            <a:r>
              <a:rPr sz="2550" spc="-90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C0C0C"/>
                </a:solidFill>
                <a:latin typeface="Calibri"/>
                <a:cs typeface="Calibri"/>
              </a:rPr>
              <a:t>opportunity.</a:t>
            </a:r>
            <a:endParaRPr sz="25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25"/>
              </a:spcBef>
            </a:pPr>
            <a:endParaRPr sz="2550" dirty="0">
              <a:latin typeface="Calibri"/>
              <a:cs typeface="Calibri"/>
            </a:endParaRPr>
          </a:p>
          <a:p>
            <a:pPr marL="83820">
              <a:lnSpc>
                <a:spcPts val="3345"/>
              </a:lnSpc>
            </a:pPr>
            <a:r>
              <a:rPr sz="2950" dirty="0">
                <a:solidFill>
                  <a:srgbClr val="0F0F0F"/>
                </a:solidFill>
                <a:latin typeface="Calibri"/>
                <a:cs typeface="Calibri"/>
              </a:rPr>
              <a:t>The</a:t>
            </a:r>
            <a:r>
              <a:rPr sz="2950" spc="-10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11111"/>
                </a:solidFill>
                <a:latin typeface="Calibri"/>
                <a:cs typeface="Calibri"/>
              </a:rPr>
              <a:t>key</a:t>
            </a:r>
            <a:r>
              <a:rPr sz="2950" spc="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0F0F0F"/>
                </a:solidFill>
                <a:latin typeface="Calibri"/>
                <a:cs typeface="Calibri"/>
              </a:rPr>
              <a:t>opportunity</a:t>
            </a:r>
            <a:r>
              <a:rPr sz="2950" spc="22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950" spc="85" dirty="0">
                <a:solidFill>
                  <a:srgbClr val="131313"/>
                </a:solidFill>
                <a:latin typeface="Calibri"/>
                <a:cs typeface="Calibri"/>
              </a:rPr>
              <a:t>is</a:t>
            </a:r>
            <a:r>
              <a:rPr sz="2950" spc="-19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80F00"/>
                </a:solidFill>
                <a:latin typeface="Calibri"/>
                <a:cs typeface="Calibri"/>
              </a:rPr>
              <a:t>to</a:t>
            </a:r>
            <a:r>
              <a:rPr sz="2950" spc="-220" dirty="0">
                <a:solidFill>
                  <a:srgbClr val="180F00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31313"/>
                </a:solidFill>
                <a:latin typeface="Calibri"/>
                <a:cs typeface="Calibri"/>
              </a:rPr>
              <a:t>shift</a:t>
            </a:r>
            <a:r>
              <a:rPr sz="2950" spc="4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0F0F0F"/>
                </a:solidFill>
                <a:latin typeface="Calibri"/>
                <a:cs typeface="Calibri"/>
              </a:rPr>
              <a:t>from</a:t>
            </a:r>
            <a:r>
              <a:rPr sz="2950" spc="-14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950" spc="140" dirty="0">
                <a:solidFill>
                  <a:srgbClr val="161616"/>
                </a:solidFill>
                <a:latin typeface="Calibri"/>
                <a:cs typeface="Calibri"/>
              </a:rPr>
              <a:t>a</a:t>
            </a:r>
            <a:r>
              <a:rPr sz="2950" spc="-27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950" u="sng" dirty="0">
                <a:solidFill>
                  <a:srgbClr val="0F0F0F"/>
                </a:solidFill>
                <a:latin typeface="Calibri"/>
                <a:cs typeface="Calibri"/>
              </a:rPr>
              <a:t>reactive</a:t>
            </a:r>
            <a:r>
              <a:rPr sz="2950" spc="-5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A1103"/>
                </a:solidFill>
                <a:latin typeface="Calibri"/>
                <a:cs typeface="Calibri"/>
              </a:rPr>
              <a:t>to</a:t>
            </a:r>
            <a:r>
              <a:rPr sz="2950" spc="-120" dirty="0">
                <a:solidFill>
                  <a:srgbClr val="1A1103"/>
                </a:solidFill>
                <a:latin typeface="Calibri"/>
                <a:cs typeface="Calibri"/>
              </a:rPr>
              <a:t> </a:t>
            </a:r>
            <a:r>
              <a:rPr sz="2950" spc="140" dirty="0">
                <a:solidFill>
                  <a:srgbClr val="131313"/>
                </a:solidFill>
                <a:latin typeface="Calibri"/>
                <a:cs typeface="Calibri"/>
              </a:rPr>
              <a:t>a</a:t>
            </a:r>
            <a:r>
              <a:rPr sz="2950" spc="-27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950" u="sng" spc="-10" dirty="0">
                <a:solidFill>
                  <a:srgbClr val="0F0F0F"/>
                </a:solidFill>
                <a:latin typeface="Calibri"/>
                <a:cs typeface="Calibri"/>
              </a:rPr>
              <a:t>proactive</a:t>
            </a:r>
            <a:endParaRPr sz="2950" u="sng" dirty="0">
              <a:latin typeface="Calibri"/>
              <a:cs typeface="Calibri"/>
            </a:endParaRPr>
          </a:p>
          <a:p>
            <a:pPr marL="69850">
              <a:lnSpc>
                <a:spcPts val="3525"/>
              </a:lnSpc>
            </a:pPr>
            <a:r>
              <a:rPr sz="3100" spc="-114" dirty="0">
                <a:solidFill>
                  <a:srgbClr val="0F0F0F"/>
                </a:solidFill>
                <a:latin typeface="Calibri"/>
                <a:cs typeface="Calibri"/>
              </a:rPr>
              <a:t>model,</a:t>
            </a:r>
            <a:r>
              <a:rPr sz="3100" spc="-19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100" spc="-50" dirty="0">
                <a:solidFill>
                  <a:srgbClr val="131313"/>
                </a:solidFill>
                <a:latin typeface="Calibri"/>
                <a:cs typeface="Calibri"/>
              </a:rPr>
              <a:t>using</a:t>
            </a:r>
            <a:r>
              <a:rPr sz="3100" spc="-19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100" spc="-60" dirty="0">
                <a:solidFill>
                  <a:srgbClr val="111111"/>
                </a:solidFill>
                <a:latin typeface="Calibri"/>
                <a:cs typeface="Calibri"/>
              </a:rPr>
              <a:t>data</a:t>
            </a:r>
            <a:r>
              <a:rPr sz="3100" spc="-14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100" spc="-35" dirty="0">
                <a:solidFill>
                  <a:srgbClr val="0F0F0F"/>
                </a:solidFill>
                <a:latin typeface="Calibri"/>
                <a:cs typeface="Calibri"/>
              </a:rPr>
              <a:t>to</a:t>
            </a:r>
            <a:r>
              <a:rPr sz="3100" spc="-32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100" spc="-60" dirty="0">
                <a:solidFill>
                  <a:srgbClr val="0E0E0E"/>
                </a:solidFill>
                <a:latin typeface="Calibri"/>
                <a:cs typeface="Calibri"/>
              </a:rPr>
              <a:t>anticipate</a:t>
            </a:r>
            <a:r>
              <a:rPr sz="3100" spc="-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111111"/>
                </a:solidFill>
                <a:latin typeface="Calibri"/>
                <a:cs typeface="Calibri"/>
              </a:rPr>
              <a:t>risk</a:t>
            </a:r>
            <a:r>
              <a:rPr sz="3100" spc="-114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100" spc="-95" dirty="0">
                <a:solidFill>
                  <a:srgbClr val="0F0F0F"/>
                </a:solidFill>
                <a:latin typeface="Calibri"/>
                <a:cs typeface="Calibri"/>
              </a:rPr>
              <a:t>before</a:t>
            </a:r>
            <a:r>
              <a:rPr sz="3100" spc="-7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100" spc="65" dirty="0">
                <a:solidFill>
                  <a:srgbClr val="161616"/>
                </a:solidFill>
                <a:latin typeface="Calibri"/>
                <a:cs typeface="Calibri"/>
              </a:rPr>
              <a:t>it</a:t>
            </a:r>
            <a:r>
              <a:rPr sz="3100" spc="-32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100" spc="-120" dirty="0">
                <a:solidFill>
                  <a:srgbClr val="0E0E0E"/>
                </a:solidFill>
                <a:latin typeface="Calibri"/>
                <a:cs typeface="Calibri"/>
              </a:rPr>
              <a:t>becomes</a:t>
            </a:r>
            <a:r>
              <a:rPr sz="3100" spc="-2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0C0C0C"/>
                </a:solidFill>
                <a:latin typeface="Calibri"/>
                <a:cs typeface="Calibri"/>
              </a:rPr>
              <a:t>critical.</a:t>
            </a:r>
            <a:endParaRPr sz="3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4292600"/>
            <a:ext cx="1955800" cy="1943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2400" y="4292600"/>
            <a:ext cx="1943100" cy="1943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58800" y="4305300"/>
            <a:ext cx="1943100" cy="19304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29778" y="449791"/>
            <a:ext cx="12567920" cy="1494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5945"/>
              </a:lnSpc>
              <a:spcBef>
                <a:spcPts val="105"/>
              </a:spcBef>
            </a:pPr>
            <a:r>
              <a:rPr sz="4400" spc="80" dirty="0">
                <a:solidFill>
                  <a:srgbClr val="03284D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The </a:t>
            </a:r>
            <a:r>
              <a:rPr sz="4400" spc="90" dirty="0">
                <a:solidFill>
                  <a:srgbClr val="032A5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Opportunity:</a:t>
            </a:r>
            <a:r>
              <a:rPr sz="4400" spc="370" dirty="0">
                <a:solidFill>
                  <a:srgbClr val="032A5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60" dirty="0">
                <a:solidFill>
                  <a:srgbClr val="01264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</a:t>
            </a:r>
            <a:r>
              <a:rPr sz="4400" spc="-40" dirty="0">
                <a:solidFill>
                  <a:srgbClr val="01264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60" dirty="0">
                <a:solidFill>
                  <a:srgbClr val="012D5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Proactive,</a:t>
            </a:r>
            <a:r>
              <a:rPr sz="4400" spc="450" dirty="0">
                <a:solidFill>
                  <a:srgbClr val="012D5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114" dirty="0">
                <a:solidFill>
                  <a:srgbClr val="032A5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Data-</a:t>
            </a:r>
            <a:r>
              <a:rPr sz="4400" spc="110" dirty="0">
                <a:solidFill>
                  <a:srgbClr val="032A5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Driven</a:t>
            </a:r>
            <a:endParaRPr sz="4400" dirty="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35560" algn="ctr">
              <a:lnSpc>
                <a:spcPts val="6005"/>
              </a:lnSpc>
            </a:pPr>
            <a:r>
              <a:rPr sz="4400" dirty="0">
                <a:solidFill>
                  <a:srgbClr val="012B5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Approach</a:t>
            </a:r>
            <a:r>
              <a:rPr sz="4400" spc="350" dirty="0">
                <a:solidFill>
                  <a:srgbClr val="012B5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155" dirty="0">
                <a:solidFill>
                  <a:srgbClr val="03284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to</a:t>
            </a:r>
            <a:r>
              <a:rPr sz="4400" spc="-120" dirty="0">
                <a:solidFill>
                  <a:srgbClr val="03284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70" dirty="0">
                <a:solidFill>
                  <a:srgbClr val="032F5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Student</a:t>
            </a:r>
            <a:r>
              <a:rPr sz="4400" spc="385" dirty="0">
                <a:solidFill>
                  <a:srgbClr val="032F5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130" dirty="0">
                <a:solidFill>
                  <a:srgbClr val="01234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Success</a:t>
            </a:r>
            <a:endParaRPr sz="44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4616" y="2313517"/>
            <a:ext cx="15506700" cy="1393190"/>
          </a:xfrm>
          <a:prstGeom prst="rect">
            <a:avLst/>
          </a:prstGeom>
          <a:ln w="38100">
            <a:solidFill>
              <a:srgbClr val="13344F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marL="2960370" marR="819150" indent="-2096770">
              <a:lnSpc>
                <a:spcPts val="4000"/>
              </a:lnSpc>
              <a:spcBef>
                <a:spcPts val="1230"/>
              </a:spcBef>
            </a:pPr>
            <a:r>
              <a:rPr sz="3750" spc="-10" dirty="0">
                <a:latin typeface="Calibri"/>
                <a:cs typeface="Calibri"/>
              </a:rPr>
              <a:t>Core</a:t>
            </a:r>
            <a:r>
              <a:rPr sz="3750" spc="-204" dirty="0">
                <a:latin typeface="Calibri"/>
                <a:cs typeface="Calibri"/>
              </a:rPr>
              <a:t> </a:t>
            </a:r>
            <a:r>
              <a:rPr sz="3750" spc="-35" dirty="0">
                <a:latin typeface="Calibri"/>
                <a:cs typeface="Calibri"/>
              </a:rPr>
              <a:t>Objective:</a:t>
            </a:r>
            <a:r>
              <a:rPr sz="3750" spc="-150" dirty="0">
                <a:latin typeface="Calibri"/>
                <a:cs typeface="Calibri"/>
              </a:rPr>
              <a:t> </a:t>
            </a:r>
            <a:r>
              <a:rPr sz="3750" spc="-220" dirty="0">
                <a:latin typeface="Calibri"/>
                <a:cs typeface="Calibri"/>
              </a:rPr>
              <a:t>To</a:t>
            </a:r>
            <a:r>
              <a:rPr sz="3750" spc="-290" dirty="0">
                <a:latin typeface="Calibri"/>
                <a:cs typeface="Calibri"/>
              </a:rPr>
              <a:t> </a:t>
            </a:r>
            <a:r>
              <a:rPr sz="3750" spc="-114" dirty="0">
                <a:latin typeface="Calibri"/>
                <a:cs typeface="Calibri"/>
              </a:rPr>
              <a:t>build</a:t>
            </a:r>
            <a:r>
              <a:rPr sz="3750" spc="-204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a</a:t>
            </a:r>
            <a:r>
              <a:rPr sz="3750" spc="-345" dirty="0">
                <a:latin typeface="Calibri"/>
                <a:cs typeface="Calibri"/>
              </a:rPr>
              <a:t> </a:t>
            </a:r>
            <a:r>
              <a:rPr sz="3750" spc="-105" dirty="0">
                <a:latin typeface="Calibri"/>
                <a:cs typeface="Calibri"/>
              </a:rPr>
              <a:t>system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spc="-120" dirty="0">
                <a:latin typeface="Calibri"/>
                <a:cs typeface="Calibri"/>
              </a:rPr>
              <a:t>that</a:t>
            </a:r>
            <a:r>
              <a:rPr sz="3750" spc="-204" dirty="0">
                <a:latin typeface="Calibri"/>
                <a:cs typeface="Calibri"/>
              </a:rPr>
              <a:t> </a:t>
            </a:r>
            <a:r>
              <a:rPr sz="3750" spc="-105" dirty="0">
                <a:latin typeface="Calibri"/>
                <a:cs typeface="Calibri"/>
              </a:rPr>
              <a:t>proactively</a:t>
            </a:r>
            <a:r>
              <a:rPr sz="3750" spc="20" dirty="0">
                <a:latin typeface="Calibri"/>
                <a:cs typeface="Calibri"/>
              </a:rPr>
              <a:t> </a:t>
            </a:r>
            <a:r>
              <a:rPr sz="3750" spc="-125" dirty="0">
                <a:latin typeface="Calibri"/>
                <a:cs typeface="Calibri"/>
              </a:rPr>
              <a:t>identifies</a:t>
            </a:r>
            <a:r>
              <a:rPr sz="3750" spc="-5" dirty="0">
                <a:latin typeface="Calibri"/>
                <a:cs typeface="Calibri"/>
              </a:rPr>
              <a:t> </a:t>
            </a:r>
            <a:r>
              <a:rPr sz="3750" spc="-70" dirty="0">
                <a:latin typeface="Calibri"/>
                <a:cs typeface="Calibri"/>
              </a:rPr>
              <a:t>at-</a:t>
            </a:r>
            <a:r>
              <a:rPr sz="3750" spc="-40" dirty="0">
                <a:latin typeface="Calibri"/>
                <a:cs typeface="Calibri"/>
              </a:rPr>
              <a:t>risk</a:t>
            </a:r>
            <a:r>
              <a:rPr sz="3750" spc="-110" dirty="0">
                <a:latin typeface="Calibri"/>
                <a:cs typeface="Calibri"/>
              </a:rPr>
              <a:t> </a:t>
            </a:r>
            <a:r>
              <a:rPr sz="3750" spc="-60" dirty="0">
                <a:latin typeface="Calibri"/>
                <a:cs typeface="Calibri"/>
              </a:rPr>
              <a:t>students, </a:t>
            </a:r>
            <a:r>
              <a:rPr sz="3750" spc="-125" dirty="0">
                <a:latin typeface="Calibri"/>
                <a:cs typeface="Calibri"/>
              </a:rPr>
              <a:t>enabling</a:t>
            </a:r>
            <a:r>
              <a:rPr sz="3750" spc="-85" dirty="0">
                <a:latin typeface="Calibri"/>
                <a:cs typeface="Calibri"/>
              </a:rPr>
              <a:t> </a:t>
            </a:r>
            <a:r>
              <a:rPr sz="3750" spc="-170" dirty="0">
                <a:latin typeface="Calibri"/>
                <a:cs typeface="Calibri"/>
              </a:rPr>
              <a:t>timely, </a:t>
            </a:r>
            <a:r>
              <a:rPr sz="3750" spc="-130" dirty="0">
                <a:latin typeface="Calibri"/>
                <a:cs typeface="Calibri"/>
              </a:rPr>
              <a:t>targeted,</a:t>
            </a:r>
            <a:r>
              <a:rPr sz="3750" spc="-140" dirty="0">
                <a:latin typeface="Calibri"/>
                <a:cs typeface="Calibri"/>
              </a:rPr>
              <a:t> </a:t>
            </a:r>
            <a:r>
              <a:rPr sz="3750" spc="-165" dirty="0">
                <a:latin typeface="Calibri"/>
                <a:cs typeface="Calibri"/>
              </a:rPr>
              <a:t>and</a:t>
            </a:r>
            <a:r>
              <a:rPr sz="3750" spc="-185" dirty="0">
                <a:latin typeface="Calibri"/>
                <a:cs typeface="Calibri"/>
              </a:rPr>
              <a:t> </a:t>
            </a:r>
            <a:r>
              <a:rPr sz="3750" spc="-95" dirty="0">
                <a:latin typeface="Calibri"/>
                <a:cs typeface="Calibri"/>
              </a:rPr>
              <a:t>effective</a:t>
            </a:r>
            <a:r>
              <a:rPr sz="3750" spc="5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interventions.</a:t>
            </a:r>
            <a:endParaRPr sz="375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51552" y="6513159"/>
          <a:ext cx="15441930" cy="24206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55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6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0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9920">
                <a:tc>
                  <a:txBody>
                    <a:bodyPr/>
                    <a:lstStyle/>
                    <a:p>
                      <a:pPr marL="205740">
                        <a:lnSpc>
                          <a:spcPts val="4075"/>
                        </a:lnSpc>
                      </a:pPr>
                      <a:r>
                        <a:rPr sz="3550" dirty="0">
                          <a:solidFill>
                            <a:srgbClr val="032141"/>
                          </a:solidFill>
                          <a:latin typeface="Cambria"/>
                          <a:cs typeface="Cambria"/>
                        </a:rPr>
                        <a:t>Early</a:t>
                      </a:r>
                      <a:r>
                        <a:rPr sz="3550" spc="-50" dirty="0">
                          <a:solidFill>
                            <a:srgbClr val="03214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3550" spc="-10" dirty="0">
                          <a:solidFill>
                            <a:srgbClr val="082A4D"/>
                          </a:solidFill>
                          <a:latin typeface="Cambria"/>
                          <a:cs typeface="Cambria"/>
                        </a:rPr>
                        <a:t>Identification</a:t>
                      </a:r>
                      <a:endParaRPr sz="355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060" algn="ctr">
                        <a:lnSpc>
                          <a:spcPts val="4075"/>
                        </a:lnSpc>
                      </a:pPr>
                      <a:r>
                        <a:rPr sz="3550" dirty="0">
                          <a:solidFill>
                            <a:srgbClr val="032342"/>
                          </a:solidFill>
                          <a:latin typeface="Cambria"/>
                          <a:cs typeface="Cambria"/>
                        </a:rPr>
                        <a:t>Resource</a:t>
                      </a:r>
                      <a:r>
                        <a:rPr sz="3550" spc="114" dirty="0">
                          <a:solidFill>
                            <a:srgbClr val="03234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3550" spc="-10" dirty="0">
                          <a:solidFill>
                            <a:srgbClr val="072144"/>
                          </a:solidFill>
                          <a:latin typeface="Cambria"/>
                          <a:cs typeface="Cambria"/>
                        </a:rPr>
                        <a:t>Optimisation</a:t>
                      </a:r>
                      <a:endParaRPr sz="35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1800" algn="ctr">
                        <a:lnSpc>
                          <a:spcPts val="4075"/>
                        </a:lnSpc>
                      </a:pPr>
                      <a:r>
                        <a:rPr sz="3550" spc="-15" dirty="0">
                          <a:solidFill>
                            <a:srgbClr val="082142"/>
                          </a:solidFill>
                          <a:latin typeface="Cambria"/>
                          <a:cs typeface="Cambria"/>
                        </a:rPr>
                        <a:t>Improved</a:t>
                      </a:r>
                      <a:r>
                        <a:rPr sz="3550" spc="-114" dirty="0">
                          <a:solidFill>
                            <a:srgbClr val="08214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3550" spc="-10" dirty="0">
                          <a:solidFill>
                            <a:srgbClr val="011F3F"/>
                          </a:solidFill>
                          <a:latin typeface="Cambria"/>
                          <a:cs typeface="Cambria"/>
                        </a:rPr>
                        <a:t>Outcomes</a:t>
                      </a:r>
                      <a:endParaRPr sz="35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334"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3200" spc="-45" dirty="0">
                          <a:latin typeface="Calibri"/>
                          <a:cs typeface="Calibri"/>
                        </a:rPr>
                        <a:t>Flag</a:t>
                      </a:r>
                      <a:r>
                        <a:rPr sz="32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10" dirty="0">
                          <a:latin typeface="Calibri"/>
                          <a:cs typeface="Calibri"/>
                        </a:rPr>
                        <a:t>potential</a:t>
                      </a:r>
                      <a:r>
                        <a:rPr sz="3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85" dirty="0">
                          <a:latin typeface="Calibri"/>
                          <a:cs typeface="Calibri"/>
                        </a:rPr>
                        <a:t>issues</a:t>
                      </a:r>
                      <a:r>
                        <a:rPr sz="3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95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3200" spc="-135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solidFill>
                            <a:srgbClr val="160C03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13398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3200" spc="-70" dirty="0">
                          <a:solidFill>
                            <a:srgbClr val="0C0C0C"/>
                          </a:solidFill>
                          <a:latin typeface="Calibri"/>
                          <a:cs typeface="Calibri"/>
                        </a:rPr>
                        <a:t>Focus</a:t>
                      </a:r>
                      <a:r>
                        <a:rPr sz="3200" spc="-60" dirty="0">
                          <a:solidFill>
                            <a:srgbClr val="0C0C0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40" dirty="0">
                          <a:solidFill>
                            <a:srgbClr val="0C0C0C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3200" spc="-200" dirty="0">
                          <a:solidFill>
                            <a:srgbClr val="0C0C0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0" dirty="0">
                          <a:latin typeface="Calibri"/>
                          <a:cs typeface="Calibri"/>
                        </a:rPr>
                        <a:t>limited</a:t>
                      </a:r>
                      <a:r>
                        <a:rPr sz="3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75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3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of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4457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3200" spc="-100" dirty="0">
                          <a:latin typeface="Calibri"/>
                          <a:cs typeface="Calibri"/>
                        </a:rPr>
                        <a:t>Increase</a:t>
                      </a:r>
                      <a:r>
                        <a:rPr sz="3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95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retention</a:t>
                      </a:r>
                      <a:r>
                        <a:rPr sz="3200" spc="-70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solidFill>
                            <a:srgbClr val="0C0C0C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212090">
                        <a:lnSpc>
                          <a:spcPts val="3140"/>
                        </a:lnSpc>
                      </a:pPr>
                      <a:r>
                        <a:rPr sz="3200" spc="-65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32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50" dirty="0">
                          <a:solidFill>
                            <a:srgbClr val="0E0E0E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sz="3200" spc="-114" dirty="0">
                          <a:solidFill>
                            <a:srgbClr val="0E0E0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35" dirty="0">
                          <a:latin typeface="Calibri"/>
                          <a:cs typeface="Calibri"/>
                        </a:rPr>
                        <a:t>second</a:t>
                      </a:r>
                      <a:r>
                        <a:rPr sz="32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0" dirty="0">
                          <a:latin typeface="Calibri"/>
                          <a:cs typeface="Calibri"/>
                        </a:rPr>
                        <a:t>semester,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1605" algn="ctr">
                        <a:lnSpc>
                          <a:spcPts val="3140"/>
                        </a:lnSpc>
                      </a:pPr>
                      <a:r>
                        <a:rPr sz="3200" spc="-80" dirty="0">
                          <a:latin typeface="Calibri"/>
                          <a:cs typeface="Calibri"/>
                        </a:rPr>
                        <a:t>faculty</a:t>
                      </a:r>
                      <a:r>
                        <a:rPr sz="32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75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3200" spc="-70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90" dirty="0">
                          <a:latin typeface="Calibri"/>
                          <a:cs typeface="Calibri"/>
                        </a:rPr>
                        <a:t>counsellors</a:t>
                      </a:r>
                      <a:r>
                        <a:rPr sz="3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on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784" algn="ctr">
                        <a:lnSpc>
                          <a:spcPts val="3140"/>
                        </a:lnSpc>
                      </a:pPr>
                      <a:r>
                        <a:rPr sz="3200" spc="-125" dirty="0">
                          <a:latin typeface="Calibri"/>
                          <a:cs typeface="Calibri"/>
                        </a:rPr>
                        <a:t>graduation</a:t>
                      </a:r>
                      <a:r>
                        <a:rPr sz="32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0" dirty="0">
                          <a:latin typeface="Calibri"/>
                          <a:cs typeface="Calibri"/>
                        </a:rPr>
                        <a:t>rates,</a:t>
                      </a:r>
                      <a:r>
                        <a:rPr sz="3200" spc="-2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directly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31750">
                        <a:lnSpc>
                          <a:spcPts val="3115"/>
                        </a:lnSpc>
                      </a:pPr>
                      <a:r>
                        <a:rPr sz="3200" spc="-175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when</a:t>
                      </a:r>
                      <a:r>
                        <a:rPr sz="3200" spc="-90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10" dirty="0">
                          <a:solidFill>
                            <a:srgbClr val="0A0A0A"/>
                          </a:solidFill>
                          <a:latin typeface="Calibri"/>
                          <a:cs typeface="Calibri"/>
                        </a:rPr>
                        <a:t>support</a:t>
                      </a:r>
                      <a:r>
                        <a:rPr sz="3200" spc="-30" dirty="0">
                          <a:solidFill>
                            <a:srgbClr val="0A0A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20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sz="3200" spc="-180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20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have</a:t>
                      </a:r>
                      <a:r>
                        <a:rPr sz="3200" spc="-70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4780" algn="ctr">
                        <a:lnSpc>
                          <a:spcPts val="3115"/>
                        </a:lnSpc>
                      </a:pPr>
                      <a:r>
                        <a:rPr sz="3200" spc="-14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2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5" dirty="0">
                          <a:latin typeface="Calibri"/>
                          <a:cs typeface="Calibri"/>
                        </a:rPr>
                        <a:t>students</a:t>
                      </a:r>
                      <a:r>
                        <a:rPr sz="3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80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who</a:t>
                      </a:r>
                      <a:r>
                        <a:rPr sz="3200" spc="-175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require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7515" algn="ctr">
                        <a:lnSpc>
                          <a:spcPts val="3115"/>
                        </a:lnSpc>
                      </a:pPr>
                      <a:r>
                        <a:rPr sz="3200" spc="-110" dirty="0">
                          <a:latin typeface="Calibri"/>
                          <a:cs typeface="Calibri"/>
                        </a:rPr>
                        <a:t>boosting</a:t>
                      </a:r>
                      <a:r>
                        <a:rPr sz="3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80" dirty="0">
                          <a:latin typeface="Calibri"/>
                          <a:cs typeface="Calibri"/>
                        </a:rPr>
                        <a:t>institutional</a:t>
                      </a:r>
                      <a:r>
                        <a:rPr sz="3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latin typeface="Calibri"/>
                          <a:cs typeface="Calibri"/>
                        </a:rPr>
                        <a:t>financial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marL="856615">
                        <a:lnSpc>
                          <a:spcPts val="3115"/>
                        </a:lnSpc>
                      </a:pPr>
                      <a:r>
                        <a:rPr sz="3200" spc="-105" dirty="0">
                          <a:latin typeface="Calibri"/>
                          <a:cs typeface="Calibri"/>
                        </a:rPr>
                        <a:t>greatest</a:t>
                      </a:r>
                      <a:r>
                        <a:rPr sz="3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impact.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240" algn="ctr">
                        <a:lnSpc>
                          <a:spcPts val="3115"/>
                        </a:lnSpc>
                      </a:pPr>
                      <a:r>
                        <a:rPr sz="3200" spc="-95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support</a:t>
                      </a:r>
                      <a:r>
                        <a:rPr sz="3200" spc="-35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40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3200" spc="-200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most.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1165" algn="ctr">
                        <a:lnSpc>
                          <a:spcPts val="3115"/>
                        </a:lnSpc>
                      </a:pPr>
                      <a:r>
                        <a:rPr sz="3200" spc="-110" dirty="0">
                          <a:latin typeface="Calibri"/>
                          <a:cs typeface="Calibri"/>
                        </a:rPr>
                        <a:t>health</a:t>
                      </a:r>
                      <a:r>
                        <a:rPr sz="3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70" dirty="0">
                          <a:solidFill>
                            <a:srgbClr val="0C0C0C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3200" spc="-165" dirty="0">
                          <a:solidFill>
                            <a:srgbClr val="0C0C0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reputation.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3100" y="6591300"/>
            <a:ext cx="685800" cy="279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23600" y="6591300"/>
            <a:ext cx="685800" cy="2794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54549" y="678391"/>
            <a:ext cx="15566101" cy="876450"/>
          </a:xfrm>
          <a:prstGeom prst="rect">
            <a:avLst/>
          </a:prstGeom>
        </p:spPr>
        <p:txBody>
          <a:bodyPr vert="horz" wrap="square" lIns="0" tIns="197414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35"/>
              </a:spcBef>
            </a:pPr>
            <a:r>
              <a:rPr sz="4400" spc="130" dirty="0">
                <a:solidFill>
                  <a:srgbClr val="052F5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Our</a:t>
            </a:r>
            <a:r>
              <a:rPr sz="4400" spc="125" dirty="0">
                <a:solidFill>
                  <a:srgbClr val="052F5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dirty="0">
                <a:solidFill>
                  <a:srgbClr val="032A4D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Solution:</a:t>
            </a:r>
            <a:r>
              <a:rPr sz="4400" spc="275" dirty="0">
                <a:solidFill>
                  <a:srgbClr val="032A4D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50" dirty="0">
                <a:solidFill>
                  <a:srgbClr val="002849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The</a:t>
            </a:r>
            <a:r>
              <a:rPr sz="4400" spc="75" dirty="0">
                <a:solidFill>
                  <a:srgbClr val="002849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90" dirty="0">
                <a:solidFill>
                  <a:srgbClr val="01244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Student</a:t>
            </a:r>
            <a:r>
              <a:rPr sz="4400" spc="290" dirty="0">
                <a:solidFill>
                  <a:srgbClr val="01244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114" dirty="0">
                <a:solidFill>
                  <a:srgbClr val="002344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Success</a:t>
            </a:r>
            <a:r>
              <a:rPr sz="4400" spc="160" dirty="0">
                <a:solidFill>
                  <a:srgbClr val="002344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60" dirty="0">
                <a:solidFill>
                  <a:srgbClr val="00234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Prediction</a:t>
            </a:r>
            <a:r>
              <a:rPr sz="4400" spc="215" dirty="0">
                <a:solidFill>
                  <a:srgbClr val="00234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65" dirty="0">
                <a:solidFill>
                  <a:srgbClr val="032D5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Model</a:t>
            </a:r>
            <a:endParaRPr sz="44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8883" y="1976966"/>
            <a:ext cx="15083155" cy="10223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 indent="6350">
              <a:lnSpc>
                <a:spcPts val="3850"/>
              </a:lnSpc>
              <a:spcBef>
                <a:spcPts val="350"/>
              </a:spcBef>
              <a:tabLst>
                <a:tab pos="12117705" algn="l"/>
              </a:tabLst>
            </a:pPr>
            <a:r>
              <a:rPr sz="3300" dirty="0">
                <a:solidFill>
                  <a:srgbClr val="0F0F0F"/>
                </a:solidFill>
                <a:latin typeface="Calibri"/>
                <a:cs typeface="Calibri"/>
              </a:rPr>
              <a:t>We</a:t>
            </a:r>
            <a:r>
              <a:rPr sz="3300" spc="-20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300" spc="-114" dirty="0">
                <a:solidFill>
                  <a:srgbClr val="0F0F0F"/>
                </a:solidFill>
                <a:latin typeface="Calibri"/>
                <a:cs typeface="Calibri"/>
              </a:rPr>
              <a:t>have</a:t>
            </a:r>
            <a:r>
              <a:rPr sz="3300" spc="-7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300" spc="-135" dirty="0">
                <a:solidFill>
                  <a:srgbClr val="0C0C0C"/>
                </a:solidFill>
                <a:latin typeface="Calibri"/>
                <a:cs typeface="Calibri"/>
              </a:rPr>
              <a:t>developed</a:t>
            </a:r>
            <a:r>
              <a:rPr sz="3300" spc="-4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3300" spc="-25" dirty="0">
                <a:solidFill>
                  <a:srgbClr val="131313"/>
                </a:solidFill>
                <a:latin typeface="Calibri"/>
                <a:cs typeface="Calibri"/>
              </a:rPr>
              <a:t>a</a:t>
            </a:r>
            <a:r>
              <a:rPr sz="3300" spc="-21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300" spc="-130" dirty="0">
                <a:solidFill>
                  <a:srgbClr val="111111"/>
                </a:solidFill>
                <a:latin typeface="Calibri"/>
                <a:cs typeface="Calibri"/>
              </a:rPr>
              <a:t>machine</a:t>
            </a:r>
            <a:r>
              <a:rPr sz="3300" spc="6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300" spc="-130" dirty="0">
                <a:solidFill>
                  <a:srgbClr val="0C0C0C"/>
                </a:solidFill>
                <a:latin typeface="Calibri"/>
                <a:cs typeface="Calibri"/>
              </a:rPr>
              <a:t>learning</a:t>
            </a:r>
            <a:r>
              <a:rPr sz="3300" spc="1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3300" spc="-145" dirty="0">
                <a:solidFill>
                  <a:srgbClr val="050505"/>
                </a:solidFill>
                <a:latin typeface="Calibri"/>
                <a:cs typeface="Calibri"/>
              </a:rPr>
              <a:t>model</a:t>
            </a:r>
            <a:r>
              <a:rPr sz="3300" spc="-5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3300" spc="-135" dirty="0">
                <a:solidFill>
                  <a:srgbClr val="0F0F0F"/>
                </a:solidFill>
                <a:latin typeface="Calibri"/>
                <a:cs typeface="Calibri"/>
              </a:rPr>
              <a:t>that</a:t>
            </a:r>
            <a:r>
              <a:rPr sz="3300" spc="-6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300" spc="-85" dirty="0">
                <a:solidFill>
                  <a:srgbClr val="070707"/>
                </a:solidFill>
                <a:latin typeface="Calibri"/>
                <a:cs typeface="Calibri"/>
              </a:rPr>
              <a:t>acts</a:t>
            </a:r>
            <a:r>
              <a:rPr sz="3300" spc="-105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3300" spc="-75" dirty="0">
                <a:solidFill>
                  <a:srgbClr val="050505"/>
                </a:solidFill>
                <a:latin typeface="Calibri"/>
                <a:cs typeface="Calibri"/>
              </a:rPr>
              <a:t>as</a:t>
            </a:r>
            <a:r>
              <a:rPr sz="3300" spc="-175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3300" spc="-114" dirty="0">
                <a:solidFill>
                  <a:srgbClr val="111111"/>
                </a:solidFill>
                <a:latin typeface="Calibri"/>
                <a:cs typeface="Calibri"/>
              </a:rPr>
              <a:t>an</a:t>
            </a:r>
            <a:r>
              <a:rPr sz="3300" spc="-7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300" spc="-114" dirty="0">
                <a:solidFill>
                  <a:srgbClr val="0E0E0E"/>
                </a:solidFill>
                <a:latin typeface="Calibri"/>
                <a:cs typeface="Calibri"/>
              </a:rPr>
              <a:t>early-</a:t>
            </a:r>
            <a:r>
              <a:rPr sz="3300" spc="-10" dirty="0">
                <a:solidFill>
                  <a:srgbClr val="0E0E0E"/>
                </a:solidFill>
                <a:latin typeface="Calibri"/>
                <a:cs typeface="Calibri"/>
              </a:rPr>
              <a:t>warning</a:t>
            </a:r>
            <a:r>
              <a:rPr sz="3300" dirty="0">
                <a:solidFill>
                  <a:srgbClr val="0E0E0E"/>
                </a:solidFill>
                <a:latin typeface="Calibri"/>
                <a:cs typeface="Calibri"/>
              </a:rPr>
              <a:t>	</a:t>
            </a:r>
            <a:r>
              <a:rPr sz="3300" spc="-105" dirty="0">
                <a:solidFill>
                  <a:srgbClr val="0E0E0E"/>
                </a:solidFill>
                <a:latin typeface="Calibri"/>
                <a:cs typeface="Calibri"/>
              </a:rPr>
              <a:t>system.</a:t>
            </a:r>
            <a:r>
              <a:rPr sz="3300" spc="-5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3300" spc="-70" dirty="0">
                <a:solidFill>
                  <a:srgbClr val="111111"/>
                </a:solidFill>
                <a:latin typeface="Calibri"/>
                <a:cs typeface="Calibri"/>
              </a:rPr>
              <a:t>It</a:t>
            </a:r>
            <a:r>
              <a:rPr sz="3300" spc="-15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300" spc="-105" dirty="0">
                <a:latin typeface="Calibri"/>
                <a:cs typeface="Calibri"/>
              </a:rPr>
              <a:t>analyses </a:t>
            </a:r>
            <a:r>
              <a:rPr sz="3300" spc="-25" dirty="0">
                <a:solidFill>
                  <a:srgbClr val="0F0F0F"/>
                </a:solidFill>
                <a:latin typeface="Calibri"/>
                <a:cs typeface="Calibri"/>
              </a:rPr>
              <a:t>a</a:t>
            </a:r>
            <a:r>
              <a:rPr sz="3300" spc="-19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300" spc="-114" dirty="0">
                <a:solidFill>
                  <a:srgbClr val="0E0E0E"/>
                </a:solidFill>
                <a:latin typeface="Calibri"/>
                <a:cs typeface="Calibri"/>
              </a:rPr>
              <a:t>student's</a:t>
            </a:r>
            <a:r>
              <a:rPr sz="3300" spc="-7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3300" spc="-140" dirty="0">
                <a:solidFill>
                  <a:srgbClr val="0F0F0F"/>
                </a:solidFill>
                <a:latin typeface="Calibri"/>
                <a:cs typeface="Calibri"/>
              </a:rPr>
              <a:t>data</a:t>
            </a:r>
            <a:r>
              <a:rPr sz="3300" spc="-95" dirty="0">
                <a:solidFill>
                  <a:srgbClr val="0F0F0F"/>
                </a:solidFill>
                <a:latin typeface="Calibri"/>
                <a:cs typeface="Calibri"/>
              </a:rPr>
              <a:t> profile</a:t>
            </a:r>
            <a:r>
              <a:rPr sz="3300" spc="-9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300" spc="-110" dirty="0">
                <a:solidFill>
                  <a:srgbClr val="110800"/>
                </a:solidFill>
                <a:latin typeface="Calibri"/>
                <a:cs typeface="Calibri"/>
              </a:rPr>
              <a:t>to</a:t>
            </a:r>
            <a:r>
              <a:rPr sz="3300" spc="-190" dirty="0">
                <a:solidFill>
                  <a:srgbClr val="110800"/>
                </a:solidFill>
                <a:latin typeface="Calibri"/>
                <a:cs typeface="Calibri"/>
              </a:rPr>
              <a:t> </a:t>
            </a:r>
            <a:r>
              <a:rPr sz="3300" spc="-120" dirty="0">
                <a:solidFill>
                  <a:srgbClr val="050505"/>
                </a:solidFill>
                <a:latin typeface="Calibri"/>
                <a:cs typeface="Calibri"/>
              </a:rPr>
              <a:t>accurately</a:t>
            </a:r>
            <a:r>
              <a:rPr sz="3300" spc="-55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3300" spc="-110" dirty="0">
                <a:solidFill>
                  <a:srgbClr val="0F0F0F"/>
                </a:solidFill>
                <a:latin typeface="Calibri"/>
                <a:cs typeface="Calibri"/>
              </a:rPr>
              <a:t>calculate</a:t>
            </a:r>
            <a:r>
              <a:rPr sz="3300" spc="2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300" spc="-140" dirty="0">
                <a:solidFill>
                  <a:srgbClr val="0E0E0E"/>
                </a:solidFill>
                <a:latin typeface="Calibri"/>
                <a:cs typeface="Calibri"/>
              </a:rPr>
              <a:t>their</a:t>
            </a:r>
            <a:r>
              <a:rPr sz="3300" spc="-14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3300" spc="-125" dirty="0">
                <a:solidFill>
                  <a:srgbClr val="070707"/>
                </a:solidFill>
                <a:latin typeface="Calibri"/>
                <a:cs typeface="Calibri"/>
              </a:rPr>
              <a:t>probability</a:t>
            </a:r>
            <a:r>
              <a:rPr sz="3300" spc="-45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110800"/>
                </a:solidFill>
                <a:latin typeface="Calibri"/>
                <a:cs typeface="Calibri"/>
              </a:rPr>
              <a:t>of</a:t>
            </a:r>
            <a:r>
              <a:rPr sz="3300" spc="-90" dirty="0">
                <a:solidFill>
                  <a:srgbClr val="110800"/>
                </a:solidFill>
                <a:latin typeface="Calibri"/>
                <a:cs typeface="Calibri"/>
              </a:rPr>
              <a:t> </a:t>
            </a:r>
            <a:r>
              <a:rPr sz="3300" spc="-135" dirty="0">
                <a:solidFill>
                  <a:srgbClr val="0C0C0C"/>
                </a:solidFill>
                <a:latin typeface="Calibri"/>
                <a:cs typeface="Calibri"/>
              </a:rPr>
              <a:t>graduating</a:t>
            </a:r>
            <a:r>
              <a:rPr sz="3300" spc="8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3300" spc="-65" dirty="0">
                <a:solidFill>
                  <a:srgbClr val="070707"/>
                </a:solidFill>
                <a:latin typeface="Calibri"/>
                <a:cs typeface="Calibri"/>
              </a:rPr>
              <a:t>or</a:t>
            </a:r>
            <a:r>
              <a:rPr sz="3300" spc="-120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3300" spc="-135" dirty="0">
                <a:solidFill>
                  <a:srgbClr val="0F0F0F"/>
                </a:solidFill>
                <a:latin typeface="Calibri"/>
                <a:cs typeface="Calibri"/>
              </a:rPr>
              <a:t>dropping</a:t>
            </a:r>
            <a:r>
              <a:rPr sz="3300" spc="-3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300" spc="-20" dirty="0">
                <a:solidFill>
                  <a:srgbClr val="0F0F0F"/>
                </a:solidFill>
                <a:latin typeface="Calibri"/>
                <a:cs typeface="Calibri"/>
              </a:rPr>
              <a:t>out.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81903" y="4639626"/>
            <a:ext cx="3966845" cy="4201690"/>
          </a:xfrm>
          <a:prstGeom prst="rect">
            <a:avLst/>
          </a:prstGeom>
          <a:ln w="57150">
            <a:solidFill>
              <a:srgbClr val="3B3B3B"/>
            </a:solidFill>
          </a:ln>
        </p:spPr>
        <p:txBody>
          <a:bodyPr vert="horz" wrap="square" lIns="0" tIns="286385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2255"/>
              </a:spcBef>
            </a:pPr>
            <a:endParaRPr sz="3400" dirty="0">
              <a:latin typeface="Times New Roman"/>
              <a:cs typeface="Times New Roman"/>
            </a:endParaRPr>
          </a:p>
          <a:p>
            <a:pPr marL="31115" algn="ctr">
              <a:lnSpc>
                <a:spcPct val="100000"/>
              </a:lnSpc>
            </a:pPr>
            <a:r>
              <a:rPr lang="en-PH" sz="3400" spc="40" dirty="0">
                <a:solidFill>
                  <a:srgbClr val="032A4D"/>
                </a:solidFill>
                <a:latin typeface="Berlin Sans FB Demi" panose="020E0802020502020306" pitchFamily="34" charset="0"/>
                <a:cs typeface="Cambria"/>
              </a:rPr>
              <a:t>INPUT</a:t>
            </a:r>
            <a:endParaRPr lang="en-PH" sz="3400" dirty="0">
              <a:solidFill>
                <a:srgbClr val="032A4D"/>
              </a:solidFill>
              <a:latin typeface="Berlin Sans FB Demi" panose="020E0802020502020306" pitchFamily="34" charset="0"/>
              <a:cs typeface="Cambria"/>
            </a:endParaRPr>
          </a:p>
          <a:p>
            <a:pPr marL="338455" marR="283845" algn="ctr">
              <a:lnSpc>
                <a:spcPts val="3500"/>
              </a:lnSpc>
              <a:spcBef>
                <a:spcPts val="3620"/>
              </a:spcBef>
            </a:pPr>
            <a:r>
              <a:rPr sz="2950" spc="-45" dirty="0">
                <a:latin typeface="Calibri"/>
                <a:cs typeface="Calibri"/>
              </a:rPr>
              <a:t>Historical</a:t>
            </a:r>
            <a:r>
              <a:rPr sz="2950" spc="-40" dirty="0">
                <a:latin typeface="Calibri"/>
                <a:cs typeface="Calibri"/>
              </a:rPr>
              <a:t> </a:t>
            </a:r>
            <a:r>
              <a:rPr sz="2950" spc="-110" dirty="0">
                <a:solidFill>
                  <a:srgbClr val="050505"/>
                </a:solidFill>
                <a:latin typeface="Calibri"/>
                <a:cs typeface="Calibri"/>
              </a:rPr>
              <a:t>Student</a:t>
            </a:r>
            <a:r>
              <a:rPr sz="2950" spc="-60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2950" spc="-25" dirty="0">
                <a:solidFill>
                  <a:srgbClr val="0E0E0E"/>
                </a:solidFill>
                <a:latin typeface="Calibri"/>
                <a:cs typeface="Calibri"/>
              </a:rPr>
              <a:t>Data </a:t>
            </a:r>
            <a:r>
              <a:rPr sz="2950" spc="-25" dirty="0">
                <a:solidFill>
                  <a:srgbClr val="0C0C0C"/>
                </a:solidFill>
                <a:latin typeface="Calibri"/>
                <a:cs typeface="Calibri"/>
              </a:rPr>
              <a:t>(Demographics, </a:t>
            </a:r>
            <a:r>
              <a:rPr sz="2950" spc="-105" dirty="0">
                <a:solidFill>
                  <a:srgbClr val="050505"/>
                </a:solidFill>
                <a:latin typeface="Calibri"/>
                <a:cs typeface="Calibri"/>
              </a:rPr>
              <a:t>Academic</a:t>
            </a:r>
            <a:r>
              <a:rPr sz="2950" spc="-30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0E0E0E"/>
                </a:solidFill>
                <a:latin typeface="Calibri"/>
                <a:cs typeface="Calibri"/>
              </a:rPr>
              <a:t>History, </a:t>
            </a:r>
            <a:r>
              <a:rPr sz="2950" spc="-95" dirty="0">
                <a:solidFill>
                  <a:srgbClr val="0F0F0F"/>
                </a:solidFill>
                <a:latin typeface="Calibri"/>
                <a:cs typeface="Calibri"/>
              </a:rPr>
              <a:t>Enrolment</a:t>
            </a:r>
            <a:r>
              <a:rPr sz="2950" spc="-6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950" spc="-20" dirty="0">
                <a:solidFill>
                  <a:srgbClr val="111111"/>
                </a:solidFill>
                <a:latin typeface="Calibri"/>
                <a:cs typeface="Calibri"/>
              </a:rPr>
              <a:t>Data)</a:t>
            </a:r>
            <a:endParaRPr lang="en-PH" sz="2950" spc="-20" dirty="0">
              <a:solidFill>
                <a:srgbClr val="111111"/>
              </a:solidFill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28883" y="4675716"/>
            <a:ext cx="3975100" cy="4165600"/>
          </a:xfrm>
          <a:prstGeom prst="rect">
            <a:avLst/>
          </a:prstGeom>
          <a:ln w="57150">
            <a:solidFill>
              <a:srgbClr val="2F2F2F"/>
            </a:solidFill>
          </a:ln>
        </p:spPr>
        <p:txBody>
          <a:bodyPr vert="horz" wrap="square" lIns="0" tIns="11938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940"/>
              </a:spcBef>
            </a:pPr>
            <a:endParaRPr sz="39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950" spc="-350" dirty="0">
                <a:solidFill>
                  <a:srgbClr val="032A4D"/>
                </a:solidFill>
                <a:latin typeface="Berlin Sans FB Demi" panose="020E0802020502020306" pitchFamily="34" charset="0"/>
                <a:cs typeface="Courier New"/>
              </a:rPr>
              <a:t>PROCESS</a:t>
            </a:r>
            <a:endParaRPr sz="3950" dirty="0">
              <a:solidFill>
                <a:srgbClr val="032A4D"/>
              </a:solidFill>
              <a:latin typeface="Berlin Sans FB Demi" panose="020E0802020502020306" pitchFamily="34" charset="0"/>
              <a:cs typeface="Courier New"/>
            </a:endParaRPr>
          </a:p>
          <a:p>
            <a:pPr marL="15875" algn="ctr">
              <a:lnSpc>
                <a:spcPts val="3470"/>
              </a:lnSpc>
              <a:spcBef>
                <a:spcPts val="1710"/>
              </a:spcBef>
            </a:pPr>
            <a:r>
              <a:rPr sz="2950" spc="-130" dirty="0">
                <a:solidFill>
                  <a:srgbClr val="050505"/>
                </a:solidFill>
                <a:latin typeface="Calibri"/>
                <a:cs typeface="Calibri"/>
              </a:rPr>
              <a:t>Machine</a:t>
            </a:r>
            <a:r>
              <a:rPr sz="2950" spc="-20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latin typeface="Calibri"/>
                <a:cs typeface="Calibri"/>
              </a:rPr>
              <a:t>Learning</a:t>
            </a:r>
            <a:endParaRPr sz="2950" dirty="0">
              <a:latin typeface="Calibri"/>
              <a:cs typeface="Calibri"/>
            </a:endParaRPr>
          </a:p>
          <a:p>
            <a:pPr marL="10160" algn="ctr">
              <a:lnSpc>
                <a:spcPts val="3640"/>
              </a:lnSpc>
            </a:pPr>
            <a:r>
              <a:rPr sz="3100" spc="-40" dirty="0">
                <a:solidFill>
                  <a:srgbClr val="111111"/>
                </a:solidFill>
                <a:latin typeface="Calibri"/>
                <a:cs typeface="Calibri"/>
              </a:rPr>
              <a:t>Model</a:t>
            </a:r>
            <a:endParaRPr sz="3100" dirty="0">
              <a:latin typeface="Calibri"/>
              <a:cs typeface="Calibri"/>
            </a:endParaRPr>
          </a:p>
          <a:p>
            <a:pPr marL="28575" algn="ctr">
              <a:lnSpc>
                <a:spcPts val="3470"/>
              </a:lnSpc>
            </a:pPr>
            <a:r>
              <a:rPr sz="2900" spc="-50" dirty="0">
                <a:solidFill>
                  <a:srgbClr val="050505"/>
                </a:solidFill>
                <a:latin typeface="Calibri"/>
                <a:cs typeface="Calibri"/>
              </a:rPr>
              <a:t>(Predicts</a:t>
            </a:r>
            <a:r>
              <a:rPr sz="2900" spc="-100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050505"/>
                </a:solidFill>
                <a:latin typeface="Calibri"/>
                <a:cs typeface="Calibri"/>
              </a:rPr>
              <a:t>Future</a:t>
            </a:r>
            <a:endParaRPr sz="2900" dirty="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170"/>
              </a:spcBef>
            </a:pPr>
            <a:r>
              <a:rPr sz="2750" spc="-10" dirty="0">
                <a:solidFill>
                  <a:srgbClr val="050505"/>
                </a:solidFill>
                <a:latin typeface="Calibri"/>
                <a:cs typeface="Calibri"/>
              </a:rPr>
              <a:t>Outcomes)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881909" y="4658571"/>
            <a:ext cx="3975100" cy="4182745"/>
          </a:xfrm>
          <a:prstGeom prst="rect">
            <a:avLst/>
          </a:prstGeom>
          <a:ln w="57150">
            <a:solidFill>
              <a:srgbClr val="343434"/>
            </a:solidFill>
          </a:ln>
        </p:spPr>
        <p:txBody>
          <a:bodyPr vert="horz" wrap="square" lIns="0" tIns="286385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2255"/>
              </a:spcBef>
            </a:pPr>
            <a:endParaRPr sz="3400" dirty="0">
              <a:latin typeface="Times New Roman"/>
              <a:cs typeface="Times New Roman"/>
            </a:endParaRPr>
          </a:p>
          <a:p>
            <a:pPr marL="12065" algn="ctr">
              <a:lnSpc>
                <a:spcPct val="100000"/>
              </a:lnSpc>
            </a:pPr>
            <a:r>
              <a:rPr sz="3400" spc="45" dirty="0">
                <a:solidFill>
                  <a:srgbClr val="032A4D"/>
                </a:solidFill>
                <a:latin typeface="Berlin Sans FB Demi" panose="020E0802020502020306" pitchFamily="34" charset="0"/>
                <a:cs typeface="Cambria"/>
              </a:rPr>
              <a:t>OUTPUT</a:t>
            </a:r>
            <a:endParaRPr sz="3400" dirty="0">
              <a:solidFill>
                <a:srgbClr val="032A4D"/>
              </a:solidFill>
              <a:latin typeface="Berlin Sans FB Demi" panose="020E0802020502020306" pitchFamily="34" charset="0"/>
              <a:cs typeface="Cambria"/>
            </a:endParaRPr>
          </a:p>
          <a:p>
            <a:pPr marL="452755" marR="410209" indent="-24130" algn="ctr">
              <a:lnSpc>
                <a:spcPts val="3500"/>
              </a:lnSpc>
              <a:spcBef>
                <a:spcPts val="3620"/>
              </a:spcBef>
            </a:pPr>
            <a:r>
              <a:rPr sz="2900" spc="-60" dirty="0">
                <a:solidFill>
                  <a:srgbClr val="0C0C0C"/>
                </a:solidFill>
                <a:latin typeface="Calibri"/>
                <a:cs typeface="Calibri"/>
              </a:rPr>
              <a:t>Actionable </a:t>
            </a:r>
            <a:r>
              <a:rPr sz="2900" dirty="0">
                <a:solidFill>
                  <a:srgbClr val="0A0A0A"/>
                </a:solidFill>
                <a:latin typeface="Calibri"/>
                <a:cs typeface="Calibri"/>
              </a:rPr>
              <a:t>Risk</a:t>
            </a:r>
            <a:r>
              <a:rPr sz="2900" spc="-16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070707"/>
                </a:solidFill>
                <a:latin typeface="Calibri"/>
                <a:cs typeface="Calibri"/>
              </a:rPr>
              <a:t>Score </a:t>
            </a:r>
            <a:r>
              <a:rPr sz="3050" spc="-114" dirty="0">
                <a:solidFill>
                  <a:srgbClr val="050505"/>
                </a:solidFill>
                <a:latin typeface="Calibri"/>
                <a:cs typeface="Calibri"/>
              </a:rPr>
              <a:t>(Probability</a:t>
            </a:r>
            <a:r>
              <a:rPr sz="3050" spc="50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3050" spc="-25" dirty="0">
                <a:solidFill>
                  <a:srgbClr val="0F0F0F"/>
                </a:solidFill>
                <a:latin typeface="Calibri"/>
                <a:cs typeface="Calibri"/>
              </a:rPr>
              <a:t>of </a:t>
            </a:r>
            <a:r>
              <a:rPr sz="2900" spc="-50" dirty="0">
                <a:solidFill>
                  <a:srgbClr val="0C0C0C"/>
                </a:solidFill>
                <a:latin typeface="Calibri"/>
                <a:cs typeface="Calibri"/>
              </a:rPr>
              <a:t>Dropout/Graduation)</a:t>
            </a:r>
            <a:endParaRPr sz="2900" dirty="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27175" y="4051300"/>
            <a:ext cx="876300" cy="1130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66100" y="4038600"/>
            <a:ext cx="1143000" cy="11557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196359" y="4241800"/>
            <a:ext cx="13462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4549" y="678391"/>
            <a:ext cx="15566101" cy="1450254"/>
          </a:xfrm>
          <a:prstGeom prst="rect">
            <a:avLst/>
          </a:prstGeom>
        </p:spPr>
        <p:txBody>
          <a:bodyPr vert="horz" wrap="square" lIns="0" tIns="217028" rIns="0" bIns="0" rtlCol="0">
            <a:spAutoFit/>
          </a:bodyPr>
          <a:lstStyle/>
          <a:p>
            <a:pPr marL="5080">
              <a:lnSpc>
                <a:spcPct val="100000"/>
              </a:lnSpc>
              <a:spcBef>
                <a:spcPts val="95"/>
              </a:spcBef>
            </a:pPr>
            <a:r>
              <a:rPr sz="4000" spc="90" dirty="0">
                <a:solidFill>
                  <a:srgbClr val="0A284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The</a:t>
            </a:r>
            <a:r>
              <a:rPr sz="4000" spc="95" dirty="0">
                <a:solidFill>
                  <a:srgbClr val="0A284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dirty="0">
                <a:solidFill>
                  <a:srgbClr val="051F3B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Foundation:</a:t>
            </a:r>
            <a:r>
              <a:rPr sz="4000" spc="265" dirty="0">
                <a:solidFill>
                  <a:srgbClr val="051F3B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spc="50" dirty="0">
                <a:solidFill>
                  <a:srgbClr val="05233F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Built</a:t>
            </a:r>
            <a:r>
              <a:rPr sz="4000" spc="185" dirty="0">
                <a:solidFill>
                  <a:srgbClr val="05233F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spc="114" dirty="0">
                <a:solidFill>
                  <a:srgbClr val="031C3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on</a:t>
            </a:r>
            <a:r>
              <a:rPr sz="4000" spc="-50" dirty="0">
                <a:solidFill>
                  <a:srgbClr val="031C3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spc="195" dirty="0">
                <a:solidFill>
                  <a:srgbClr val="03213B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</a:t>
            </a:r>
            <a:r>
              <a:rPr sz="4000" spc="-55" dirty="0">
                <a:solidFill>
                  <a:srgbClr val="03213B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spc="105" dirty="0">
                <a:solidFill>
                  <a:srgbClr val="03243F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Rich,</a:t>
            </a:r>
            <a:r>
              <a:rPr sz="4000" spc="60" dirty="0">
                <a:solidFill>
                  <a:srgbClr val="03243F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spc="90" dirty="0">
                <a:solidFill>
                  <a:srgbClr val="002649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Multi-</a:t>
            </a:r>
            <a:r>
              <a:rPr sz="4000" spc="110" dirty="0">
                <a:solidFill>
                  <a:srgbClr val="002649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Modal</a:t>
            </a:r>
            <a:r>
              <a:rPr sz="4000" spc="335" dirty="0">
                <a:solidFill>
                  <a:srgbClr val="002649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spc="55" dirty="0">
                <a:solidFill>
                  <a:srgbClr val="05244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Student</a:t>
            </a:r>
            <a:r>
              <a:rPr sz="4000" spc="345" dirty="0">
                <a:solidFill>
                  <a:srgbClr val="05244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spc="45" dirty="0">
                <a:solidFill>
                  <a:srgbClr val="0A284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Dataset</a:t>
            </a:r>
            <a:endParaRPr sz="40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1343" y="2967919"/>
            <a:ext cx="6609080" cy="208343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6510" marR="5080" indent="-4445">
              <a:lnSpc>
                <a:spcPct val="90100"/>
              </a:lnSpc>
              <a:spcBef>
                <a:spcPts val="565"/>
              </a:spcBef>
            </a:pPr>
            <a:r>
              <a:rPr sz="3650" spc="65" dirty="0">
                <a:solidFill>
                  <a:srgbClr val="0C0C0C"/>
                </a:solidFill>
                <a:latin typeface="Calibri"/>
                <a:cs typeface="Calibri"/>
              </a:rPr>
              <a:t>Data</a:t>
            </a:r>
            <a:r>
              <a:rPr sz="3650" spc="-25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3650" spc="-50" dirty="0">
                <a:latin typeface="Calibri"/>
                <a:cs typeface="Calibri"/>
              </a:rPr>
              <a:t>Source:</a:t>
            </a:r>
            <a:r>
              <a:rPr sz="3650" spc="-160" dirty="0">
                <a:latin typeface="Calibri"/>
                <a:cs typeface="Calibri"/>
              </a:rPr>
              <a:t> </a:t>
            </a:r>
            <a:r>
              <a:rPr sz="3650" spc="-30" dirty="0">
                <a:latin typeface="Calibri"/>
                <a:cs typeface="Calibri"/>
              </a:rPr>
              <a:t>Analysis</a:t>
            </a:r>
            <a:r>
              <a:rPr sz="3650" spc="-95" dirty="0">
                <a:latin typeface="Calibri"/>
                <a:cs typeface="Calibri"/>
              </a:rPr>
              <a:t> </a:t>
            </a:r>
            <a:r>
              <a:rPr sz="3650" spc="-30" dirty="0">
                <a:latin typeface="Calibri"/>
                <a:cs typeface="Calibri"/>
              </a:rPr>
              <a:t>is</a:t>
            </a:r>
            <a:r>
              <a:rPr sz="3650" spc="-200" dirty="0">
                <a:latin typeface="Calibri"/>
                <a:cs typeface="Calibri"/>
              </a:rPr>
              <a:t> </a:t>
            </a:r>
            <a:r>
              <a:rPr sz="3650" spc="-110" dirty="0">
                <a:latin typeface="Calibri"/>
                <a:cs typeface="Calibri"/>
              </a:rPr>
              <a:t>based</a:t>
            </a:r>
            <a:r>
              <a:rPr sz="3650" spc="-175" dirty="0">
                <a:latin typeface="Calibri"/>
                <a:cs typeface="Calibri"/>
              </a:rPr>
              <a:t> </a:t>
            </a:r>
            <a:r>
              <a:rPr sz="3650" spc="-70" dirty="0">
                <a:latin typeface="Calibri"/>
                <a:cs typeface="Calibri"/>
              </a:rPr>
              <a:t>on</a:t>
            </a:r>
            <a:r>
              <a:rPr sz="3650" spc="-290" dirty="0">
                <a:latin typeface="Calibri"/>
                <a:cs typeface="Calibri"/>
              </a:rPr>
              <a:t> </a:t>
            </a:r>
            <a:r>
              <a:rPr sz="3650" dirty="0">
                <a:solidFill>
                  <a:srgbClr val="0E0E0E"/>
                </a:solidFill>
                <a:latin typeface="Calibri"/>
                <a:cs typeface="Calibri"/>
              </a:rPr>
              <a:t>a </a:t>
            </a:r>
            <a:r>
              <a:rPr sz="3650" spc="-80" dirty="0">
                <a:latin typeface="Calibri"/>
                <a:cs typeface="Calibri"/>
              </a:rPr>
              <a:t>real-</a:t>
            </a:r>
            <a:r>
              <a:rPr sz="3650" spc="-40" dirty="0">
                <a:latin typeface="Calibri"/>
                <a:cs typeface="Calibri"/>
              </a:rPr>
              <a:t>world</a:t>
            </a:r>
            <a:r>
              <a:rPr sz="3650" spc="-125" dirty="0">
                <a:latin typeface="Calibri"/>
                <a:cs typeface="Calibri"/>
              </a:rPr>
              <a:t> </a:t>
            </a:r>
            <a:r>
              <a:rPr sz="3650" spc="-90" dirty="0">
                <a:latin typeface="Calibri"/>
                <a:cs typeface="Calibri"/>
              </a:rPr>
              <a:t>academic</a:t>
            </a:r>
            <a:r>
              <a:rPr sz="3650" spc="-75" dirty="0">
                <a:latin typeface="Calibri"/>
                <a:cs typeface="Calibri"/>
              </a:rPr>
              <a:t> </a:t>
            </a:r>
            <a:r>
              <a:rPr sz="3650" spc="-45" dirty="0">
                <a:latin typeface="Calibri"/>
                <a:cs typeface="Calibri"/>
              </a:rPr>
              <a:t>success</a:t>
            </a:r>
            <a:r>
              <a:rPr sz="3650" spc="-160" dirty="0">
                <a:latin typeface="Calibri"/>
                <a:cs typeface="Calibri"/>
              </a:rPr>
              <a:t> </a:t>
            </a:r>
            <a:r>
              <a:rPr sz="3650" spc="-50" dirty="0">
                <a:solidFill>
                  <a:srgbClr val="050505"/>
                </a:solidFill>
                <a:latin typeface="Calibri"/>
                <a:cs typeface="Calibri"/>
              </a:rPr>
              <a:t>dataset </a:t>
            </a:r>
            <a:r>
              <a:rPr sz="3650" spc="-70" dirty="0">
                <a:solidFill>
                  <a:srgbClr val="050505"/>
                </a:solidFill>
                <a:latin typeface="Calibri"/>
                <a:cs typeface="Calibri"/>
              </a:rPr>
              <a:t>comprising</a:t>
            </a:r>
            <a:r>
              <a:rPr sz="3650" spc="-85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3650" spc="-10" dirty="0">
                <a:solidFill>
                  <a:srgbClr val="050505"/>
                </a:solidFill>
                <a:latin typeface="Calibri"/>
                <a:cs typeface="Calibri"/>
              </a:rPr>
              <a:t>4,424</a:t>
            </a:r>
            <a:r>
              <a:rPr sz="3650" spc="-275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3650" spc="-10" dirty="0">
                <a:latin typeface="Calibri"/>
                <a:cs typeface="Calibri"/>
              </a:rPr>
              <a:t>undergraduate </a:t>
            </a:r>
            <a:r>
              <a:rPr sz="3600" spc="-10" dirty="0">
                <a:latin typeface="Calibri"/>
                <a:cs typeface="Calibri"/>
              </a:rPr>
              <a:t>students.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0602" y="5461000"/>
            <a:ext cx="7129780" cy="158432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7145" marR="5080" indent="-5080">
              <a:lnSpc>
                <a:spcPts val="3900"/>
              </a:lnSpc>
              <a:spcBef>
                <a:spcPts val="730"/>
              </a:spcBef>
            </a:pPr>
            <a:r>
              <a:rPr sz="3750" dirty="0">
                <a:latin typeface="Calibri"/>
                <a:cs typeface="Calibri"/>
              </a:rPr>
              <a:t>Data</a:t>
            </a:r>
            <a:r>
              <a:rPr sz="3750" spc="-345" dirty="0">
                <a:latin typeface="Calibri"/>
                <a:cs typeface="Calibri"/>
              </a:rPr>
              <a:t> </a:t>
            </a:r>
            <a:r>
              <a:rPr sz="3750" spc="-40" dirty="0">
                <a:latin typeface="Calibri"/>
                <a:cs typeface="Calibri"/>
              </a:rPr>
              <a:t>Richness:</a:t>
            </a:r>
            <a:r>
              <a:rPr sz="3750" spc="-30" dirty="0">
                <a:latin typeface="Calibri"/>
                <a:cs typeface="Calibri"/>
              </a:rPr>
              <a:t> </a:t>
            </a:r>
            <a:r>
              <a:rPr sz="3750" spc="-60" dirty="0">
                <a:solidFill>
                  <a:srgbClr val="0F0500"/>
                </a:solidFill>
                <a:latin typeface="Calibri"/>
                <a:cs typeface="Calibri"/>
              </a:rPr>
              <a:t>The</a:t>
            </a:r>
            <a:r>
              <a:rPr sz="3750" spc="-185" dirty="0">
                <a:solidFill>
                  <a:srgbClr val="0F0500"/>
                </a:solidFill>
                <a:latin typeface="Calibri"/>
                <a:cs typeface="Calibri"/>
              </a:rPr>
              <a:t> </a:t>
            </a:r>
            <a:r>
              <a:rPr sz="3750" spc="-225" dirty="0">
                <a:solidFill>
                  <a:srgbClr val="0E0E0E"/>
                </a:solidFill>
                <a:latin typeface="Calibri"/>
                <a:cs typeface="Calibri"/>
              </a:rPr>
              <a:t>model</a:t>
            </a:r>
            <a:r>
              <a:rPr sz="3750" spc="-10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3750" dirty="0">
                <a:solidFill>
                  <a:srgbClr val="130800"/>
                </a:solidFill>
                <a:latin typeface="Calibri"/>
                <a:cs typeface="Calibri"/>
              </a:rPr>
              <a:t>is</a:t>
            </a:r>
            <a:r>
              <a:rPr sz="3750" spc="-250" dirty="0">
                <a:solidFill>
                  <a:srgbClr val="130800"/>
                </a:solidFill>
                <a:latin typeface="Calibri"/>
                <a:cs typeface="Calibri"/>
              </a:rPr>
              <a:t> </a:t>
            </a:r>
            <a:r>
              <a:rPr sz="3750" spc="-10" dirty="0">
                <a:solidFill>
                  <a:srgbClr val="0E0E0E"/>
                </a:solidFill>
                <a:latin typeface="Calibri"/>
                <a:cs typeface="Calibri"/>
              </a:rPr>
              <a:t>powered </a:t>
            </a:r>
            <a:r>
              <a:rPr sz="3650" dirty="0">
                <a:solidFill>
                  <a:srgbClr val="0E0E0E"/>
                </a:solidFill>
                <a:latin typeface="Calibri"/>
                <a:cs typeface="Calibri"/>
              </a:rPr>
              <a:t>by</a:t>
            </a:r>
            <a:r>
              <a:rPr sz="3650" spc="-20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3650" dirty="0">
                <a:latin typeface="Calibri"/>
                <a:cs typeface="Calibri"/>
              </a:rPr>
              <a:t>37</a:t>
            </a:r>
            <a:r>
              <a:rPr sz="3650" spc="-310" dirty="0">
                <a:latin typeface="Calibri"/>
                <a:cs typeface="Calibri"/>
              </a:rPr>
              <a:t> </a:t>
            </a:r>
            <a:r>
              <a:rPr sz="3650" spc="-70" dirty="0">
                <a:solidFill>
                  <a:srgbClr val="0C0C0C"/>
                </a:solidFill>
                <a:latin typeface="Calibri"/>
                <a:cs typeface="Calibri"/>
              </a:rPr>
              <a:t>distinct</a:t>
            </a:r>
            <a:r>
              <a:rPr sz="3650" spc="-5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3650" spc="-90" dirty="0">
                <a:solidFill>
                  <a:srgbClr val="070707"/>
                </a:solidFill>
                <a:latin typeface="Calibri"/>
                <a:cs typeface="Calibri"/>
              </a:rPr>
              <a:t>features</a:t>
            </a:r>
            <a:r>
              <a:rPr sz="3650" spc="-10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3650" spc="-110" dirty="0">
                <a:solidFill>
                  <a:srgbClr val="050505"/>
                </a:solidFill>
                <a:latin typeface="Calibri"/>
                <a:cs typeface="Calibri"/>
              </a:rPr>
              <a:t>for</a:t>
            </a:r>
            <a:r>
              <a:rPr sz="3650" spc="-160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3650" spc="-80" dirty="0">
                <a:solidFill>
                  <a:srgbClr val="0F0F0F"/>
                </a:solidFill>
                <a:latin typeface="Calibri"/>
                <a:cs typeface="Calibri"/>
              </a:rPr>
              <a:t>each</a:t>
            </a:r>
            <a:r>
              <a:rPr sz="3650" spc="-20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650" spc="-55" dirty="0">
                <a:solidFill>
                  <a:srgbClr val="0C0C0C"/>
                </a:solidFill>
                <a:latin typeface="Calibri"/>
                <a:cs typeface="Calibri"/>
              </a:rPr>
              <a:t>student, </a:t>
            </a:r>
            <a:r>
              <a:rPr sz="3600" spc="-30" dirty="0">
                <a:solidFill>
                  <a:srgbClr val="050505"/>
                </a:solidFill>
                <a:latin typeface="Calibri"/>
                <a:cs typeface="Calibri"/>
              </a:rPr>
              <a:t>covering</a:t>
            </a:r>
            <a:r>
              <a:rPr sz="3600" spc="-130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3600" spc="85" dirty="0">
                <a:solidFill>
                  <a:srgbClr val="050505"/>
                </a:solidFill>
                <a:latin typeface="Calibri"/>
                <a:cs typeface="Calibri"/>
              </a:rPr>
              <a:t>a</a:t>
            </a:r>
            <a:r>
              <a:rPr sz="3600" spc="-365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3600" spc="-45" dirty="0">
                <a:solidFill>
                  <a:srgbClr val="0E0E0E"/>
                </a:solidFill>
                <a:latin typeface="Calibri"/>
                <a:cs typeface="Calibri"/>
              </a:rPr>
              <a:t>wide</a:t>
            </a:r>
            <a:r>
              <a:rPr sz="3600" spc="-25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3600" spc="-55" dirty="0">
                <a:solidFill>
                  <a:srgbClr val="0F0F0F"/>
                </a:solidFill>
                <a:latin typeface="Calibri"/>
                <a:cs typeface="Calibri"/>
              </a:rPr>
              <a:t>range</a:t>
            </a:r>
            <a:r>
              <a:rPr sz="3600" spc="-9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600" spc="-85" dirty="0">
                <a:solidFill>
                  <a:srgbClr val="0F0F0F"/>
                </a:solidFill>
                <a:latin typeface="Calibri"/>
                <a:cs typeface="Calibri"/>
              </a:rPr>
              <a:t>of</a:t>
            </a:r>
            <a:r>
              <a:rPr sz="3600" spc="-18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0F0F0F"/>
                </a:solidFill>
                <a:latin typeface="Calibri"/>
                <a:cs typeface="Calibri"/>
              </a:rPr>
              <a:t>factors.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7297" y="2069041"/>
            <a:ext cx="71120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45" dirty="0">
                <a:solidFill>
                  <a:srgbClr val="051624"/>
                </a:solidFill>
                <a:latin typeface="Calibri"/>
                <a:cs typeface="Calibri"/>
              </a:rPr>
              <a:t>OO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10146" y="2034116"/>
            <a:ext cx="5786120" cy="993862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6510" marR="5080" indent="-4445">
              <a:lnSpc>
                <a:spcPts val="3600"/>
              </a:lnSpc>
              <a:spcBef>
                <a:spcPts val="550"/>
              </a:spcBef>
            </a:pPr>
            <a:r>
              <a:rPr sz="3200" b="1" u="sng" spc="-110" dirty="0">
                <a:latin typeface="Calibri"/>
                <a:cs typeface="Calibri"/>
              </a:rPr>
              <a:t>Demographic</a:t>
            </a:r>
            <a:r>
              <a:rPr sz="3200" b="1" u="sng" spc="105" dirty="0">
                <a:latin typeface="Calibri"/>
                <a:cs typeface="Calibri"/>
              </a:rPr>
              <a:t> </a:t>
            </a:r>
            <a:r>
              <a:rPr sz="3200" b="1" u="sng" spc="-60" dirty="0">
                <a:latin typeface="Calibri"/>
                <a:cs typeface="Calibri"/>
              </a:rPr>
              <a:t>Profile</a:t>
            </a:r>
            <a:r>
              <a:rPr sz="3200" spc="-60" dirty="0">
                <a:latin typeface="Calibri"/>
                <a:cs typeface="Calibri"/>
              </a:rPr>
              <a:t>:</a:t>
            </a:r>
            <a:r>
              <a:rPr sz="3200" spc="-185" dirty="0">
                <a:latin typeface="Calibri"/>
                <a:cs typeface="Calibri"/>
              </a:rPr>
              <a:t> </a:t>
            </a:r>
            <a:r>
              <a:rPr sz="3200" spc="-135" dirty="0">
                <a:latin typeface="Calibri"/>
                <a:cs typeface="Calibri"/>
              </a:rPr>
              <a:t>Marital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70" dirty="0">
                <a:latin typeface="Calibri"/>
                <a:cs typeface="Calibri"/>
              </a:rPr>
              <a:t>status, </a:t>
            </a:r>
            <a:r>
              <a:rPr sz="3200" spc="-145" dirty="0">
                <a:latin typeface="Calibri"/>
                <a:cs typeface="Calibri"/>
              </a:rPr>
              <a:t>nationality,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140" dirty="0">
                <a:latin typeface="Calibri"/>
                <a:cs typeface="Calibri"/>
              </a:rPr>
              <a:t>age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55" dirty="0">
                <a:solidFill>
                  <a:srgbClr val="0F0F0F"/>
                </a:solidFill>
                <a:latin typeface="Calibri"/>
                <a:cs typeface="Calibri"/>
              </a:rPr>
              <a:t>at</a:t>
            </a:r>
            <a:r>
              <a:rPr sz="3200" spc="-114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200" spc="-70" dirty="0">
                <a:latin typeface="Calibri"/>
                <a:cs typeface="Calibri"/>
              </a:rPr>
              <a:t>enrolment.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13568" y="3344686"/>
            <a:ext cx="6086475" cy="974626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 indent="4445">
              <a:lnSpc>
                <a:spcPts val="3450"/>
              </a:lnSpc>
              <a:spcBef>
                <a:spcPts val="600"/>
              </a:spcBef>
            </a:pPr>
            <a:r>
              <a:rPr sz="3200" b="1" u="sng" spc="-40" dirty="0">
                <a:latin typeface="Calibri"/>
                <a:cs typeface="Calibri"/>
              </a:rPr>
              <a:t>Socio-</a:t>
            </a:r>
            <a:r>
              <a:rPr sz="3200" b="1" u="sng" spc="-45" dirty="0">
                <a:latin typeface="Calibri"/>
                <a:cs typeface="Calibri"/>
              </a:rPr>
              <a:t>Economic</a:t>
            </a:r>
            <a:r>
              <a:rPr sz="3200" b="1" u="sng" spc="-380" dirty="0">
                <a:latin typeface="Calibri"/>
                <a:cs typeface="Calibri"/>
              </a:rPr>
              <a:t> </a:t>
            </a:r>
            <a:r>
              <a:rPr sz="3200" b="1" u="sng" spc="-45" dirty="0">
                <a:latin typeface="Calibri"/>
                <a:cs typeface="Calibri"/>
              </a:rPr>
              <a:t>Background</a:t>
            </a:r>
            <a:r>
              <a:rPr sz="3200" spc="-45" dirty="0">
                <a:latin typeface="Calibri"/>
                <a:cs typeface="Calibri"/>
              </a:rPr>
              <a:t>: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80" dirty="0">
                <a:latin typeface="Calibri"/>
                <a:cs typeface="Calibri"/>
              </a:rPr>
              <a:t>Parents' </a:t>
            </a:r>
            <a:r>
              <a:rPr sz="3200" spc="-75" dirty="0">
                <a:latin typeface="Calibri"/>
                <a:cs typeface="Calibri"/>
              </a:rPr>
              <a:t>qualifications</a:t>
            </a:r>
            <a:r>
              <a:rPr sz="3200" spc="-229" dirty="0">
                <a:latin typeface="Calibri"/>
                <a:cs typeface="Calibri"/>
              </a:rPr>
              <a:t> </a:t>
            </a:r>
            <a:r>
              <a:rPr sz="3200" spc="-155" dirty="0">
                <a:solidFill>
                  <a:srgbClr val="050505"/>
                </a:solidFill>
                <a:latin typeface="Calibri"/>
                <a:cs typeface="Calibri"/>
              </a:rPr>
              <a:t>and</a:t>
            </a:r>
            <a:r>
              <a:rPr sz="3200" spc="-114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occupations.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09406" y="4616097"/>
            <a:ext cx="5660390" cy="9874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5875" marR="5080" indent="-3810">
              <a:lnSpc>
                <a:spcPts val="3500"/>
              </a:lnSpc>
              <a:spcBef>
                <a:spcPts val="700"/>
              </a:spcBef>
            </a:pPr>
            <a:r>
              <a:rPr sz="3200" b="1" u="sng" spc="-50" dirty="0">
                <a:latin typeface="Calibri"/>
                <a:cs typeface="Calibri"/>
              </a:rPr>
              <a:t>Prior</a:t>
            </a:r>
            <a:r>
              <a:rPr sz="3200" b="1" u="sng" spc="-110" dirty="0">
                <a:latin typeface="Calibri"/>
                <a:cs typeface="Calibri"/>
              </a:rPr>
              <a:t> </a:t>
            </a:r>
            <a:r>
              <a:rPr sz="3200" b="1" u="sng" spc="-145" dirty="0">
                <a:latin typeface="Calibri"/>
                <a:cs typeface="Calibri"/>
              </a:rPr>
              <a:t>Academic</a:t>
            </a:r>
            <a:r>
              <a:rPr sz="3200" b="1" u="sng" spc="-20" dirty="0">
                <a:latin typeface="Calibri"/>
                <a:cs typeface="Calibri"/>
              </a:rPr>
              <a:t> </a:t>
            </a:r>
            <a:r>
              <a:rPr sz="3200" b="1" u="sng" spc="-130" dirty="0">
                <a:latin typeface="Calibri"/>
                <a:cs typeface="Calibri"/>
              </a:rPr>
              <a:t>Record</a:t>
            </a:r>
            <a:r>
              <a:rPr sz="3200" spc="-130" dirty="0">
                <a:latin typeface="Calibri"/>
                <a:cs typeface="Calibri"/>
              </a:rPr>
              <a:t>: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Previous </a:t>
            </a:r>
            <a:r>
              <a:rPr sz="3200" spc="-130" dirty="0">
                <a:latin typeface="Calibri"/>
                <a:cs typeface="Calibri"/>
              </a:rPr>
              <a:t>qualifications</a:t>
            </a:r>
            <a:r>
              <a:rPr sz="3200" spc="-240" dirty="0">
                <a:latin typeface="Calibri"/>
                <a:cs typeface="Calibri"/>
              </a:rPr>
              <a:t> </a:t>
            </a:r>
            <a:r>
              <a:rPr sz="3200" spc="-220" dirty="0">
                <a:solidFill>
                  <a:srgbClr val="070707"/>
                </a:solidFill>
                <a:latin typeface="Calibri"/>
                <a:cs typeface="Calibri"/>
              </a:rPr>
              <a:t>and</a:t>
            </a:r>
            <a:r>
              <a:rPr sz="3200" spc="-95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3200" spc="-195" dirty="0">
                <a:latin typeface="Calibri"/>
                <a:cs typeface="Calibri"/>
              </a:rPr>
              <a:t>admission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5" dirty="0">
                <a:latin typeface="Calibri"/>
                <a:cs typeface="Calibri"/>
              </a:rPr>
              <a:t>grades.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13850" y="5964413"/>
            <a:ext cx="6103620" cy="933589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5875" marR="5080" indent="-3810">
              <a:lnSpc>
                <a:spcPts val="3500"/>
              </a:lnSpc>
              <a:spcBef>
                <a:spcPts val="280"/>
              </a:spcBef>
            </a:pPr>
            <a:r>
              <a:rPr sz="3200" b="1" u="sng" spc="65" dirty="0">
                <a:latin typeface="Calibri"/>
                <a:cs typeface="Calibri"/>
              </a:rPr>
              <a:t>Enrolment</a:t>
            </a:r>
            <a:r>
              <a:rPr sz="3200" b="1" u="sng" spc="185" dirty="0">
                <a:latin typeface="Calibri"/>
                <a:cs typeface="Calibri"/>
              </a:rPr>
              <a:t> </a:t>
            </a:r>
            <a:r>
              <a:rPr sz="3200" b="1" u="sng" spc="105" dirty="0">
                <a:latin typeface="Calibri"/>
                <a:cs typeface="Calibri"/>
              </a:rPr>
              <a:t>Course</a:t>
            </a:r>
            <a:r>
              <a:rPr sz="3200" b="1" u="sng" spc="-85" dirty="0">
                <a:latin typeface="Calibri"/>
                <a:cs typeface="Calibri"/>
              </a:rPr>
              <a:t> </a:t>
            </a:r>
            <a:r>
              <a:rPr sz="3200" b="1" u="sng" spc="110" dirty="0">
                <a:latin typeface="Calibri"/>
                <a:cs typeface="Calibri"/>
              </a:rPr>
              <a:t>Data</a:t>
            </a:r>
            <a:r>
              <a:rPr sz="3200" spc="110" dirty="0">
                <a:latin typeface="Calibri"/>
                <a:cs typeface="Calibri"/>
              </a:rPr>
              <a:t>:</a:t>
            </a:r>
            <a:r>
              <a:rPr sz="3200" spc="-1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 </a:t>
            </a:r>
            <a:r>
              <a:rPr sz="3200" spc="-10" dirty="0">
                <a:solidFill>
                  <a:srgbClr val="050505"/>
                </a:solidFill>
                <a:latin typeface="Calibri"/>
                <a:cs typeface="Calibri"/>
              </a:rPr>
              <a:t>mode,</a:t>
            </a:r>
            <a:r>
              <a:rPr sz="3200" spc="45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course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70707"/>
                </a:solidFill>
                <a:latin typeface="Calibri"/>
                <a:cs typeface="Calibri"/>
              </a:rPr>
              <a:t>of</a:t>
            </a:r>
            <a:r>
              <a:rPr sz="3200" spc="-5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study.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09406" y="7206897"/>
            <a:ext cx="6335395" cy="1745542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6510" marR="5080" indent="-4445">
              <a:lnSpc>
                <a:spcPct val="82500"/>
              </a:lnSpc>
              <a:spcBef>
                <a:spcPts val="815"/>
              </a:spcBef>
            </a:pPr>
            <a:r>
              <a:rPr sz="3200" b="1" u="sng" spc="-35" dirty="0">
                <a:latin typeface="Calibri"/>
                <a:cs typeface="Calibri"/>
              </a:rPr>
              <a:t>First</a:t>
            </a:r>
            <a:r>
              <a:rPr sz="3200" b="1" u="sng" spc="-200" dirty="0">
                <a:latin typeface="Calibri"/>
                <a:cs typeface="Calibri"/>
              </a:rPr>
              <a:t> </a:t>
            </a:r>
            <a:r>
              <a:rPr lang="en-PH" sz="3200" b="1" u="sng" spc="-200" dirty="0">
                <a:latin typeface="Calibri"/>
                <a:cs typeface="Calibri"/>
              </a:rPr>
              <a:t> </a:t>
            </a:r>
            <a:r>
              <a:rPr sz="3200" b="1" u="sng" spc="-195" dirty="0">
                <a:solidFill>
                  <a:srgbClr val="180F03"/>
                </a:solidFill>
                <a:latin typeface="Calibri"/>
                <a:cs typeface="Calibri"/>
              </a:rPr>
              <a:t>&amp;</a:t>
            </a:r>
            <a:r>
              <a:rPr sz="3200" b="1" u="sng" spc="-235" dirty="0">
                <a:solidFill>
                  <a:srgbClr val="180F03"/>
                </a:solidFill>
                <a:latin typeface="Calibri"/>
                <a:cs typeface="Calibri"/>
              </a:rPr>
              <a:t> </a:t>
            </a:r>
            <a:r>
              <a:rPr lang="en-PH" sz="3200" b="1" u="sng" spc="-235" dirty="0">
                <a:solidFill>
                  <a:srgbClr val="180F03"/>
                </a:solidFill>
                <a:latin typeface="Calibri"/>
                <a:cs typeface="Calibri"/>
              </a:rPr>
              <a:t> </a:t>
            </a:r>
            <a:r>
              <a:rPr sz="3200" b="1" u="sng" spc="-145" dirty="0">
                <a:latin typeface="Calibri"/>
                <a:cs typeface="Calibri"/>
              </a:rPr>
              <a:t>Second</a:t>
            </a:r>
            <a:r>
              <a:rPr sz="3200" b="1" u="sng" spc="-185" dirty="0">
                <a:latin typeface="Calibri"/>
                <a:cs typeface="Calibri"/>
              </a:rPr>
              <a:t> </a:t>
            </a:r>
            <a:r>
              <a:rPr sz="3200" b="1" u="sng" spc="-160" dirty="0">
                <a:latin typeface="Calibri"/>
                <a:cs typeface="Calibri"/>
              </a:rPr>
              <a:t>Semester</a:t>
            </a:r>
            <a:r>
              <a:rPr sz="3200" b="1" u="sng" spc="-20" dirty="0">
                <a:latin typeface="Calibri"/>
                <a:cs typeface="Calibri"/>
              </a:rPr>
              <a:t> </a:t>
            </a:r>
            <a:r>
              <a:rPr sz="3200" b="1" u="sng" spc="-65" dirty="0">
                <a:latin typeface="Calibri"/>
                <a:cs typeface="Calibri"/>
              </a:rPr>
              <a:t>Performance</a:t>
            </a:r>
            <a:r>
              <a:rPr sz="3200" spc="-65" dirty="0">
                <a:latin typeface="Calibri"/>
                <a:cs typeface="Calibri"/>
              </a:rPr>
              <a:t>: </a:t>
            </a:r>
            <a:r>
              <a:rPr sz="3200" spc="-105" dirty="0">
                <a:solidFill>
                  <a:srgbClr val="050505"/>
                </a:solidFill>
                <a:latin typeface="Calibri"/>
                <a:cs typeface="Calibri"/>
              </a:rPr>
              <a:t>A</a:t>
            </a:r>
            <a:r>
              <a:rPr sz="3200" spc="-245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3200" spc="-175" dirty="0">
                <a:latin typeface="Calibri"/>
                <a:cs typeface="Calibri"/>
              </a:rPr>
              <a:t>detailed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210" dirty="0">
                <a:latin typeface="Calibri"/>
                <a:cs typeface="Calibri"/>
              </a:rPr>
              <a:t>breakdown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210" dirty="0">
                <a:solidFill>
                  <a:srgbClr val="111111"/>
                </a:solidFill>
                <a:latin typeface="Calibri"/>
                <a:cs typeface="Calibri"/>
              </a:rPr>
              <a:t>of</a:t>
            </a:r>
            <a:r>
              <a:rPr sz="3200" spc="-204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200" spc="-130" dirty="0">
                <a:latin typeface="Calibri"/>
                <a:cs typeface="Calibri"/>
              </a:rPr>
              <a:t>curricular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spc="-90" dirty="0">
                <a:latin typeface="Calibri"/>
                <a:cs typeface="Calibri"/>
              </a:rPr>
              <a:t>units </a:t>
            </a:r>
            <a:r>
              <a:rPr sz="3200" spc="-180" dirty="0">
                <a:latin typeface="Calibri"/>
                <a:cs typeface="Calibri"/>
              </a:rPr>
              <a:t>(enrolled,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210" dirty="0">
                <a:latin typeface="Calibri"/>
                <a:cs typeface="Calibri"/>
              </a:rPr>
              <a:t>approved,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175" dirty="0">
                <a:latin typeface="Calibri"/>
                <a:cs typeface="Calibri"/>
              </a:rPr>
              <a:t>credited,</a:t>
            </a:r>
            <a:r>
              <a:rPr sz="3200" spc="-40" dirty="0">
                <a:latin typeface="Calibri"/>
                <a:cs typeface="Calibri"/>
              </a:rPr>
              <a:t> grades, </a:t>
            </a:r>
            <a:r>
              <a:rPr sz="3200" spc="-100" dirty="0">
                <a:latin typeface="Calibri"/>
                <a:cs typeface="Calibri"/>
              </a:rPr>
              <a:t>evaluations).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BF3298-1093-939A-AA0D-1A3B80819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9410D55-63B6-A57B-956B-14F232E45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104" y="2942011"/>
            <a:ext cx="9230851" cy="6133198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7AD49706-FE99-521E-3503-1F83E8A5CF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4549" y="678391"/>
            <a:ext cx="1556610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1244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Uncovering</a:t>
            </a:r>
            <a:r>
              <a:rPr sz="4400" spc="335" dirty="0">
                <a:solidFill>
                  <a:srgbClr val="01244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dirty="0">
                <a:latin typeface="Biome" panose="020B0503030204020804" pitchFamily="34" charset="0"/>
                <a:cs typeface="Biome" panose="020B0503030204020804" pitchFamily="34" charset="0"/>
              </a:rPr>
              <a:t>the</a:t>
            </a:r>
            <a:r>
              <a:rPr sz="4400" spc="60" dirty="0"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dirty="0">
                <a:solidFill>
                  <a:srgbClr val="01284B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Key</a:t>
            </a:r>
            <a:r>
              <a:rPr sz="4400" spc="160" dirty="0">
                <a:solidFill>
                  <a:srgbClr val="01284B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dirty="0">
                <a:solidFill>
                  <a:srgbClr val="00234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Predictors</a:t>
            </a:r>
            <a:r>
              <a:rPr sz="4400" spc="310" dirty="0">
                <a:solidFill>
                  <a:srgbClr val="00234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dirty="0">
                <a:solidFill>
                  <a:srgbClr val="032649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of</a:t>
            </a:r>
            <a:r>
              <a:rPr sz="4400" spc="45" dirty="0">
                <a:solidFill>
                  <a:srgbClr val="032649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75" dirty="0">
                <a:solidFill>
                  <a:srgbClr val="012849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Success</a:t>
            </a:r>
            <a:endParaRPr sz="44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136A1EE-C562-FC53-2E0B-1B9D73B71D41}"/>
              </a:ext>
            </a:extLst>
          </p:cNvPr>
          <p:cNvSpPr txBox="1"/>
          <p:nvPr/>
        </p:nvSpPr>
        <p:spPr>
          <a:xfrm>
            <a:off x="11480800" y="3364527"/>
            <a:ext cx="3503295" cy="1212215"/>
          </a:xfrm>
          <a:prstGeom prst="rect">
            <a:avLst/>
          </a:prstGeom>
          <a:solidFill>
            <a:srgbClr val="FAF6ED"/>
          </a:solidFill>
        </p:spPr>
        <p:txBody>
          <a:bodyPr vert="horz" wrap="square" lIns="0" tIns="46355" rIns="0" bIns="0" rtlCol="0">
            <a:spAutoFit/>
          </a:bodyPr>
          <a:lstStyle/>
          <a:p>
            <a:pPr marL="12700" marR="5080" indent="4445">
              <a:lnSpc>
                <a:spcPct val="90100"/>
              </a:lnSpc>
              <a:spcBef>
                <a:spcPts val="365"/>
              </a:spcBef>
            </a:pPr>
            <a:r>
              <a:rPr sz="2300" spc="-45" dirty="0">
                <a:latin typeface="Calibri"/>
                <a:cs typeface="Calibri"/>
              </a:rPr>
              <a:t>Strongest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Positive</a:t>
            </a:r>
            <a:r>
              <a:rPr sz="2300" spc="-114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Correlation </a:t>
            </a:r>
            <a:r>
              <a:rPr sz="2050" spc="-10" dirty="0">
                <a:latin typeface="Calibri"/>
                <a:cs typeface="Calibri"/>
              </a:rPr>
              <a:t>The</a:t>
            </a:r>
            <a:r>
              <a:rPr sz="2050" spc="-110" dirty="0">
                <a:latin typeface="Calibri"/>
                <a:cs typeface="Calibri"/>
              </a:rPr>
              <a:t> </a:t>
            </a:r>
            <a:r>
              <a:rPr sz="2050" spc="-75" dirty="0">
                <a:latin typeface="Calibri"/>
                <a:cs typeface="Calibri"/>
              </a:rPr>
              <a:t>number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-45" dirty="0">
                <a:latin typeface="Calibri"/>
                <a:cs typeface="Calibri"/>
              </a:rPr>
              <a:t>of</a:t>
            </a:r>
            <a:r>
              <a:rPr sz="2050" spc="-100" dirty="0">
                <a:latin typeface="Calibri"/>
                <a:cs typeface="Calibri"/>
              </a:rPr>
              <a:t> </a:t>
            </a:r>
            <a:r>
              <a:rPr sz="2050" spc="-30" dirty="0">
                <a:latin typeface="Calibri"/>
                <a:cs typeface="Calibri"/>
              </a:rPr>
              <a:t>curricular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units</a:t>
            </a:r>
            <a:r>
              <a:rPr sz="2050" spc="-90" dirty="0">
                <a:latin typeface="Calibri"/>
                <a:cs typeface="Calibri"/>
              </a:rPr>
              <a:t> </a:t>
            </a:r>
            <a:r>
              <a:rPr sz="2050" spc="-60" dirty="0">
                <a:latin typeface="Calibri"/>
                <a:cs typeface="Calibri"/>
              </a:rPr>
              <a:t>a student</a:t>
            </a:r>
            <a:r>
              <a:rPr sz="2050" spc="-35" dirty="0">
                <a:latin typeface="Calibri"/>
                <a:cs typeface="Calibri"/>
              </a:rPr>
              <a:t> passes</a:t>
            </a:r>
            <a:r>
              <a:rPr sz="2050" spc="-7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in</a:t>
            </a:r>
            <a:r>
              <a:rPr sz="2050" spc="-90" dirty="0">
                <a:latin typeface="Calibri"/>
                <a:cs typeface="Calibri"/>
              </a:rPr>
              <a:t> </a:t>
            </a:r>
            <a:r>
              <a:rPr sz="2050" spc="-50" dirty="0">
                <a:latin typeface="Calibri"/>
                <a:cs typeface="Calibri"/>
              </a:rPr>
              <a:t>their</a:t>
            </a:r>
            <a:r>
              <a:rPr sz="2050" spc="-75" dirty="0">
                <a:latin typeface="Calibri"/>
                <a:cs typeface="Calibri"/>
              </a:rPr>
              <a:t> </a:t>
            </a:r>
            <a:r>
              <a:rPr sz="2050" spc="-45" dirty="0">
                <a:latin typeface="Calibri"/>
                <a:cs typeface="Calibri"/>
              </a:rPr>
              <a:t>second</a:t>
            </a:r>
            <a:r>
              <a:rPr sz="2050" spc="-60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first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semesters.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0493E92-6880-898C-87C4-E738A609E571}"/>
              </a:ext>
            </a:extLst>
          </p:cNvPr>
          <p:cNvSpPr txBox="1"/>
          <p:nvPr/>
        </p:nvSpPr>
        <p:spPr>
          <a:xfrm>
            <a:off x="957658" y="1860197"/>
            <a:ext cx="13610590" cy="10130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ts val="3865"/>
              </a:lnSpc>
              <a:spcBef>
                <a:spcPts val="100"/>
              </a:spcBef>
            </a:pPr>
            <a:r>
              <a:rPr sz="3400" dirty="0">
                <a:solidFill>
                  <a:srgbClr val="262626"/>
                </a:solidFill>
                <a:latin typeface="Calibri"/>
                <a:cs typeface="Calibri"/>
              </a:rPr>
              <a:t>Our</a:t>
            </a:r>
            <a:r>
              <a:rPr sz="3400" spc="-19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400" spc="-50" dirty="0">
                <a:solidFill>
                  <a:srgbClr val="1F1F1F"/>
                </a:solidFill>
                <a:latin typeface="Calibri"/>
                <a:cs typeface="Calibri"/>
              </a:rPr>
              <a:t>analysis</a:t>
            </a:r>
            <a:r>
              <a:rPr sz="3400" spc="-1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1C1C1C"/>
                </a:solidFill>
                <a:latin typeface="Calibri"/>
                <a:cs typeface="Calibri"/>
              </a:rPr>
              <a:t>reveals</a:t>
            </a:r>
            <a:r>
              <a:rPr sz="3400" spc="-10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400" spc="-95" dirty="0">
                <a:solidFill>
                  <a:srgbClr val="1D1D1D"/>
                </a:solidFill>
                <a:latin typeface="Calibri"/>
                <a:cs typeface="Calibri"/>
              </a:rPr>
              <a:t>that</a:t>
            </a:r>
            <a:r>
              <a:rPr sz="3400" spc="-114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1F1F1F"/>
                </a:solidFill>
                <a:latin typeface="Calibri"/>
                <a:cs typeface="Calibri"/>
              </a:rPr>
              <a:t>early</a:t>
            </a:r>
            <a:r>
              <a:rPr sz="3400" spc="-1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400" spc="-95" dirty="0">
                <a:solidFill>
                  <a:srgbClr val="181818"/>
                </a:solidFill>
                <a:latin typeface="Calibri"/>
                <a:cs typeface="Calibri"/>
              </a:rPr>
              <a:t>academic</a:t>
            </a:r>
            <a:r>
              <a:rPr sz="3400" spc="-5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400" spc="-80" dirty="0">
                <a:solidFill>
                  <a:srgbClr val="1F1F1F"/>
                </a:solidFill>
                <a:latin typeface="Calibri"/>
                <a:cs typeface="Calibri"/>
              </a:rPr>
              <a:t>performance</a:t>
            </a:r>
            <a:r>
              <a:rPr sz="3400" spc="114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212121"/>
                </a:solidFill>
                <a:latin typeface="Calibri"/>
                <a:cs typeface="Calibri"/>
              </a:rPr>
              <a:t>is</a:t>
            </a:r>
            <a:r>
              <a:rPr sz="3400" spc="-19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400" spc="-70"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3400" spc="-18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400" spc="-40" dirty="0">
                <a:solidFill>
                  <a:srgbClr val="1C1C1C"/>
                </a:solidFill>
                <a:latin typeface="Calibri"/>
                <a:cs typeface="Calibri"/>
              </a:rPr>
              <a:t>single</a:t>
            </a:r>
            <a:r>
              <a:rPr sz="3400" spc="-11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400" spc="-130" dirty="0">
                <a:solidFill>
                  <a:srgbClr val="1D1D1D"/>
                </a:solidFill>
                <a:latin typeface="Calibri"/>
                <a:cs typeface="Calibri"/>
              </a:rPr>
              <a:t>most</a:t>
            </a:r>
            <a:r>
              <a:rPr sz="3400" spc="-6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212121"/>
                </a:solidFill>
                <a:latin typeface="Calibri"/>
                <a:cs typeface="Calibri"/>
              </a:rPr>
              <a:t>powerful</a:t>
            </a:r>
            <a:endParaRPr sz="3400" dirty="0">
              <a:latin typeface="Calibri"/>
              <a:cs typeface="Calibri"/>
            </a:endParaRPr>
          </a:p>
          <a:p>
            <a:pPr marL="12700">
              <a:lnSpc>
                <a:spcPts val="3925"/>
              </a:lnSpc>
            </a:pPr>
            <a:r>
              <a:rPr sz="3450" spc="-70" dirty="0">
                <a:solidFill>
                  <a:srgbClr val="1C1C1C"/>
                </a:solidFill>
                <a:latin typeface="Calibri"/>
                <a:cs typeface="Calibri"/>
              </a:rPr>
              <a:t>predictor</a:t>
            </a:r>
            <a:r>
              <a:rPr sz="3450" spc="-9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450" spc="-125" dirty="0">
                <a:solidFill>
                  <a:srgbClr val="232323"/>
                </a:solidFill>
                <a:latin typeface="Calibri"/>
                <a:cs typeface="Calibri"/>
              </a:rPr>
              <a:t>of </a:t>
            </a:r>
            <a:r>
              <a:rPr sz="3450" spc="-105" dirty="0">
                <a:solidFill>
                  <a:srgbClr val="1C1C1C"/>
                </a:solidFill>
                <a:latin typeface="Calibri"/>
                <a:cs typeface="Calibri"/>
              </a:rPr>
              <a:t>student</a:t>
            </a:r>
            <a:r>
              <a:rPr sz="3450" spc="-4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450" spc="-135" dirty="0">
                <a:solidFill>
                  <a:srgbClr val="1C1C1C"/>
                </a:solidFill>
                <a:latin typeface="Calibri"/>
                <a:cs typeface="Calibri"/>
              </a:rPr>
              <a:t>outcomes.</a:t>
            </a:r>
            <a:r>
              <a:rPr sz="3450" spc="-5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450" spc="-95"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3450" spc="-1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450" spc="-135" dirty="0">
                <a:solidFill>
                  <a:srgbClr val="181818"/>
                </a:solidFill>
                <a:latin typeface="Calibri"/>
                <a:cs typeface="Calibri"/>
              </a:rPr>
              <a:t>model's</a:t>
            </a:r>
            <a:r>
              <a:rPr sz="3450" spc="-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450" spc="-75" dirty="0">
                <a:solidFill>
                  <a:srgbClr val="181818"/>
                </a:solidFill>
                <a:latin typeface="Calibri"/>
                <a:cs typeface="Calibri"/>
              </a:rPr>
              <a:t>logic</a:t>
            </a:r>
            <a:r>
              <a:rPr sz="3450" spc="-12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450" dirty="0">
                <a:solidFill>
                  <a:srgbClr val="1A1A1A"/>
                </a:solidFill>
                <a:latin typeface="Calibri"/>
                <a:cs typeface="Calibri"/>
              </a:rPr>
              <a:t>is</a:t>
            </a:r>
            <a:r>
              <a:rPr sz="3450" spc="-18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450" spc="-100" dirty="0">
                <a:solidFill>
                  <a:srgbClr val="1A1A1A"/>
                </a:solidFill>
                <a:latin typeface="Calibri"/>
                <a:cs typeface="Calibri"/>
              </a:rPr>
              <a:t>transparent</a:t>
            </a:r>
            <a:r>
              <a:rPr sz="3450" spc="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450" spc="-150" dirty="0">
                <a:solidFill>
                  <a:srgbClr val="1C1C1C"/>
                </a:solidFill>
                <a:latin typeface="Calibri"/>
                <a:cs typeface="Calibri"/>
              </a:rPr>
              <a:t>and</a:t>
            </a:r>
            <a:r>
              <a:rPr sz="3450" spc="-14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450" spc="-10" dirty="0">
                <a:solidFill>
                  <a:srgbClr val="181818"/>
                </a:solidFill>
                <a:latin typeface="Calibri"/>
                <a:cs typeface="Calibri"/>
              </a:rPr>
              <a:t>intuitive.</a:t>
            </a:r>
            <a:endParaRPr sz="3450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A06267B-5DEE-A6CD-91D3-1F13AE0FBB9F}"/>
              </a:ext>
            </a:extLst>
          </p:cNvPr>
          <p:cNvSpPr txBox="1"/>
          <p:nvPr/>
        </p:nvSpPr>
        <p:spPr>
          <a:xfrm>
            <a:off x="11509188" y="5483691"/>
            <a:ext cx="3875404" cy="1229360"/>
          </a:xfrm>
          <a:prstGeom prst="rect">
            <a:avLst/>
          </a:prstGeom>
          <a:solidFill>
            <a:srgbClr val="FAF6ED"/>
          </a:solidFill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685"/>
              </a:lnSpc>
              <a:spcBef>
                <a:spcPts val="110"/>
              </a:spcBef>
            </a:pPr>
            <a:r>
              <a:rPr sz="2350" spc="-45" dirty="0">
                <a:latin typeface="Calibri"/>
                <a:cs typeface="Calibri"/>
              </a:rPr>
              <a:t>Other </a:t>
            </a:r>
            <a:r>
              <a:rPr lang="en-PH" sz="2350" spc="-20" dirty="0">
                <a:latin typeface="Calibri"/>
                <a:cs typeface="Calibri"/>
              </a:rPr>
              <a:t>Key </a:t>
            </a:r>
            <a:r>
              <a:rPr sz="2350" spc="-10" dirty="0">
                <a:latin typeface="Calibri"/>
                <a:cs typeface="Calibri"/>
              </a:rPr>
              <a:t>Factors</a:t>
            </a:r>
            <a:endParaRPr sz="2350" dirty="0">
              <a:latin typeface="Calibri"/>
              <a:cs typeface="Calibri"/>
            </a:endParaRPr>
          </a:p>
          <a:p>
            <a:pPr marL="15240" marR="5080" indent="9525">
              <a:lnSpc>
                <a:spcPct val="91600"/>
              </a:lnSpc>
              <a:spcBef>
                <a:spcPts val="65"/>
              </a:spcBef>
            </a:pPr>
            <a:r>
              <a:rPr sz="2000" spc="-10" dirty="0">
                <a:latin typeface="Calibri"/>
                <a:cs typeface="Calibri"/>
              </a:rPr>
              <a:t>Timely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payment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tuition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fees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50" spc="-45" dirty="0">
                <a:latin typeface="Calibri"/>
                <a:cs typeface="Calibri"/>
              </a:rPr>
              <a:t>holding</a:t>
            </a:r>
            <a:r>
              <a:rPr sz="2050" spc="-65" dirty="0">
                <a:latin typeface="Calibri"/>
                <a:cs typeface="Calibri"/>
              </a:rPr>
              <a:t> </a:t>
            </a:r>
            <a:r>
              <a:rPr sz="2050" spc="-95" dirty="0">
                <a:latin typeface="Calibri"/>
                <a:cs typeface="Calibri"/>
              </a:rPr>
              <a:t>a</a:t>
            </a:r>
            <a:r>
              <a:rPr sz="2050" spc="-65" dirty="0">
                <a:latin typeface="Calibri"/>
                <a:cs typeface="Calibri"/>
              </a:rPr>
              <a:t> </a:t>
            </a:r>
            <a:r>
              <a:rPr sz="2050" spc="-40" dirty="0">
                <a:latin typeface="Calibri"/>
                <a:cs typeface="Calibri"/>
              </a:rPr>
              <a:t>scholarship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spc="-45" dirty="0">
                <a:latin typeface="Calibri"/>
                <a:cs typeface="Calibri"/>
              </a:rPr>
              <a:t>are</a:t>
            </a:r>
            <a:r>
              <a:rPr sz="2050" spc="-85" dirty="0">
                <a:latin typeface="Calibri"/>
                <a:cs typeface="Calibri"/>
              </a:rPr>
              <a:t> </a:t>
            </a:r>
            <a:r>
              <a:rPr sz="2050" spc="-45" dirty="0">
                <a:latin typeface="Calibri"/>
                <a:cs typeface="Calibri"/>
              </a:rPr>
              <a:t>also</a:t>
            </a:r>
            <a:r>
              <a:rPr sz="2050" spc="-7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strongly </a:t>
            </a:r>
            <a:r>
              <a:rPr sz="2050" spc="-35" dirty="0">
                <a:latin typeface="Calibri"/>
                <a:cs typeface="Calibri"/>
              </a:rPr>
              <a:t>associated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-55" dirty="0">
                <a:latin typeface="Calibri"/>
                <a:cs typeface="Calibri"/>
              </a:rPr>
              <a:t>with</a:t>
            </a:r>
            <a:r>
              <a:rPr sz="2050" spc="-10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graduation.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D0A6339-9143-B509-1008-5CD259BF4F56}"/>
              </a:ext>
            </a:extLst>
          </p:cNvPr>
          <p:cNvSpPr txBox="1"/>
          <p:nvPr/>
        </p:nvSpPr>
        <p:spPr>
          <a:xfrm>
            <a:off x="11513671" y="7620000"/>
            <a:ext cx="3886200" cy="1204176"/>
          </a:xfrm>
          <a:prstGeom prst="rect">
            <a:avLst/>
          </a:prstGeom>
          <a:solidFill>
            <a:srgbClr val="FAF6ED"/>
          </a:solidFill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605"/>
              </a:lnSpc>
              <a:spcBef>
                <a:spcPts val="90"/>
              </a:spcBef>
            </a:pPr>
            <a:r>
              <a:rPr lang="en-PH" sz="2300" spc="-30" dirty="0">
                <a:latin typeface="Calibri"/>
                <a:cs typeface="Calibri"/>
              </a:rPr>
              <a:t>Strongest </a:t>
            </a:r>
            <a:r>
              <a:rPr sz="2300" spc="-30" dirty="0">
                <a:latin typeface="Calibri"/>
                <a:cs typeface="Calibri"/>
              </a:rPr>
              <a:t>Negative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Correlation</a:t>
            </a:r>
            <a:endParaRPr sz="2300" dirty="0">
              <a:latin typeface="Calibri"/>
              <a:cs typeface="Calibri"/>
            </a:endParaRPr>
          </a:p>
          <a:p>
            <a:pPr marL="25400" marR="5080" indent="-10795">
              <a:lnSpc>
                <a:spcPts val="2200"/>
              </a:lnSpc>
              <a:spcBef>
                <a:spcPts val="135"/>
              </a:spcBef>
            </a:pPr>
            <a:r>
              <a:rPr sz="2050" spc="-20" dirty="0">
                <a:latin typeface="Calibri"/>
                <a:cs typeface="Calibri"/>
              </a:rPr>
              <a:t>Being</a:t>
            </a:r>
            <a:r>
              <a:rPr sz="2050" spc="-110" dirty="0">
                <a:latin typeface="Calibri"/>
                <a:cs typeface="Calibri"/>
              </a:rPr>
              <a:t> </a:t>
            </a:r>
            <a:r>
              <a:rPr lang="en-PH" sz="2050" spc="-35" dirty="0">
                <a:latin typeface="Calibri"/>
                <a:cs typeface="Calibri"/>
              </a:rPr>
              <a:t>Application Mode</a:t>
            </a:r>
            <a:r>
              <a:rPr sz="2050" spc="-85" dirty="0">
                <a:latin typeface="Calibri"/>
                <a:cs typeface="Calibri"/>
              </a:rPr>
              <a:t> </a:t>
            </a:r>
            <a:r>
              <a:rPr lang="en-PH" sz="2050" spc="-85" dirty="0">
                <a:latin typeface="Calibri"/>
                <a:cs typeface="Calibri"/>
              </a:rPr>
              <a:t>and</a:t>
            </a:r>
            <a:r>
              <a:rPr sz="2050" spc="-70" dirty="0">
                <a:latin typeface="Calibri"/>
                <a:cs typeface="Calibri"/>
              </a:rPr>
              <a:t> </a:t>
            </a:r>
            <a:r>
              <a:rPr lang="en-PH" sz="2050" spc="-70" dirty="0">
                <a:latin typeface="Calibri"/>
                <a:cs typeface="Calibri"/>
              </a:rPr>
              <a:t>Age at Enrollment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spc="-35" dirty="0">
                <a:latin typeface="Calibri"/>
                <a:cs typeface="Calibri"/>
              </a:rPr>
              <a:t>shows</a:t>
            </a:r>
            <a:r>
              <a:rPr sz="2050" spc="-60" dirty="0">
                <a:latin typeface="Calibri"/>
                <a:cs typeface="Calibri"/>
              </a:rPr>
              <a:t> </a:t>
            </a:r>
            <a:r>
              <a:rPr sz="2050" spc="-50" dirty="0">
                <a:latin typeface="Calibri"/>
                <a:cs typeface="Calibri"/>
              </a:rPr>
              <a:t>a </a:t>
            </a:r>
            <a:r>
              <a:rPr sz="2050" spc="-40" dirty="0">
                <a:latin typeface="Calibri"/>
                <a:cs typeface="Calibri"/>
              </a:rPr>
              <a:t>correlation</a:t>
            </a:r>
            <a:r>
              <a:rPr sz="2050" spc="-55" dirty="0">
                <a:latin typeface="Calibri"/>
                <a:cs typeface="Calibri"/>
              </a:rPr>
              <a:t> </a:t>
            </a:r>
            <a:r>
              <a:rPr sz="2050" spc="-30" dirty="0">
                <a:latin typeface="Calibri"/>
                <a:cs typeface="Calibri"/>
              </a:rPr>
              <a:t>with</a:t>
            </a:r>
            <a:r>
              <a:rPr sz="2050" spc="-155" dirty="0">
                <a:latin typeface="Calibri"/>
                <a:cs typeface="Calibri"/>
              </a:rPr>
              <a:t> </a:t>
            </a:r>
            <a:r>
              <a:rPr sz="2050" spc="-40" dirty="0">
                <a:latin typeface="Calibri"/>
                <a:cs typeface="Calibri"/>
              </a:rPr>
              <a:t>dropping</a:t>
            </a:r>
            <a:r>
              <a:rPr sz="2050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out.</a:t>
            </a:r>
            <a:endParaRPr sz="205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8252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000" y="4279900"/>
            <a:ext cx="14401800" cy="35052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31775" y="5599898"/>
            <a:ext cx="380365" cy="7753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500" spc="-170" dirty="0">
                <a:latin typeface="Arial MT"/>
                <a:cs typeface="Arial MT"/>
              </a:rPr>
              <a:t>Recall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6453" y="769055"/>
            <a:ext cx="15492094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75" dirty="0">
                <a:solidFill>
                  <a:srgbClr val="01264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Engineering</a:t>
            </a:r>
            <a:r>
              <a:rPr sz="4000" spc="470" dirty="0">
                <a:solidFill>
                  <a:srgbClr val="01264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spc="114" dirty="0">
                <a:solidFill>
                  <a:srgbClr val="01264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the</a:t>
            </a:r>
            <a:r>
              <a:rPr sz="4000" spc="100" dirty="0">
                <a:solidFill>
                  <a:srgbClr val="01264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spc="100" dirty="0">
                <a:solidFill>
                  <a:srgbClr val="012849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Optimal</a:t>
            </a:r>
            <a:r>
              <a:rPr sz="4000" spc="375" dirty="0">
                <a:solidFill>
                  <a:srgbClr val="012849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spc="65" dirty="0">
                <a:solidFill>
                  <a:srgbClr val="012D54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Model</a:t>
            </a:r>
            <a:r>
              <a:rPr sz="4000" spc="270" dirty="0">
                <a:solidFill>
                  <a:srgbClr val="012D54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spc="65" dirty="0">
                <a:solidFill>
                  <a:srgbClr val="032D5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Through</a:t>
            </a:r>
            <a:r>
              <a:rPr sz="4000" spc="305" dirty="0">
                <a:solidFill>
                  <a:srgbClr val="032D5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dirty="0">
                <a:solidFill>
                  <a:srgbClr val="03264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Rigorous</a:t>
            </a:r>
            <a:r>
              <a:rPr sz="4000" spc="459" dirty="0">
                <a:solidFill>
                  <a:srgbClr val="03264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spc="-10" dirty="0">
                <a:solidFill>
                  <a:srgbClr val="032F5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Evaluation</a:t>
            </a:r>
            <a:endParaRPr sz="40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8690" y="1883833"/>
            <a:ext cx="15451455" cy="580834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5875" marR="5080" indent="3810">
              <a:lnSpc>
                <a:spcPts val="3100"/>
              </a:lnSpc>
              <a:spcBef>
                <a:spcPts val="535"/>
              </a:spcBef>
            </a:pPr>
            <a:r>
              <a:rPr sz="2900" spc="-110" dirty="0">
                <a:latin typeface="Calibri"/>
                <a:cs typeface="Calibri"/>
              </a:rPr>
              <a:t>We</a:t>
            </a:r>
            <a:r>
              <a:rPr sz="2900" spc="-135" dirty="0">
                <a:latin typeface="Calibri"/>
                <a:cs typeface="Calibri"/>
              </a:rPr>
              <a:t> </a:t>
            </a:r>
            <a:r>
              <a:rPr sz="2900" spc="-120" dirty="0">
                <a:latin typeface="Calibri"/>
                <a:cs typeface="Calibri"/>
              </a:rPr>
              <a:t>trained</a:t>
            </a:r>
            <a:r>
              <a:rPr sz="2900" spc="-110" dirty="0">
                <a:latin typeface="Calibri"/>
                <a:cs typeface="Calibri"/>
              </a:rPr>
              <a:t> </a:t>
            </a:r>
            <a:r>
              <a:rPr sz="2900" spc="-114" dirty="0">
                <a:latin typeface="Calibri"/>
                <a:cs typeface="Calibri"/>
              </a:rPr>
              <a:t>and</a:t>
            </a:r>
            <a:r>
              <a:rPr sz="2900" spc="-160" dirty="0">
                <a:latin typeface="Calibri"/>
                <a:cs typeface="Calibri"/>
              </a:rPr>
              <a:t> </a:t>
            </a:r>
            <a:r>
              <a:rPr sz="2900" spc="-135" dirty="0">
                <a:latin typeface="Calibri"/>
                <a:cs typeface="Calibri"/>
              </a:rPr>
              <a:t>benchmarked</a:t>
            </a:r>
            <a:r>
              <a:rPr sz="2900" spc="95" dirty="0">
                <a:latin typeface="Calibri"/>
                <a:cs typeface="Calibri"/>
              </a:rPr>
              <a:t> </a:t>
            </a:r>
            <a:r>
              <a:rPr sz="2900" spc="-95" dirty="0">
                <a:latin typeface="Calibri"/>
                <a:cs typeface="Calibri"/>
              </a:rPr>
              <a:t>five</a:t>
            </a:r>
            <a:r>
              <a:rPr sz="2900" spc="-140" dirty="0">
                <a:latin typeface="Calibri"/>
                <a:cs typeface="Calibri"/>
              </a:rPr>
              <a:t> </a:t>
            </a:r>
            <a:r>
              <a:rPr sz="2900" spc="-85" dirty="0">
                <a:latin typeface="Calibri"/>
                <a:cs typeface="Calibri"/>
              </a:rPr>
              <a:t>industry-</a:t>
            </a:r>
            <a:r>
              <a:rPr sz="2900" spc="-90" dirty="0">
                <a:latin typeface="Calibri"/>
                <a:cs typeface="Calibri"/>
              </a:rPr>
              <a:t>standard</a:t>
            </a:r>
            <a:r>
              <a:rPr sz="2900" spc="-220" dirty="0">
                <a:latin typeface="Calibri"/>
                <a:cs typeface="Calibri"/>
              </a:rPr>
              <a:t> </a:t>
            </a:r>
            <a:r>
              <a:rPr sz="2900" spc="-140" dirty="0">
                <a:latin typeface="Calibri"/>
                <a:cs typeface="Calibri"/>
              </a:rPr>
              <a:t>machine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spc="-100" dirty="0">
                <a:latin typeface="Calibri"/>
                <a:cs typeface="Calibri"/>
              </a:rPr>
              <a:t>learning</a:t>
            </a:r>
            <a:r>
              <a:rPr sz="2900" spc="25" dirty="0">
                <a:latin typeface="Calibri"/>
                <a:cs typeface="Calibri"/>
              </a:rPr>
              <a:t> </a:t>
            </a:r>
            <a:r>
              <a:rPr sz="2900" spc="-140" dirty="0">
                <a:latin typeface="Calibri"/>
                <a:cs typeface="Calibri"/>
              </a:rPr>
              <a:t>models</a:t>
            </a:r>
            <a:r>
              <a:rPr sz="2900" spc="-40" dirty="0">
                <a:latin typeface="Calibri"/>
                <a:cs typeface="Calibri"/>
              </a:rPr>
              <a:t> </a:t>
            </a:r>
            <a:r>
              <a:rPr sz="2900" spc="-110" dirty="0">
                <a:latin typeface="Calibri"/>
                <a:cs typeface="Calibri"/>
              </a:rPr>
              <a:t>to</a:t>
            </a:r>
            <a:r>
              <a:rPr sz="2900" spc="-185" dirty="0">
                <a:latin typeface="Calibri"/>
                <a:cs typeface="Calibri"/>
              </a:rPr>
              <a:t> </a:t>
            </a:r>
            <a:r>
              <a:rPr sz="2900" spc="-95" dirty="0">
                <a:latin typeface="Calibri"/>
                <a:cs typeface="Calibri"/>
              </a:rPr>
              <a:t>identify</a:t>
            </a:r>
            <a:r>
              <a:rPr sz="2900" spc="15" dirty="0">
                <a:latin typeface="Calibri"/>
                <a:cs typeface="Calibri"/>
              </a:rPr>
              <a:t> </a:t>
            </a:r>
            <a:r>
              <a:rPr sz="2900" spc="-105" dirty="0">
                <a:latin typeface="Calibri"/>
                <a:cs typeface="Calibri"/>
              </a:rPr>
              <a:t>the</a:t>
            </a:r>
            <a:r>
              <a:rPr sz="2900" spc="-185" dirty="0">
                <a:latin typeface="Calibri"/>
                <a:cs typeface="Calibri"/>
              </a:rPr>
              <a:t> </a:t>
            </a:r>
            <a:r>
              <a:rPr sz="2900" spc="-145" dirty="0">
                <a:latin typeface="Calibri"/>
                <a:cs typeface="Calibri"/>
              </a:rPr>
              <a:t>most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spc="-90" dirty="0">
                <a:latin typeface="Calibri"/>
                <a:cs typeface="Calibri"/>
              </a:rPr>
              <a:t>effective</a:t>
            </a:r>
            <a:r>
              <a:rPr sz="2900" spc="-125" dirty="0">
                <a:latin typeface="Calibri"/>
                <a:cs typeface="Calibri"/>
              </a:rPr>
              <a:t> </a:t>
            </a:r>
            <a:r>
              <a:rPr sz="2900" spc="-25" dirty="0">
                <a:latin typeface="Calibri"/>
                <a:cs typeface="Calibri"/>
              </a:rPr>
              <a:t>and </a:t>
            </a:r>
            <a:r>
              <a:rPr sz="2900" spc="-100" dirty="0">
                <a:latin typeface="Calibri"/>
                <a:cs typeface="Calibri"/>
              </a:rPr>
              <a:t>reliable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spc="-85" dirty="0">
                <a:latin typeface="Calibri"/>
                <a:cs typeface="Calibri"/>
              </a:rPr>
              <a:t>predictor</a:t>
            </a:r>
            <a:r>
              <a:rPr sz="2900" spc="50" dirty="0">
                <a:latin typeface="Calibri"/>
                <a:cs typeface="Calibri"/>
              </a:rPr>
              <a:t> </a:t>
            </a:r>
            <a:r>
              <a:rPr sz="2900" spc="-114" dirty="0">
                <a:latin typeface="Calibri"/>
                <a:cs typeface="Calibri"/>
              </a:rPr>
              <a:t>for</a:t>
            </a:r>
            <a:r>
              <a:rPr sz="2900" spc="-145" dirty="0">
                <a:latin typeface="Calibri"/>
                <a:cs typeface="Calibri"/>
              </a:rPr>
              <a:t> </a:t>
            </a:r>
            <a:r>
              <a:rPr sz="2900" spc="-100" dirty="0">
                <a:latin typeface="Calibri"/>
                <a:cs typeface="Calibri"/>
              </a:rPr>
              <a:t>our</a:t>
            </a:r>
            <a:r>
              <a:rPr sz="2900" spc="-120" dirty="0">
                <a:latin typeface="Calibri"/>
                <a:cs typeface="Calibri"/>
              </a:rPr>
              <a:t> </a:t>
            </a:r>
            <a:r>
              <a:rPr sz="2900" spc="-100" dirty="0">
                <a:latin typeface="Calibri"/>
                <a:cs typeface="Calibri"/>
              </a:rPr>
              <a:t>specific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dataset.</a:t>
            </a:r>
            <a:endParaRPr sz="2900" dirty="0">
              <a:latin typeface="Calibri"/>
              <a:cs typeface="Calibri"/>
            </a:endParaRPr>
          </a:p>
          <a:p>
            <a:pPr marL="12700">
              <a:lnSpc>
                <a:spcPts val="3190"/>
              </a:lnSpc>
              <a:spcBef>
                <a:spcPts val="2280"/>
              </a:spcBef>
            </a:pPr>
            <a:r>
              <a:rPr sz="2900" spc="-90" dirty="0">
                <a:latin typeface="Calibri"/>
                <a:cs typeface="Calibri"/>
              </a:rPr>
              <a:t>Models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spc="-105" dirty="0">
                <a:latin typeface="Calibri"/>
                <a:cs typeface="Calibri"/>
              </a:rPr>
              <a:t>Tested:</a:t>
            </a:r>
            <a:r>
              <a:rPr sz="2900" spc="-110" dirty="0">
                <a:latin typeface="Calibri"/>
                <a:cs typeface="Calibri"/>
              </a:rPr>
              <a:t> </a:t>
            </a:r>
            <a:r>
              <a:rPr sz="2900" spc="-60" dirty="0">
                <a:latin typeface="Calibri"/>
                <a:cs typeface="Calibri"/>
              </a:rPr>
              <a:t>Logistic</a:t>
            </a:r>
            <a:r>
              <a:rPr sz="2900" spc="-105" dirty="0">
                <a:latin typeface="Calibri"/>
                <a:cs typeface="Calibri"/>
              </a:rPr>
              <a:t> </a:t>
            </a:r>
            <a:r>
              <a:rPr sz="2900" spc="-95" dirty="0">
                <a:latin typeface="Calibri"/>
                <a:cs typeface="Calibri"/>
              </a:rPr>
              <a:t>Regression,</a:t>
            </a:r>
            <a:r>
              <a:rPr sz="2900" spc="-100" dirty="0">
                <a:latin typeface="Calibri"/>
                <a:cs typeface="Calibri"/>
              </a:rPr>
              <a:t> </a:t>
            </a:r>
            <a:r>
              <a:rPr sz="2900" spc="-85" dirty="0">
                <a:latin typeface="Calibri"/>
                <a:cs typeface="Calibri"/>
              </a:rPr>
              <a:t>Decision</a:t>
            </a:r>
            <a:r>
              <a:rPr sz="2900" spc="-40" dirty="0">
                <a:latin typeface="Calibri"/>
                <a:cs typeface="Calibri"/>
              </a:rPr>
              <a:t> </a:t>
            </a:r>
            <a:r>
              <a:rPr sz="2900" spc="-130" dirty="0">
                <a:latin typeface="Calibri"/>
                <a:cs typeface="Calibri"/>
              </a:rPr>
              <a:t>Tree,</a:t>
            </a:r>
            <a:r>
              <a:rPr sz="2900" spc="-125" dirty="0">
                <a:latin typeface="Calibri"/>
                <a:cs typeface="Calibri"/>
              </a:rPr>
              <a:t> </a:t>
            </a:r>
            <a:r>
              <a:rPr sz="2900" spc="-160" dirty="0">
                <a:latin typeface="Calibri"/>
                <a:cs typeface="Calibri"/>
              </a:rPr>
              <a:t>Random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spc="-80" dirty="0">
                <a:latin typeface="Calibri"/>
                <a:cs typeface="Calibri"/>
              </a:rPr>
              <a:t>Forest,</a:t>
            </a:r>
            <a:r>
              <a:rPr sz="2900" spc="-160" dirty="0">
                <a:latin typeface="Calibri"/>
                <a:cs typeface="Calibri"/>
              </a:rPr>
              <a:t> </a:t>
            </a:r>
            <a:r>
              <a:rPr sz="2900" spc="-75" dirty="0">
                <a:latin typeface="Calibri"/>
                <a:cs typeface="Calibri"/>
              </a:rPr>
              <a:t>XGBoost,</a:t>
            </a:r>
            <a:r>
              <a:rPr sz="2900" spc="-114" dirty="0">
                <a:latin typeface="Calibri"/>
                <a:cs typeface="Calibri"/>
              </a:rPr>
              <a:t> and</a:t>
            </a:r>
            <a:r>
              <a:rPr sz="2900" spc="-160" dirty="0">
                <a:latin typeface="Calibri"/>
                <a:cs typeface="Calibri"/>
              </a:rPr>
              <a:t> </a:t>
            </a:r>
            <a:r>
              <a:rPr sz="2900" spc="-110" dirty="0">
                <a:latin typeface="Calibri"/>
                <a:cs typeface="Calibri"/>
              </a:rPr>
              <a:t>Support</a:t>
            </a:r>
            <a:r>
              <a:rPr sz="2900" spc="20" dirty="0">
                <a:latin typeface="Calibri"/>
                <a:cs typeface="Calibri"/>
              </a:rPr>
              <a:t> </a:t>
            </a:r>
            <a:r>
              <a:rPr sz="2900" spc="-100" dirty="0">
                <a:latin typeface="Calibri"/>
                <a:cs typeface="Calibri"/>
              </a:rPr>
              <a:t>Vector</a:t>
            </a:r>
            <a:r>
              <a:rPr sz="2900" spc="3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Machine</a:t>
            </a:r>
            <a:endParaRPr sz="2900" dirty="0">
              <a:latin typeface="Calibri"/>
              <a:cs typeface="Calibri"/>
            </a:endParaRPr>
          </a:p>
          <a:p>
            <a:pPr marL="17780">
              <a:lnSpc>
                <a:spcPts val="2945"/>
              </a:lnSpc>
            </a:pPr>
            <a:r>
              <a:rPr sz="3100" spc="-55" dirty="0">
                <a:latin typeface="Calibri"/>
                <a:cs typeface="Calibri"/>
              </a:rPr>
              <a:t>(SVM).</a:t>
            </a:r>
            <a:endParaRPr sz="3100" dirty="0">
              <a:latin typeface="Calibri"/>
              <a:cs typeface="Calibri"/>
            </a:endParaRPr>
          </a:p>
          <a:p>
            <a:pPr marL="5916930">
              <a:lnSpc>
                <a:spcPts val="3365"/>
              </a:lnSpc>
            </a:pPr>
            <a:r>
              <a:rPr sz="3250" spc="-95" dirty="0">
                <a:solidFill>
                  <a:srgbClr val="161616"/>
                </a:solidFill>
                <a:latin typeface="Calibri"/>
                <a:cs typeface="Calibri"/>
              </a:rPr>
              <a:t>Cross-Validation</a:t>
            </a:r>
            <a:r>
              <a:rPr sz="3250" spc="-25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250" spc="-95" dirty="0">
                <a:solidFill>
                  <a:srgbClr val="1F1F1F"/>
                </a:solidFill>
                <a:latin typeface="Calibri"/>
                <a:cs typeface="Calibri"/>
              </a:rPr>
              <a:t>Recall</a:t>
            </a:r>
            <a:r>
              <a:rPr sz="3250" spc="6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1C1C1C"/>
                </a:solidFill>
                <a:latin typeface="Calibri"/>
                <a:cs typeface="Calibri"/>
              </a:rPr>
              <a:t>Scores</a:t>
            </a:r>
            <a:endParaRPr sz="3250" dirty="0">
              <a:latin typeface="Calibri"/>
              <a:cs typeface="Calibri"/>
            </a:endParaRPr>
          </a:p>
          <a:p>
            <a:pPr marL="476250">
              <a:lnSpc>
                <a:spcPts val="3010"/>
              </a:lnSpc>
            </a:pPr>
            <a:r>
              <a:rPr sz="2550" spc="-20" dirty="0">
                <a:latin typeface="Calibri"/>
                <a:cs typeface="Calibri"/>
              </a:rPr>
              <a:t>0.96</a:t>
            </a:r>
            <a:endParaRPr sz="2550" dirty="0">
              <a:latin typeface="Calibri"/>
              <a:cs typeface="Calibri"/>
            </a:endParaRPr>
          </a:p>
          <a:p>
            <a:pPr marL="473709">
              <a:lnSpc>
                <a:spcPct val="100000"/>
              </a:lnSpc>
              <a:spcBef>
                <a:spcPts val="1739"/>
              </a:spcBef>
            </a:pPr>
            <a:r>
              <a:rPr sz="2550" spc="-350" dirty="0">
                <a:latin typeface="Consolas"/>
                <a:cs typeface="Consolas"/>
              </a:rPr>
              <a:t>0.94</a:t>
            </a:r>
            <a:endParaRPr sz="2550" dirty="0">
              <a:latin typeface="Consolas"/>
              <a:cs typeface="Consolas"/>
            </a:endParaRPr>
          </a:p>
          <a:p>
            <a:pPr marL="473709">
              <a:lnSpc>
                <a:spcPct val="100000"/>
              </a:lnSpc>
              <a:spcBef>
                <a:spcPts val="1739"/>
              </a:spcBef>
            </a:pPr>
            <a:r>
              <a:rPr sz="2550" spc="-365" dirty="0">
                <a:latin typeface="Consolas"/>
                <a:cs typeface="Consolas"/>
              </a:rPr>
              <a:t>0.92</a:t>
            </a:r>
            <a:endParaRPr sz="2550" dirty="0">
              <a:latin typeface="Consolas"/>
              <a:cs typeface="Consolas"/>
            </a:endParaRPr>
          </a:p>
          <a:p>
            <a:pPr marL="473709">
              <a:lnSpc>
                <a:spcPct val="100000"/>
              </a:lnSpc>
              <a:spcBef>
                <a:spcPts val="1739"/>
              </a:spcBef>
            </a:pPr>
            <a:r>
              <a:rPr sz="2550" spc="-350" dirty="0">
                <a:latin typeface="Consolas"/>
                <a:cs typeface="Consolas"/>
              </a:rPr>
              <a:t>0.90</a:t>
            </a:r>
            <a:endParaRPr sz="2550" dirty="0">
              <a:latin typeface="Consolas"/>
              <a:cs typeface="Consolas"/>
            </a:endParaRPr>
          </a:p>
          <a:p>
            <a:pPr marL="473709">
              <a:lnSpc>
                <a:spcPct val="100000"/>
              </a:lnSpc>
              <a:spcBef>
                <a:spcPts val="1839"/>
              </a:spcBef>
            </a:pPr>
            <a:r>
              <a:rPr sz="2550" spc="-365" dirty="0">
                <a:latin typeface="Consolas"/>
                <a:cs typeface="Consolas"/>
              </a:rPr>
              <a:t>0.88</a:t>
            </a:r>
            <a:endParaRPr sz="2550" dirty="0">
              <a:latin typeface="Consolas"/>
              <a:cs typeface="Consolas"/>
            </a:endParaRPr>
          </a:p>
          <a:p>
            <a:pPr marL="473709">
              <a:lnSpc>
                <a:spcPct val="100000"/>
              </a:lnSpc>
              <a:spcBef>
                <a:spcPts val="1739"/>
              </a:spcBef>
            </a:pPr>
            <a:r>
              <a:rPr sz="2550" spc="-365" dirty="0">
                <a:latin typeface="Consolas"/>
                <a:cs typeface="Consolas"/>
              </a:rPr>
              <a:t>0.86</a:t>
            </a:r>
            <a:endParaRPr sz="255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8975" y="7736769"/>
            <a:ext cx="4920615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225165" algn="l"/>
              </a:tabLst>
            </a:pPr>
            <a:r>
              <a:rPr sz="2400" dirty="0">
                <a:latin typeface="Calibri"/>
                <a:cs typeface="Calibri"/>
              </a:rPr>
              <a:t>Logistic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Regression</a:t>
            </a:r>
            <a:r>
              <a:rPr sz="2400" dirty="0">
                <a:latin typeface="Calibri"/>
                <a:cs typeface="Calibri"/>
              </a:rPr>
              <a:t>	Decision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Tree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17234" y="7719130"/>
            <a:ext cx="4356735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256915" algn="l"/>
              </a:tabLst>
            </a:pPr>
            <a:r>
              <a:rPr sz="2500" spc="-90" dirty="0">
                <a:latin typeface="Calibri"/>
                <a:cs typeface="Calibri"/>
              </a:rPr>
              <a:t>Random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Forest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50" spc="-45" dirty="0">
                <a:latin typeface="Calibri"/>
                <a:cs typeface="Calibri"/>
              </a:rPr>
              <a:t>XGBoost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81975" y="7701491"/>
            <a:ext cx="62039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25" dirty="0">
                <a:latin typeface="Calibri"/>
                <a:cs typeface="Calibri"/>
              </a:rPr>
              <a:t>SVM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49670" y="8504414"/>
            <a:ext cx="14567535" cy="874394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marR="5080" indent="10160">
              <a:lnSpc>
                <a:spcPts val="3100"/>
              </a:lnSpc>
              <a:spcBef>
                <a:spcPts val="605"/>
              </a:spcBef>
            </a:pPr>
            <a:r>
              <a:rPr sz="2950" spc="-120" dirty="0">
                <a:latin typeface="Calibri"/>
                <a:cs typeface="Calibri"/>
              </a:rPr>
              <a:t>Conclusion:</a:t>
            </a:r>
            <a:r>
              <a:rPr sz="2950" spc="-45" dirty="0">
                <a:latin typeface="Calibri"/>
                <a:cs typeface="Calibri"/>
              </a:rPr>
              <a:t> </a:t>
            </a:r>
            <a:r>
              <a:rPr sz="2950" spc="-114" dirty="0">
                <a:latin typeface="Calibri"/>
                <a:cs typeface="Calibri"/>
              </a:rPr>
              <a:t>The</a:t>
            </a:r>
            <a:r>
              <a:rPr sz="2950" spc="-200" dirty="0">
                <a:latin typeface="Calibri"/>
                <a:cs typeface="Calibri"/>
              </a:rPr>
              <a:t> </a:t>
            </a:r>
            <a:r>
              <a:rPr sz="2950" spc="-80" dirty="0">
                <a:latin typeface="Calibri"/>
                <a:cs typeface="Calibri"/>
              </a:rPr>
              <a:t>Support</a:t>
            </a:r>
            <a:r>
              <a:rPr sz="2950" spc="-75" dirty="0">
                <a:latin typeface="Calibri"/>
                <a:cs typeface="Calibri"/>
              </a:rPr>
              <a:t> </a:t>
            </a:r>
            <a:r>
              <a:rPr sz="2950" spc="-80" dirty="0">
                <a:latin typeface="Calibri"/>
                <a:cs typeface="Calibri"/>
              </a:rPr>
              <a:t>Vector</a:t>
            </a:r>
            <a:r>
              <a:rPr sz="2950" spc="-240" dirty="0">
                <a:latin typeface="Calibri"/>
                <a:cs typeface="Calibri"/>
              </a:rPr>
              <a:t> </a:t>
            </a:r>
            <a:r>
              <a:rPr sz="2950" spc="-65" dirty="0">
                <a:latin typeface="Calibri"/>
                <a:cs typeface="Calibri"/>
              </a:rPr>
              <a:t>Machine(SVM)</a:t>
            </a:r>
            <a:r>
              <a:rPr sz="2950" spc="145" dirty="0">
                <a:latin typeface="Calibri"/>
                <a:cs typeface="Calibri"/>
              </a:rPr>
              <a:t> </a:t>
            </a:r>
            <a:r>
              <a:rPr sz="2950" spc="-175" dirty="0">
                <a:latin typeface="Calibri"/>
                <a:cs typeface="Calibri"/>
              </a:rPr>
              <a:t>model</a:t>
            </a:r>
            <a:r>
              <a:rPr sz="2950" spc="-150" dirty="0">
                <a:latin typeface="Calibri"/>
                <a:cs typeface="Calibri"/>
              </a:rPr>
              <a:t> </a:t>
            </a:r>
            <a:r>
              <a:rPr sz="2950" spc="-110" dirty="0">
                <a:latin typeface="Calibri"/>
                <a:cs typeface="Calibri"/>
              </a:rPr>
              <a:t>consistently</a:t>
            </a:r>
            <a:r>
              <a:rPr sz="2950" spc="95" dirty="0">
                <a:latin typeface="Calibri"/>
                <a:cs typeface="Calibri"/>
              </a:rPr>
              <a:t> </a:t>
            </a:r>
            <a:r>
              <a:rPr sz="2950" spc="-150" dirty="0">
                <a:latin typeface="Calibri"/>
                <a:cs typeface="Calibri"/>
              </a:rPr>
              <a:t>demonstrated</a:t>
            </a:r>
            <a:r>
              <a:rPr sz="2950" spc="-15" dirty="0">
                <a:latin typeface="Calibri"/>
                <a:cs typeface="Calibri"/>
              </a:rPr>
              <a:t> </a:t>
            </a:r>
            <a:r>
              <a:rPr sz="2950" spc="-135" dirty="0">
                <a:latin typeface="Calibri"/>
                <a:cs typeface="Calibri"/>
              </a:rPr>
              <a:t>superior</a:t>
            </a:r>
            <a:r>
              <a:rPr sz="2950" spc="-80" dirty="0">
                <a:latin typeface="Calibri"/>
                <a:cs typeface="Calibri"/>
              </a:rPr>
              <a:t> </a:t>
            </a:r>
            <a:r>
              <a:rPr sz="2950" spc="-114" dirty="0">
                <a:latin typeface="Calibri"/>
                <a:cs typeface="Calibri"/>
              </a:rPr>
              <a:t>performance, </a:t>
            </a:r>
            <a:r>
              <a:rPr sz="2950" spc="-100" dirty="0">
                <a:latin typeface="Calibri"/>
                <a:cs typeface="Calibri"/>
              </a:rPr>
              <a:t>particularly</a:t>
            </a:r>
            <a:r>
              <a:rPr sz="2950" dirty="0">
                <a:latin typeface="Calibri"/>
                <a:cs typeface="Calibri"/>
              </a:rPr>
              <a:t> </a:t>
            </a:r>
            <a:r>
              <a:rPr sz="2950" spc="-45" dirty="0">
                <a:latin typeface="Calibri"/>
                <a:cs typeface="Calibri"/>
              </a:rPr>
              <a:t>in</a:t>
            </a:r>
            <a:r>
              <a:rPr sz="2950" spc="-310" dirty="0">
                <a:latin typeface="Calibri"/>
                <a:cs typeface="Calibri"/>
              </a:rPr>
              <a:t> </a:t>
            </a:r>
            <a:r>
              <a:rPr sz="2950" spc="-65" dirty="0">
                <a:latin typeface="Calibri"/>
                <a:cs typeface="Calibri"/>
              </a:rPr>
              <a:t>its</a:t>
            </a:r>
            <a:r>
              <a:rPr sz="2950" spc="-135" dirty="0">
                <a:latin typeface="Calibri"/>
                <a:cs typeface="Calibri"/>
              </a:rPr>
              <a:t> </a:t>
            </a:r>
            <a:r>
              <a:rPr sz="2950" spc="-90" dirty="0">
                <a:latin typeface="Calibri"/>
                <a:cs typeface="Calibri"/>
              </a:rPr>
              <a:t>ability</a:t>
            </a:r>
            <a:r>
              <a:rPr sz="2950" spc="-85" dirty="0">
                <a:latin typeface="Calibri"/>
                <a:cs typeface="Calibri"/>
              </a:rPr>
              <a:t> </a:t>
            </a:r>
            <a:r>
              <a:rPr sz="2950" spc="-125" dirty="0">
                <a:latin typeface="Calibri"/>
                <a:cs typeface="Calibri"/>
              </a:rPr>
              <a:t>to</a:t>
            </a:r>
            <a:r>
              <a:rPr sz="2950" spc="-140" dirty="0">
                <a:latin typeface="Calibri"/>
                <a:cs typeface="Calibri"/>
              </a:rPr>
              <a:t> </a:t>
            </a:r>
            <a:r>
              <a:rPr sz="2950" spc="-105" dirty="0">
                <a:latin typeface="Calibri"/>
                <a:cs typeface="Calibri"/>
              </a:rPr>
              <a:t>correctly</a:t>
            </a:r>
            <a:r>
              <a:rPr sz="2950" spc="85" dirty="0">
                <a:latin typeface="Calibri"/>
                <a:cs typeface="Calibri"/>
              </a:rPr>
              <a:t> </a:t>
            </a:r>
            <a:r>
              <a:rPr sz="2950" spc="-120" dirty="0">
                <a:latin typeface="Calibri"/>
                <a:cs typeface="Calibri"/>
              </a:rPr>
              <a:t>identify</a:t>
            </a:r>
            <a:r>
              <a:rPr sz="2950" spc="5" dirty="0">
                <a:latin typeface="Calibri"/>
                <a:cs typeface="Calibri"/>
              </a:rPr>
              <a:t> </a:t>
            </a:r>
            <a:r>
              <a:rPr sz="2950" spc="-80" dirty="0">
                <a:latin typeface="Calibri"/>
                <a:cs typeface="Calibri"/>
              </a:rPr>
              <a:t>at-</a:t>
            </a:r>
            <a:r>
              <a:rPr sz="2950" spc="-75" dirty="0">
                <a:latin typeface="Calibri"/>
                <a:cs typeface="Calibri"/>
              </a:rPr>
              <a:t>risk</a:t>
            </a:r>
            <a:r>
              <a:rPr sz="2950" spc="-80" dirty="0">
                <a:latin typeface="Calibri"/>
                <a:cs typeface="Calibri"/>
              </a:rPr>
              <a:t> </a:t>
            </a:r>
            <a:r>
              <a:rPr sz="2950" spc="-85" dirty="0">
                <a:latin typeface="Calibri"/>
                <a:cs typeface="Calibri"/>
              </a:rPr>
              <a:t>students(Recall),</a:t>
            </a:r>
            <a:r>
              <a:rPr sz="2950" spc="-280" dirty="0">
                <a:latin typeface="Calibri"/>
                <a:cs typeface="Calibri"/>
              </a:rPr>
              <a:t> </a:t>
            </a:r>
            <a:r>
              <a:rPr sz="2950" spc="-145" dirty="0">
                <a:latin typeface="Calibri"/>
                <a:cs typeface="Calibri"/>
              </a:rPr>
              <a:t>making</a:t>
            </a:r>
            <a:r>
              <a:rPr sz="2950" spc="-150" dirty="0">
                <a:latin typeface="Calibri"/>
                <a:cs typeface="Calibri"/>
              </a:rPr>
              <a:t> </a:t>
            </a:r>
            <a:r>
              <a:rPr sz="2950" spc="-20" dirty="0">
                <a:latin typeface="Calibri"/>
                <a:cs typeface="Calibri"/>
              </a:rPr>
              <a:t>it</a:t>
            </a:r>
            <a:r>
              <a:rPr sz="2950" spc="-235" dirty="0">
                <a:latin typeface="Calibri"/>
                <a:cs typeface="Calibri"/>
              </a:rPr>
              <a:t> </a:t>
            </a:r>
            <a:r>
              <a:rPr sz="2950" spc="-155" dirty="0">
                <a:latin typeface="Calibri"/>
                <a:cs typeface="Calibri"/>
              </a:rPr>
              <a:t>our</a:t>
            </a:r>
            <a:r>
              <a:rPr sz="2950" spc="-114" dirty="0">
                <a:latin typeface="Calibri"/>
                <a:cs typeface="Calibri"/>
              </a:rPr>
              <a:t> </a:t>
            </a:r>
            <a:r>
              <a:rPr sz="2950" spc="-135" dirty="0">
                <a:latin typeface="Calibri"/>
                <a:cs typeface="Calibri"/>
              </a:rPr>
              <a:t>chosen</a:t>
            </a:r>
            <a:r>
              <a:rPr sz="2950" spc="-110" dirty="0">
                <a:latin typeface="Calibri"/>
                <a:cs typeface="Calibri"/>
              </a:rPr>
              <a:t> </a:t>
            </a:r>
            <a:r>
              <a:rPr sz="2950" spc="-10" dirty="0">
                <a:latin typeface="Calibri"/>
                <a:cs typeface="Calibri"/>
              </a:rPr>
              <a:t>engine.</a:t>
            </a:r>
            <a:endParaRPr sz="2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300" y="4127500"/>
            <a:ext cx="1181100" cy="1714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84600" y="4051300"/>
            <a:ext cx="1130300" cy="1790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67300" y="4114800"/>
            <a:ext cx="1930400" cy="1739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41000" y="4114800"/>
            <a:ext cx="1181100" cy="1739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823700" y="4127500"/>
            <a:ext cx="1231900" cy="1701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182600" y="4114800"/>
            <a:ext cx="1917700" cy="17399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98310" y="497769"/>
            <a:ext cx="15587344" cy="124777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00" spc="-40" dirty="0">
                <a:solidFill>
                  <a:srgbClr val="01284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Performance</a:t>
            </a:r>
            <a:r>
              <a:rPr sz="4000" spc="20" dirty="0">
                <a:solidFill>
                  <a:srgbClr val="01284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spc="105" dirty="0">
                <a:solidFill>
                  <a:srgbClr val="03264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</a:t>
            </a:r>
            <a:r>
              <a:rPr sz="4000" spc="-345" dirty="0">
                <a:solidFill>
                  <a:srgbClr val="03264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spc="-10" dirty="0">
                <a:solidFill>
                  <a:srgbClr val="052B4D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Focus:</a:t>
            </a:r>
            <a:r>
              <a:rPr sz="4000" spc="-270" dirty="0">
                <a:solidFill>
                  <a:srgbClr val="052B4D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dirty="0">
                <a:solidFill>
                  <a:srgbClr val="01285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Accuracy</a:t>
            </a:r>
            <a:r>
              <a:rPr sz="4000" spc="-114" dirty="0">
                <a:solidFill>
                  <a:srgbClr val="01285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dirty="0">
                <a:solidFill>
                  <a:srgbClr val="012D54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We</a:t>
            </a:r>
            <a:r>
              <a:rPr sz="4000" spc="-204" dirty="0">
                <a:solidFill>
                  <a:srgbClr val="012D54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dirty="0">
                <a:solidFill>
                  <a:srgbClr val="0A2D4F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Can</a:t>
            </a:r>
            <a:r>
              <a:rPr sz="4000" spc="-204" dirty="0">
                <a:solidFill>
                  <a:srgbClr val="0A2D4F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dirty="0">
                <a:solidFill>
                  <a:srgbClr val="052B4F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Trust</a:t>
            </a:r>
            <a:r>
              <a:rPr sz="4000" spc="-15" dirty="0">
                <a:solidFill>
                  <a:srgbClr val="052B4F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dirty="0">
                <a:solidFill>
                  <a:srgbClr val="03244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for</a:t>
            </a:r>
            <a:r>
              <a:rPr sz="4000" spc="-150" dirty="0">
                <a:solidFill>
                  <a:srgbClr val="03244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000" spc="-10" dirty="0">
                <a:solidFill>
                  <a:srgbClr val="012344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Intervention</a:t>
            </a:r>
            <a:endParaRPr sz="40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2699" y="1822450"/>
            <a:ext cx="15570835" cy="153035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 indent="8255">
              <a:lnSpc>
                <a:spcPts val="3800"/>
              </a:lnSpc>
              <a:spcBef>
                <a:spcPts val="600"/>
              </a:spcBef>
            </a:pPr>
            <a:r>
              <a:rPr sz="3550" spc="-25" dirty="0">
                <a:latin typeface="Calibri"/>
                <a:cs typeface="Calibri"/>
              </a:rPr>
              <a:t>For</a:t>
            </a:r>
            <a:r>
              <a:rPr sz="3550" spc="-185" dirty="0">
                <a:latin typeface="Calibri"/>
                <a:cs typeface="Calibri"/>
              </a:rPr>
              <a:t> </a:t>
            </a:r>
            <a:r>
              <a:rPr sz="3550" spc="-145" dirty="0">
                <a:latin typeface="Calibri"/>
                <a:cs typeface="Calibri"/>
              </a:rPr>
              <a:t>an</a:t>
            </a:r>
            <a:r>
              <a:rPr sz="3550" spc="-215" dirty="0">
                <a:latin typeface="Calibri"/>
                <a:cs typeface="Calibri"/>
              </a:rPr>
              <a:t> </a:t>
            </a:r>
            <a:r>
              <a:rPr sz="3550" spc="-80" dirty="0">
                <a:latin typeface="Calibri"/>
                <a:cs typeface="Calibri"/>
              </a:rPr>
              <a:t>early-</a:t>
            </a:r>
            <a:r>
              <a:rPr sz="3550" spc="-65" dirty="0">
                <a:latin typeface="Calibri"/>
                <a:cs typeface="Calibri"/>
              </a:rPr>
              <a:t>warning</a:t>
            </a:r>
            <a:r>
              <a:rPr sz="3550" spc="5" dirty="0">
                <a:latin typeface="Calibri"/>
                <a:cs typeface="Calibri"/>
              </a:rPr>
              <a:t> </a:t>
            </a:r>
            <a:r>
              <a:rPr sz="3550" spc="-105" dirty="0">
                <a:latin typeface="Calibri"/>
                <a:cs typeface="Calibri"/>
              </a:rPr>
              <a:t>system,</a:t>
            </a:r>
            <a:r>
              <a:rPr sz="3550" spc="-95" dirty="0">
                <a:latin typeface="Calibri"/>
                <a:cs typeface="Calibri"/>
              </a:rPr>
              <a:t> </a:t>
            </a:r>
            <a:r>
              <a:rPr sz="3550" spc="-125" dirty="0">
                <a:latin typeface="Calibri"/>
                <a:cs typeface="Calibri"/>
              </a:rPr>
              <a:t>the</a:t>
            </a:r>
            <a:r>
              <a:rPr sz="3550" spc="-235" dirty="0">
                <a:latin typeface="Calibri"/>
                <a:cs typeface="Calibri"/>
              </a:rPr>
              <a:t> </a:t>
            </a:r>
            <a:r>
              <a:rPr sz="3550" spc="-114" dirty="0">
                <a:latin typeface="Calibri"/>
                <a:cs typeface="Calibri"/>
              </a:rPr>
              <a:t>most</a:t>
            </a:r>
            <a:r>
              <a:rPr sz="3550" spc="-90" dirty="0">
                <a:latin typeface="Calibri"/>
                <a:cs typeface="Calibri"/>
              </a:rPr>
              <a:t> </a:t>
            </a:r>
            <a:r>
              <a:rPr sz="3550" spc="-45" dirty="0">
                <a:latin typeface="Calibri"/>
                <a:cs typeface="Calibri"/>
              </a:rPr>
              <a:t>critical</a:t>
            </a:r>
            <a:r>
              <a:rPr sz="3550" spc="-160" dirty="0">
                <a:latin typeface="Calibri"/>
                <a:cs typeface="Calibri"/>
              </a:rPr>
              <a:t> </a:t>
            </a:r>
            <a:r>
              <a:rPr sz="3550" spc="-85" dirty="0">
                <a:latin typeface="Calibri"/>
                <a:cs typeface="Calibri"/>
              </a:rPr>
              <a:t>metric</a:t>
            </a:r>
            <a:r>
              <a:rPr sz="3550" spc="-2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is</a:t>
            </a:r>
            <a:r>
              <a:rPr sz="3550" spc="-315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Recall.</a:t>
            </a:r>
            <a:r>
              <a:rPr sz="3550" spc="-195" dirty="0">
                <a:latin typeface="Calibri"/>
                <a:cs typeface="Calibri"/>
              </a:rPr>
              <a:t> </a:t>
            </a:r>
            <a:r>
              <a:rPr sz="3550" spc="-60" dirty="0">
                <a:solidFill>
                  <a:srgbClr val="0A0A0A"/>
                </a:solidFill>
                <a:latin typeface="Calibri"/>
                <a:cs typeface="Calibri"/>
              </a:rPr>
              <a:t>We</a:t>
            </a:r>
            <a:r>
              <a:rPr sz="3550" spc="-225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3550" spc="-114" dirty="0">
                <a:latin typeface="Calibri"/>
                <a:cs typeface="Calibri"/>
              </a:rPr>
              <a:t>must</a:t>
            </a:r>
            <a:r>
              <a:rPr sz="3550" spc="-30" dirty="0">
                <a:latin typeface="Calibri"/>
                <a:cs typeface="Calibri"/>
              </a:rPr>
              <a:t> </a:t>
            </a:r>
            <a:r>
              <a:rPr lang="en-PH" sz="3550" spc="-130" dirty="0">
                <a:latin typeface="Calibri"/>
                <a:cs typeface="Calibri"/>
              </a:rPr>
              <a:t>minimize </a:t>
            </a:r>
            <a:r>
              <a:rPr sz="3550" spc="-25" dirty="0">
                <a:latin typeface="Calibri"/>
                <a:cs typeface="Calibri"/>
              </a:rPr>
              <a:t>the </a:t>
            </a:r>
            <a:r>
              <a:rPr sz="3550" spc="-130" dirty="0">
                <a:latin typeface="Calibri"/>
                <a:cs typeface="Calibri"/>
              </a:rPr>
              <a:t>number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spc="-130" dirty="0">
                <a:latin typeface="Calibri"/>
                <a:cs typeface="Calibri"/>
              </a:rPr>
              <a:t>of</a:t>
            </a:r>
            <a:r>
              <a:rPr sz="3550" spc="-155" dirty="0">
                <a:latin typeface="Calibri"/>
                <a:cs typeface="Calibri"/>
              </a:rPr>
              <a:t> </a:t>
            </a:r>
            <a:r>
              <a:rPr sz="3550" spc="-50" dirty="0">
                <a:latin typeface="Calibri"/>
                <a:cs typeface="Calibri"/>
              </a:rPr>
              <a:t>at-</a:t>
            </a:r>
            <a:r>
              <a:rPr sz="3550" dirty="0">
                <a:latin typeface="Calibri"/>
                <a:cs typeface="Calibri"/>
              </a:rPr>
              <a:t>risk</a:t>
            </a:r>
            <a:r>
              <a:rPr sz="3550" spc="-10" dirty="0">
                <a:latin typeface="Calibri"/>
                <a:cs typeface="Calibri"/>
              </a:rPr>
              <a:t> </a:t>
            </a:r>
            <a:r>
              <a:rPr sz="3550" spc="-95" dirty="0">
                <a:latin typeface="Calibri"/>
                <a:cs typeface="Calibri"/>
              </a:rPr>
              <a:t>students</a:t>
            </a:r>
            <a:r>
              <a:rPr sz="3550" spc="-15" dirty="0">
                <a:latin typeface="Calibri"/>
                <a:cs typeface="Calibri"/>
              </a:rPr>
              <a:t> </a:t>
            </a:r>
            <a:r>
              <a:rPr sz="3550" spc="-140" dirty="0">
                <a:latin typeface="Calibri"/>
                <a:cs typeface="Calibri"/>
              </a:rPr>
              <a:t>we</a:t>
            </a:r>
            <a:r>
              <a:rPr sz="3550" spc="-155" dirty="0">
                <a:latin typeface="Calibri"/>
                <a:cs typeface="Calibri"/>
              </a:rPr>
              <a:t> </a:t>
            </a:r>
            <a:r>
              <a:rPr sz="3550" spc="-55" dirty="0">
                <a:latin typeface="Calibri"/>
                <a:cs typeface="Calibri"/>
              </a:rPr>
              <a:t>fail</a:t>
            </a:r>
            <a:r>
              <a:rPr sz="3550" spc="-125" dirty="0">
                <a:latin typeface="Calibri"/>
                <a:cs typeface="Calibri"/>
              </a:rPr>
              <a:t> </a:t>
            </a:r>
            <a:r>
              <a:rPr sz="3550" spc="-70" dirty="0">
                <a:latin typeface="Calibri"/>
                <a:cs typeface="Calibri"/>
              </a:rPr>
              <a:t>to</a:t>
            </a:r>
            <a:r>
              <a:rPr sz="3550" spc="-240" dirty="0">
                <a:latin typeface="Calibri"/>
                <a:cs typeface="Calibri"/>
              </a:rPr>
              <a:t> </a:t>
            </a:r>
            <a:r>
              <a:rPr sz="3550" spc="-25" dirty="0">
                <a:latin typeface="Calibri"/>
                <a:cs typeface="Calibri"/>
              </a:rPr>
              <a:t>identify(false</a:t>
            </a:r>
            <a:r>
              <a:rPr sz="3550" spc="-204" dirty="0">
                <a:latin typeface="Calibri"/>
                <a:cs typeface="Calibri"/>
              </a:rPr>
              <a:t> </a:t>
            </a:r>
            <a:r>
              <a:rPr sz="3550" spc="-110" dirty="0">
                <a:latin typeface="Calibri"/>
                <a:cs typeface="Calibri"/>
              </a:rPr>
              <a:t>negatives).</a:t>
            </a:r>
            <a:r>
              <a:rPr sz="3550" spc="-155" dirty="0">
                <a:latin typeface="Calibri"/>
                <a:cs typeface="Calibri"/>
              </a:rPr>
              <a:t> </a:t>
            </a:r>
            <a:r>
              <a:rPr sz="3550" spc="120" dirty="0">
                <a:solidFill>
                  <a:srgbClr val="0F0F0F"/>
                </a:solidFill>
                <a:latin typeface="Calibri"/>
                <a:cs typeface="Calibri"/>
              </a:rPr>
              <a:t>A</a:t>
            </a:r>
            <a:r>
              <a:rPr sz="3550" spc="-20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550" spc="-75" dirty="0">
                <a:solidFill>
                  <a:srgbClr val="070707"/>
                </a:solidFill>
                <a:latin typeface="Calibri"/>
                <a:cs typeface="Calibri"/>
              </a:rPr>
              <a:t>high</a:t>
            </a:r>
            <a:r>
              <a:rPr sz="3550" spc="-150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3550" spc="-60" dirty="0">
                <a:latin typeface="Calibri"/>
                <a:cs typeface="Calibri"/>
              </a:rPr>
              <a:t>Recall</a:t>
            </a:r>
            <a:r>
              <a:rPr sz="3550" spc="-5" dirty="0">
                <a:latin typeface="Calibri"/>
                <a:cs typeface="Calibri"/>
              </a:rPr>
              <a:t> </a:t>
            </a:r>
            <a:r>
              <a:rPr sz="3550" spc="-90" dirty="0">
                <a:latin typeface="Calibri"/>
                <a:cs typeface="Calibri"/>
              </a:rPr>
              <a:t>score</a:t>
            </a:r>
            <a:r>
              <a:rPr sz="3550" spc="-160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ensures </a:t>
            </a:r>
            <a:r>
              <a:rPr sz="3550" spc="-75" dirty="0">
                <a:latin typeface="Calibri"/>
                <a:cs typeface="Calibri"/>
              </a:rPr>
              <a:t>our</a:t>
            </a:r>
            <a:r>
              <a:rPr sz="3550" spc="-190" dirty="0">
                <a:latin typeface="Calibri"/>
                <a:cs typeface="Calibri"/>
              </a:rPr>
              <a:t> </a:t>
            </a:r>
            <a:r>
              <a:rPr sz="3550" spc="-75" dirty="0">
                <a:latin typeface="Calibri"/>
                <a:cs typeface="Calibri"/>
              </a:rPr>
              <a:t>interventions</a:t>
            </a:r>
            <a:r>
              <a:rPr sz="3550" spc="25" dirty="0">
                <a:latin typeface="Calibri"/>
                <a:cs typeface="Calibri"/>
              </a:rPr>
              <a:t> </a:t>
            </a:r>
            <a:r>
              <a:rPr sz="3550" spc="-65" dirty="0">
                <a:latin typeface="Calibri"/>
                <a:cs typeface="Calibri"/>
              </a:rPr>
              <a:t>reach</a:t>
            </a:r>
            <a:r>
              <a:rPr sz="3550" spc="-75" dirty="0">
                <a:latin typeface="Calibri"/>
                <a:cs typeface="Calibri"/>
              </a:rPr>
              <a:t> </a:t>
            </a:r>
            <a:r>
              <a:rPr sz="3550" spc="-125" dirty="0">
                <a:latin typeface="Calibri"/>
                <a:cs typeface="Calibri"/>
              </a:rPr>
              <a:t>the</a:t>
            </a:r>
            <a:r>
              <a:rPr sz="3550" spc="-130" dirty="0">
                <a:latin typeface="Calibri"/>
                <a:cs typeface="Calibri"/>
              </a:rPr>
              <a:t> </a:t>
            </a:r>
            <a:r>
              <a:rPr sz="3550" spc="-65" dirty="0">
                <a:latin typeface="Calibri"/>
                <a:cs typeface="Calibri"/>
              </a:rPr>
              <a:t>right</a:t>
            </a:r>
            <a:r>
              <a:rPr sz="3550" spc="-150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people.</a:t>
            </a:r>
            <a:endParaRPr sz="355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4917" y="5930097"/>
            <a:ext cx="7479665" cy="2808605"/>
          </a:xfrm>
          <a:prstGeom prst="rect">
            <a:avLst/>
          </a:prstGeom>
        </p:spPr>
        <p:txBody>
          <a:bodyPr vert="horz" wrap="square" lIns="0" tIns="349885" rIns="0" bIns="0" rtlCol="0">
            <a:spAutoFit/>
          </a:bodyPr>
          <a:lstStyle/>
          <a:p>
            <a:pPr marR="110489" algn="ctr">
              <a:lnSpc>
                <a:spcPct val="100000"/>
              </a:lnSpc>
              <a:spcBef>
                <a:spcPts val="2755"/>
              </a:spcBef>
            </a:pPr>
            <a:r>
              <a:rPr sz="4100" spc="-20" dirty="0">
                <a:solidFill>
                  <a:srgbClr val="050505"/>
                </a:solidFill>
                <a:latin typeface="Calibri"/>
                <a:cs typeface="Calibri"/>
              </a:rPr>
              <a:t>Recall</a:t>
            </a:r>
            <a:r>
              <a:rPr sz="4100" spc="-130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4100" spc="-85" dirty="0">
                <a:solidFill>
                  <a:srgbClr val="0C0C0C"/>
                </a:solidFill>
                <a:latin typeface="Calibri"/>
                <a:cs typeface="Calibri"/>
              </a:rPr>
              <a:t>Score</a:t>
            </a:r>
            <a:r>
              <a:rPr sz="4100" spc="-22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4100" spc="-10" dirty="0">
                <a:latin typeface="Calibri"/>
                <a:cs typeface="Calibri"/>
              </a:rPr>
              <a:t>for’Dropout’</a:t>
            </a:r>
            <a:endParaRPr sz="4100">
              <a:latin typeface="Calibri"/>
              <a:cs typeface="Calibri"/>
            </a:endParaRPr>
          </a:p>
          <a:p>
            <a:pPr marL="12700" marR="5080" indent="1270">
              <a:lnSpc>
                <a:spcPct val="93500"/>
              </a:lnSpc>
              <a:spcBef>
                <a:spcPts val="2045"/>
              </a:spcBef>
            </a:pPr>
            <a:r>
              <a:rPr sz="2750" dirty="0">
                <a:latin typeface="Calibri"/>
                <a:cs typeface="Calibri"/>
              </a:rPr>
              <a:t>Business</a:t>
            </a:r>
            <a:r>
              <a:rPr sz="2750" spc="-3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translation:</a:t>
            </a:r>
            <a:r>
              <a:rPr sz="2750" spc="-6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Our</a:t>
            </a:r>
            <a:r>
              <a:rPr sz="2750" spc="-110" dirty="0">
                <a:latin typeface="Calibri"/>
                <a:cs typeface="Calibri"/>
              </a:rPr>
              <a:t> </a:t>
            </a:r>
            <a:r>
              <a:rPr sz="2750" spc="-135" dirty="0">
                <a:latin typeface="Calibri"/>
                <a:cs typeface="Calibri"/>
              </a:rPr>
              <a:t>model</a:t>
            </a:r>
            <a:r>
              <a:rPr sz="2750" spc="-40" dirty="0">
                <a:latin typeface="Calibri"/>
                <a:cs typeface="Calibri"/>
              </a:rPr>
              <a:t> </a:t>
            </a:r>
            <a:r>
              <a:rPr sz="2750" spc="-35" dirty="0">
                <a:latin typeface="Calibri"/>
                <a:cs typeface="Calibri"/>
              </a:rPr>
              <a:t>successfully</a:t>
            </a:r>
            <a:r>
              <a:rPr sz="2750" spc="50" dirty="0">
                <a:latin typeface="Calibri"/>
                <a:cs typeface="Calibri"/>
              </a:rPr>
              <a:t> </a:t>
            </a:r>
            <a:r>
              <a:rPr sz="2750" spc="-30" dirty="0">
                <a:latin typeface="Calibri"/>
                <a:cs typeface="Calibri"/>
              </a:rPr>
              <a:t>identifies </a:t>
            </a:r>
            <a:r>
              <a:rPr sz="2700" spc="-25" dirty="0">
                <a:latin typeface="Calibri"/>
                <a:cs typeface="Calibri"/>
              </a:rPr>
              <a:t>95</a:t>
            </a:r>
            <a:r>
              <a:rPr sz="2700" spc="-240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out</a:t>
            </a:r>
            <a:r>
              <a:rPr sz="2700" spc="-1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of</a:t>
            </a:r>
            <a:r>
              <a:rPr sz="2700" spc="-17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every</a:t>
            </a:r>
            <a:r>
              <a:rPr sz="2700" spc="-1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100</a:t>
            </a:r>
            <a:r>
              <a:rPr sz="2700" spc="-110" dirty="0">
                <a:latin typeface="Calibri"/>
                <a:cs typeface="Calibri"/>
              </a:rPr>
              <a:t> </a:t>
            </a:r>
            <a:r>
              <a:rPr sz="2700" spc="-45" dirty="0">
                <a:latin typeface="Calibri"/>
                <a:cs typeface="Calibri"/>
              </a:rPr>
              <a:t>students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0" dirty="0">
                <a:latin typeface="Calibri"/>
                <a:cs typeface="Calibri"/>
              </a:rPr>
              <a:t>who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40" dirty="0">
                <a:latin typeface="Calibri"/>
                <a:cs typeface="Calibri"/>
              </a:rPr>
              <a:t>are</a:t>
            </a:r>
            <a:r>
              <a:rPr sz="2700" spc="-140" dirty="0">
                <a:latin typeface="Calibri"/>
                <a:cs typeface="Calibri"/>
              </a:rPr>
              <a:t> </a:t>
            </a:r>
            <a:r>
              <a:rPr sz="2700" spc="-45" dirty="0">
                <a:latin typeface="Calibri"/>
                <a:cs typeface="Calibri"/>
              </a:rPr>
              <a:t>genuinely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at</a:t>
            </a:r>
            <a:r>
              <a:rPr sz="2700" spc="-15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risk </a:t>
            </a:r>
            <a:r>
              <a:rPr sz="2750" spc="-80" dirty="0">
                <a:latin typeface="Calibri"/>
                <a:cs typeface="Calibri"/>
              </a:rPr>
              <a:t>of</a:t>
            </a:r>
            <a:r>
              <a:rPr sz="2750" spc="-180" dirty="0">
                <a:latin typeface="Calibri"/>
                <a:cs typeface="Calibri"/>
              </a:rPr>
              <a:t> </a:t>
            </a:r>
            <a:r>
              <a:rPr sz="2750" spc="-90" dirty="0">
                <a:latin typeface="Calibri"/>
                <a:cs typeface="Calibri"/>
              </a:rPr>
              <a:t>dropping</a:t>
            </a:r>
            <a:r>
              <a:rPr sz="2750" spc="-105" dirty="0">
                <a:latin typeface="Calibri"/>
                <a:cs typeface="Calibri"/>
              </a:rPr>
              <a:t> </a:t>
            </a:r>
            <a:r>
              <a:rPr sz="2750" spc="-90" dirty="0">
                <a:latin typeface="Calibri"/>
                <a:cs typeface="Calibri"/>
              </a:rPr>
              <a:t>out.</a:t>
            </a:r>
            <a:r>
              <a:rPr sz="2750" spc="-15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This</a:t>
            </a:r>
            <a:r>
              <a:rPr sz="2750" spc="-180" dirty="0">
                <a:latin typeface="Calibri"/>
                <a:cs typeface="Calibri"/>
              </a:rPr>
              <a:t> </a:t>
            </a:r>
            <a:r>
              <a:rPr sz="2750" spc="-60" dirty="0">
                <a:latin typeface="Calibri"/>
                <a:cs typeface="Calibri"/>
              </a:rPr>
              <a:t>dramatically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80" dirty="0">
                <a:latin typeface="Calibri"/>
                <a:cs typeface="Calibri"/>
              </a:rPr>
              <a:t>reduces</a:t>
            </a:r>
            <a:r>
              <a:rPr sz="2750" spc="-35" dirty="0">
                <a:latin typeface="Calibri"/>
                <a:cs typeface="Calibri"/>
              </a:rPr>
              <a:t> </a:t>
            </a:r>
            <a:r>
              <a:rPr sz="2750" spc="-100" dirty="0">
                <a:latin typeface="Calibri"/>
                <a:cs typeface="Calibri"/>
              </a:rPr>
              <a:t>the</a:t>
            </a:r>
            <a:r>
              <a:rPr sz="2750" spc="-204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chance </a:t>
            </a:r>
            <a:r>
              <a:rPr sz="2750" spc="-70" dirty="0">
                <a:latin typeface="Calibri"/>
                <a:cs typeface="Calibri"/>
              </a:rPr>
              <a:t>that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a</a:t>
            </a:r>
            <a:r>
              <a:rPr sz="2750" spc="-190" dirty="0">
                <a:latin typeface="Calibri"/>
                <a:cs typeface="Calibri"/>
              </a:rPr>
              <a:t> </a:t>
            </a:r>
            <a:r>
              <a:rPr sz="2750" spc="-100" dirty="0">
                <a:latin typeface="Calibri"/>
                <a:cs typeface="Calibri"/>
              </a:rPr>
              <a:t>student</a:t>
            </a:r>
            <a:r>
              <a:rPr sz="2750" spc="-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in</a:t>
            </a:r>
            <a:r>
              <a:rPr sz="2750" spc="-290" dirty="0">
                <a:latin typeface="Calibri"/>
                <a:cs typeface="Calibri"/>
              </a:rPr>
              <a:t> </a:t>
            </a:r>
            <a:r>
              <a:rPr sz="2750" spc="-110" dirty="0">
                <a:latin typeface="Calibri"/>
                <a:cs typeface="Calibri"/>
              </a:rPr>
              <a:t>need</a:t>
            </a:r>
            <a:r>
              <a:rPr sz="2750" spc="-90" dirty="0">
                <a:latin typeface="Calibri"/>
                <a:cs typeface="Calibri"/>
              </a:rPr>
              <a:t> </a:t>
            </a:r>
            <a:r>
              <a:rPr sz="2750" spc="-80" dirty="0">
                <a:latin typeface="Calibri"/>
                <a:cs typeface="Calibri"/>
              </a:rPr>
              <a:t>of</a:t>
            </a:r>
            <a:r>
              <a:rPr sz="2750" spc="-130" dirty="0">
                <a:latin typeface="Calibri"/>
                <a:cs typeface="Calibri"/>
              </a:rPr>
              <a:t> </a:t>
            </a:r>
            <a:r>
              <a:rPr sz="2750" spc="-85" dirty="0">
                <a:latin typeface="Calibri"/>
                <a:cs typeface="Calibri"/>
              </a:rPr>
              <a:t>support</a:t>
            </a:r>
            <a:r>
              <a:rPr sz="2750" spc="-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is</a:t>
            </a:r>
            <a:r>
              <a:rPr sz="2750" spc="-21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overlooked.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52591" y="5970957"/>
            <a:ext cx="7289800" cy="2783840"/>
          </a:xfrm>
          <a:prstGeom prst="rect">
            <a:avLst/>
          </a:prstGeom>
        </p:spPr>
        <p:txBody>
          <a:bodyPr vert="horz" wrap="square" lIns="0" tIns="3092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35"/>
              </a:spcBef>
            </a:pPr>
            <a:r>
              <a:rPr sz="4100" spc="-35" dirty="0">
                <a:solidFill>
                  <a:srgbClr val="0E0E0E"/>
                </a:solidFill>
                <a:latin typeface="Calibri"/>
                <a:cs typeface="Calibri"/>
              </a:rPr>
              <a:t>Precision</a:t>
            </a:r>
            <a:r>
              <a:rPr sz="4100" spc="-12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4100" spc="-65" dirty="0">
                <a:solidFill>
                  <a:srgbClr val="050505"/>
                </a:solidFill>
                <a:latin typeface="Calibri"/>
                <a:cs typeface="Calibri"/>
              </a:rPr>
              <a:t>Score</a:t>
            </a:r>
            <a:r>
              <a:rPr sz="4100" spc="-210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4100" spc="-10" dirty="0">
                <a:solidFill>
                  <a:srgbClr val="0E0E0E"/>
                </a:solidFill>
                <a:latin typeface="Calibri"/>
                <a:cs typeface="Calibri"/>
              </a:rPr>
              <a:t>for‘Dropout’</a:t>
            </a:r>
            <a:endParaRPr sz="4100">
              <a:latin typeface="Calibri"/>
              <a:cs typeface="Calibri"/>
            </a:endParaRPr>
          </a:p>
          <a:p>
            <a:pPr marL="13970" marR="5080" indent="-1905">
              <a:lnSpc>
                <a:spcPts val="3100"/>
              </a:lnSpc>
              <a:spcBef>
                <a:spcPts val="2100"/>
              </a:spcBef>
            </a:pPr>
            <a:r>
              <a:rPr sz="2900" dirty="0">
                <a:latin typeface="Calibri"/>
                <a:cs typeface="Calibri"/>
              </a:rPr>
              <a:t>Business</a:t>
            </a:r>
            <a:r>
              <a:rPr sz="2900" spc="-95" dirty="0">
                <a:latin typeface="Calibri"/>
                <a:cs typeface="Calibri"/>
              </a:rPr>
              <a:t> </a:t>
            </a:r>
            <a:r>
              <a:rPr sz="2900" spc="-25" dirty="0">
                <a:latin typeface="Calibri"/>
                <a:cs typeface="Calibri"/>
              </a:rPr>
              <a:t>translation: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spc="-60" dirty="0">
                <a:latin typeface="Calibri"/>
                <a:cs typeface="Calibri"/>
              </a:rPr>
              <a:t>When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spc="-105" dirty="0">
                <a:latin typeface="Calibri"/>
                <a:cs typeface="Calibri"/>
              </a:rPr>
              <a:t>the</a:t>
            </a:r>
            <a:r>
              <a:rPr sz="2900" spc="-110" dirty="0">
                <a:latin typeface="Calibri"/>
                <a:cs typeface="Calibri"/>
              </a:rPr>
              <a:t> </a:t>
            </a:r>
            <a:r>
              <a:rPr sz="2900" spc="-114" dirty="0">
                <a:latin typeface="Calibri"/>
                <a:cs typeface="Calibri"/>
              </a:rPr>
              <a:t>model</a:t>
            </a:r>
            <a:r>
              <a:rPr sz="2900" spc="-80" dirty="0">
                <a:latin typeface="Calibri"/>
                <a:cs typeface="Calibri"/>
              </a:rPr>
              <a:t> </a:t>
            </a:r>
            <a:r>
              <a:rPr sz="2900" spc="-20" dirty="0">
                <a:latin typeface="Calibri"/>
                <a:cs typeface="Calibri"/>
              </a:rPr>
              <a:t>flags</a:t>
            </a:r>
            <a:r>
              <a:rPr sz="2900" spc="-110" dirty="0">
                <a:latin typeface="Calibri"/>
                <a:cs typeface="Calibri"/>
              </a:rPr>
              <a:t> </a:t>
            </a:r>
            <a:r>
              <a:rPr sz="2900" spc="-50" dirty="0">
                <a:latin typeface="Calibri"/>
                <a:cs typeface="Calibri"/>
              </a:rPr>
              <a:t>a </a:t>
            </a:r>
            <a:r>
              <a:rPr sz="2900" spc="-85" dirty="0">
                <a:latin typeface="Calibri"/>
                <a:cs typeface="Calibri"/>
              </a:rPr>
              <a:t>student</a:t>
            </a:r>
            <a:r>
              <a:rPr sz="2900" spc="-8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as</a:t>
            </a:r>
            <a:r>
              <a:rPr sz="2900" spc="-125" dirty="0">
                <a:latin typeface="Calibri"/>
                <a:cs typeface="Calibri"/>
              </a:rPr>
              <a:t> </a:t>
            </a:r>
            <a:r>
              <a:rPr sz="2900" spc="-30" dirty="0">
                <a:latin typeface="Calibri"/>
                <a:cs typeface="Calibri"/>
              </a:rPr>
              <a:t>'at-risk’,</a:t>
            </a:r>
            <a:r>
              <a:rPr sz="2900" spc="-16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it</a:t>
            </a:r>
            <a:r>
              <a:rPr sz="2900" spc="-130" dirty="0">
                <a:latin typeface="Calibri"/>
                <a:cs typeface="Calibri"/>
              </a:rPr>
              <a:t> </a:t>
            </a:r>
            <a:r>
              <a:rPr sz="2900" spc="-30" dirty="0">
                <a:latin typeface="Calibri"/>
                <a:cs typeface="Calibri"/>
              </a:rPr>
              <a:t>is</a:t>
            </a:r>
            <a:r>
              <a:rPr sz="2900" spc="-170" dirty="0">
                <a:latin typeface="Calibri"/>
                <a:cs typeface="Calibri"/>
              </a:rPr>
              <a:t> </a:t>
            </a:r>
            <a:r>
              <a:rPr sz="2900" spc="-20" dirty="0">
                <a:latin typeface="Calibri"/>
                <a:cs typeface="Calibri"/>
              </a:rPr>
              <a:t>correct</a:t>
            </a:r>
            <a:r>
              <a:rPr sz="2900" spc="-35" dirty="0">
                <a:latin typeface="Calibri"/>
                <a:cs typeface="Calibri"/>
              </a:rPr>
              <a:t> 84%</a:t>
            </a:r>
            <a:r>
              <a:rPr sz="2900" spc="-114" dirty="0">
                <a:latin typeface="Calibri"/>
                <a:cs typeface="Calibri"/>
              </a:rPr>
              <a:t> </a:t>
            </a:r>
            <a:r>
              <a:rPr sz="2900" spc="-50" dirty="0">
                <a:latin typeface="Calibri"/>
                <a:cs typeface="Calibri"/>
              </a:rPr>
              <a:t>of</a:t>
            </a:r>
            <a:r>
              <a:rPr sz="2900" spc="-25" dirty="0">
                <a:latin typeface="Calibri"/>
                <a:cs typeface="Calibri"/>
              </a:rPr>
              <a:t> </a:t>
            </a:r>
            <a:r>
              <a:rPr sz="2900" spc="-90" dirty="0">
                <a:latin typeface="Calibri"/>
                <a:cs typeface="Calibri"/>
              </a:rPr>
              <a:t>the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time, </a:t>
            </a:r>
            <a:r>
              <a:rPr sz="2900" spc="-40" dirty="0">
                <a:latin typeface="Calibri"/>
                <a:cs typeface="Calibri"/>
              </a:rPr>
              <a:t>ensuring</a:t>
            </a:r>
            <a:r>
              <a:rPr sz="2900" spc="-125" dirty="0">
                <a:latin typeface="Calibri"/>
                <a:cs typeface="Calibri"/>
              </a:rPr>
              <a:t> </a:t>
            </a:r>
            <a:r>
              <a:rPr sz="2900" spc="-60" dirty="0">
                <a:latin typeface="Calibri"/>
                <a:cs typeface="Calibri"/>
              </a:rPr>
              <a:t>that</a:t>
            </a:r>
            <a:r>
              <a:rPr sz="2900" spc="-100" dirty="0">
                <a:latin typeface="Calibri"/>
                <a:cs typeface="Calibri"/>
              </a:rPr>
              <a:t> </a:t>
            </a:r>
            <a:r>
              <a:rPr sz="2900" spc="-55" dirty="0">
                <a:latin typeface="Calibri"/>
                <a:cs typeface="Calibri"/>
              </a:rPr>
              <a:t>counsellor</a:t>
            </a:r>
            <a:r>
              <a:rPr sz="2900" spc="5" dirty="0">
                <a:latin typeface="Calibri"/>
                <a:cs typeface="Calibri"/>
              </a:rPr>
              <a:t> </a:t>
            </a:r>
            <a:r>
              <a:rPr sz="2900" spc="-90" dirty="0">
                <a:latin typeface="Calibri"/>
                <a:cs typeface="Calibri"/>
              </a:rPr>
              <a:t>time</a:t>
            </a:r>
            <a:r>
              <a:rPr sz="2900" spc="-10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is</a:t>
            </a:r>
            <a:r>
              <a:rPr sz="2900" spc="-160" dirty="0">
                <a:latin typeface="Calibri"/>
                <a:cs typeface="Calibri"/>
              </a:rPr>
              <a:t> </a:t>
            </a:r>
            <a:r>
              <a:rPr sz="2900" spc="-75" dirty="0">
                <a:latin typeface="Calibri"/>
                <a:cs typeface="Calibri"/>
              </a:rPr>
              <a:t>focused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spc="-25" dirty="0">
                <a:latin typeface="Calibri"/>
                <a:cs typeface="Calibri"/>
              </a:rPr>
              <a:t>effectively </a:t>
            </a:r>
            <a:r>
              <a:rPr sz="2900" spc="-50" dirty="0">
                <a:latin typeface="Calibri"/>
                <a:cs typeface="Calibri"/>
              </a:rPr>
              <a:t>with</a:t>
            </a:r>
            <a:r>
              <a:rPr sz="2900" spc="-204" dirty="0">
                <a:latin typeface="Calibri"/>
                <a:cs typeface="Calibri"/>
              </a:rPr>
              <a:t> </a:t>
            </a:r>
            <a:r>
              <a:rPr sz="2900" spc="-95" dirty="0">
                <a:latin typeface="Calibri"/>
                <a:cs typeface="Calibri"/>
              </a:rPr>
              <a:t>minimal</a:t>
            </a:r>
            <a:r>
              <a:rPr sz="2900" spc="-20" dirty="0">
                <a:latin typeface="Calibri"/>
                <a:cs typeface="Calibri"/>
              </a:rPr>
              <a:t> </a:t>
            </a:r>
            <a:r>
              <a:rPr sz="2900" spc="-35" dirty="0">
                <a:latin typeface="Calibri"/>
                <a:cs typeface="Calibri"/>
              </a:rPr>
              <a:t>false</a:t>
            </a:r>
            <a:r>
              <a:rPr sz="2900" spc="-114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alarms.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4100" y="3619500"/>
            <a:ext cx="5575300" cy="24765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77080" y="461433"/>
            <a:ext cx="15509875" cy="84574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400" dirty="0">
                <a:solidFill>
                  <a:srgbClr val="00234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From</a:t>
            </a:r>
            <a:r>
              <a:rPr sz="5400" spc="-100" dirty="0">
                <a:solidFill>
                  <a:srgbClr val="00234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5400" dirty="0">
                <a:solidFill>
                  <a:srgbClr val="002A4D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Prediction</a:t>
            </a:r>
            <a:r>
              <a:rPr sz="5400" spc="285" dirty="0">
                <a:solidFill>
                  <a:srgbClr val="002A4D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5400" spc="135" dirty="0">
                <a:solidFill>
                  <a:srgbClr val="032F5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to</a:t>
            </a:r>
            <a:r>
              <a:rPr sz="5400" spc="-110" dirty="0">
                <a:solidFill>
                  <a:srgbClr val="032F5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5400" dirty="0">
                <a:solidFill>
                  <a:srgbClr val="01244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Actionable</a:t>
            </a:r>
            <a:r>
              <a:rPr sz="5400" spc="395" dirty="0">
                <a:solidFill>
                  <a:srgbClr val="01244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5400" spc="-10" dirty="0">
                <a:solidFill>
                  <a:srgbClr val="032D5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Intelligence</a:t>
            </a:r>
            <a:endParaRPr sz="54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2936" y="1595613"/>
            <a:ext cx="15774669" cy="126174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2384" marR="5080" indent="-20320">
              <a:lnSpc>
                <a:spcPts val="4650"/>
              </a:lnSpc>
              <a:spcBef>
                <a:spcPts val="615"/>
              </a:spcBef>
            </a:pPr>
            <a:r>
              <a:rPr sz="4200" spc="80" dirty="0">
                <a:solidFill>
                  <a:srgbClr val="282828"/>
                </a:solidFill>
                <a:latin typeface="Calibri"/>
                <a:cs typeface="Calibri"/>
              </a:rPr>
              <a:t>We</a:t>
            </a:r>
            <a:r>
              <a:rPr sz="4200" spc="-26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4200" spc="-45" dirty="0">
                <a:solidFill>
                  <a:srgbClr val="282828"/>
                </a:solidFill>
                <a:latin typeface="Calibri"/>
                <a:cs typeface="Calibri"/>
              </a:rPr>
              <a:t>applied</a:t>
            </a:r>
            <a:r>
              <a:rPr sz="4200" spc="-19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4200" spc="-40" dirty="0">
                <a:solidFill>
                  <a:srgbClr val="313131"/>
                </a:solidFill>
                <a:latin typeface="Calibri"/>
                <a:cs typeface="Calibri"/>
              </a:rPr>
              <a:t>the</a:t>
            </a:r>
            <a:r>
              <a:rPr sz="4200" spc="-19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4200" spc="-65" dirty="0">
                <a:solidFill>
                  <a:srgbClr val="262626"/>
                </a:solidFill>
                <a:latin typeface="Calibri"/>
                <a:cs typeface="Calibri"/>
              </a:rPr>
              <a:t>trained</a:t>
            </a:r>
            <a:r>
              <a:rPr sz="4200" spc="-17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4200" spc="-100" dirty="0">
                <a:solidFill>
                  <a:srgbClr val="232323"/>
                </a:solidFill>
                <a:latin typeface="Calibri"/>
                <a:cs typeface="Calibri"/>
              </a:rPr>
              <a:t>model</a:t>
            </a:r>
            <a:r>
              <a:rPr sz="4200" spc="-1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4200" dirty="0">
                <a:solidFill>
                  <a:srgbClr val="282828"/>
                </a:solidFill>
                <a:latin typeface="Calibri"/>
                <a:cs typeface="Calibri"/>
              </a:rPr>
              <a:t>to</a:t>
            </a:r>
            <a:r>
              <a:rPr sz="4200" spc="-24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4200" spc="-7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4200" spc="-2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4200" spc="-10" dirty="0">
                <a:solidFill>
                  <a:srgbClr val="262626"/>
                </a:solidFill>
                <a:latin typeface="Calibri"/>
                <a:cs typeface="Calibri"/>
              </a:rPr>
              <a:t>currently</a:t>
            </a:r>
            <a:r>
              <a:rPr sz="4200" spc="-16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4200" spc="-35" dirty="0">
                <a:solidFill>
                  <a:srgbClr val="262626"/>
                </a:solidFill>
                <a:latin typeface="Calibri"/>
                <a:cs typeface="Calibri"/>
              </a:rPr>
              <a:t>enrolled</a:t>
            </a:r>
            <a:r>
              <a:rPr sz="4200" spc="-11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4200" spc="-45" dirty="0">
                <a:solidFill>
                  <a:srgbClr val="282828"/>
                </a:solidFill>
                <a:latin typeface="Calibri"/>
                <a:cs typeface="Calibri"/>
              </a:rPr>
              <a:t>student</a:t>
            </a:r>
            <a:r>
              <a:rPr sz="4200" spc="-15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4200" spc="-10" dirty="0">
                <a:solidFill>
                  <a:srgbClr val="262626"/>
                </a:solidFill>
                <a:latin typeface="Calibri"/>
                <a:cs typeface="Calibri"/>
              </a:rPr>
              <a:t>population </a:t>
            </a:r>
            <a:r>
              <a:rPr sz="4200" spc="-45" dirty="0">
                <a:solidFill>
                  <a:srgbClr val="2F2F2F"/>
                </a:solidFill>
                <a:latin typeface="Calibri"/>
                <a:cs typeface="Calibri"/>
              </a:rPr>
              <a:t>to</a:t>
            </a:r>
            <a:r>
              <a:rPr sz="4200" spc="-23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4200" spc="-25" dirty="0">
                <a:solidFill>
                  <a:srgbClr val="282828"/>
                </a:solidFill>
                <a:latin typeface="Calibri"/>
                <a:cs typeface="Calibri"/>
              </a:rPr>
              <a:t>identify</a:t>
            </a:r>
            <a:r>
              <a:rPr sz="4200" spc="-18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4200" spc="-60" dirty="0">
                <a:solidFill>
                  <a:srgbClr val="282828"/>
                </a:solidFill>
                <a:latin typeface="Calibri"/>
                <a:cs typeface="Calibri"/>
              </a:rPr>
              <a:t>those</a:t>
            </a:r>
            <a:r>
              <a:rPr sz="4200" spc="-17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4200" spc="-60" dirty="0">
                <a:solidFill>
                  <a:srgbClr val="282828"/>
                </a:solidFill>
                <a:latin typeface="Calibri"/>
                <a:cs typeface="Calibri"/>
              </a:rPr>
              <a:t>most</a:t>
            </a:r>
            <a:r>
              <a:rPr sz="4200" spc="-10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4200" dirty="0">
                <a:solidFill>
                  <a:srgbClr val="232323"/>
                </a:solidFill>
                <a:latin typeface="Calibri"/>
                <a:cs typeface="Calibri"/>
              </a:rPr>
              <a:t>in</a:t>
            </a:r>
            <a:r>
              <a:rPr sz="4200" spc="-3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4200" spc="-95" dirty="0">
                <a:solidFill>
                  <a:srgbClr val="2A2A2A"/>
                </a:solidFill>
                <a:latin typeface="Calibri"/>
                <a:cs typeface="Calibri"/>
              </a:rPr>
              <a:t>need</a:t>
            </a:r>
            <a:r>
              <a:rPr sz="4200" spc="-14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4200" spc="-35" dirty="0">
                <a:solidFill>
                  <a:srgbClr val="242424"/>
                </a:solidFill>
                <a:latin typeface="Calibri"/>
                <a:cs typeface="Calibri"/>
              </a:rPr>
              <a:t>of</a:t>
            </a:r>
            <a:r>
              <a:rPr sz="4200" spc="-18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4200" spc="-100" dirty="0">
                <a:solidFill>
                  <a:srgbClr val="282828"/>
                </a:solidFill>
                <a:latin typeface="Calibri"/>
                <a:cs typeface="Calibri"/>
              </a:rPr>
              <a:t>immediate</a:t>
            </a:r>
            <a:r>
              <a:rPr sz="4200" spc="-6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4200" spc="-10" dirty="0">
                <a:solidFill>
                  <a:srgbClr val="1D1D1D"/>
                </a:solidFill>
                <a:latin typeface="Calibri"/>
                <a:cs typeface="Calibri"/>
              </a:rPr>
              <a:t>support.</a:t>
            </a:r>
            <a:endParaRPr sz="4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5079" y="6270625"/>
            <a:ext cx="8096250" cy="1260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145" algn="ctr">
              <a:lnSpc>
                <a:spcPts val="4935"/>
              </a:lnSpc>
              <a:spcBef>
                <a:spcPts val="125"/>
              </a:spcBef>
            </a:pPr>
            <a:r>
              <a:rPr sz="4350" spc="-130" dirty="0">
                <a:solidFill>
                  <a:srgbClr val="242424"/>
                </a:solidFill>
                <a:latin typeface="Calibri"/>
                <a:cs typeface="Calibri"/>
              </a:rPr>
              <a:t>currently</a:t>
            </a:r>
            <a:r>
              <a:rPr sz="4350" spc="-4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4350" spc="-175" dirty="0">
                <a:solidFill>
                  <a:srgbClr val="262626"/>
                </a:solidFill>
                <a:latin typeface="Calibri"/>
                <a:cs typeface="Calibri"/>
              </a:rPr>
              <a:t>enrolled</a:t>
            </a:r>
            <a:r>
              <a:rPr sz="4350" spc="-8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4350" spc="-160" dirty="0">
                <a:solidFill>
                  <a:srgbClr val="212121"/>
                </a:solidFill>
                <a:latin typeface="Calibri"/>
                <a:cs typeface="Calibri"/>
              </a:rPr>
              <a:t>students</a:t>
            </a:r>
            <a:r>
              <a:rPr sz="4350" spc="-6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4350" spc="-55" dirty="0">
                <a:solidFill>
                  <a:srgbClr val="1F1F1F"/>
                </a:solidFill>
                <a:latin typeface="Calibri"/>
                <a:cs typeface="Calibri"/>
              </a:rPr>
              <a:t>identified</a:t>
            </a:r>
            <a:endParaRPr sz="4350">
              <a:latin typeface="Calibri"/>
              <a:cs typeface="Calibri"/>
            </a:endParaRPr>
          </a:p>
          <a:p>
            <a:pPr algn="ctr">
              <a:lnSpc>
                <a:spcPts val="4755"/>
              </a:lnSpc>
            </a:pPr>
            <a:r>
              <a:rPr sz="4200" spc="-50" dirty="0">
                <a:solidFill>
                  <a:srgbClr val="1F1F1F"/>
                </a:solidFill>
                <a:latin typeface="Calibri"/>
                <a:cs typeface="Calibri"/>
              </a:rPr>
              <a:t>with</a:t>
            </a:r>
            <a:r>
              <a:rPr sz="4200" spc="-3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4200" spc="6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4200" spc="-3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4200" spc="-105" dirty="0">
                <a:solidFill>
                  <a:srgbClr val="1C1C1C"/>
                </a:solidFill>
                <a:latin typeface="Calibri"/>
                <a:cs typeface="Calibri"/>
              </a:rPr>
              <a:t>high</a:t>
            </a:r>
            <a:r>
              <a:rPr sz="4200" spc="-19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4200" spc="-70" dirty="0">
                <a:solidFill>
                  <a:srgbClr val="1F1F1F"/>
                </a:solidFill>
                <a:latin typeface="Calibri"/>
                <a:cs typeface="Calibri"/>
              </a:rPr>
              <a:t>probability</a:t>
            </a:r>
            <a:r>
              <a:rPr sz="4200" spc="-1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4200" spc="-80" dirty="0">
                <a:solidFill>
                  <a:srgbClr val="242424"/>
                </a:solidFill>
                <a:latin typeface="Calibri"/>
                <a:cs typeface="Calibri"/>
              </a:rPr>
              <a:t>of</a:t>
            </a:r>
            <a:r>
              <a:rPr sz="4200" spc="-25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4200" spc="-105" dirty="0">
                <a:solidFill>
                  <a:srgbClr val="1A1A1A"/>
                </a:solidFill>
                <a:latin typeface="Calibri"/>
                <a:cs typeface="Calibri"/>
              </a:rPr>
              <a:t>dropping</a:t>
            </a:r>
            <a:r>
              <a:rPr sz="4200" spc="-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4200" spc="-20" dirty="0">
                <a:solidFill>
                  <a:srgbClr val="282828"/>
                </a:solidFill>
                <a:latin typeface="Calibri"/>
                <a:cs typeface="Calibri"/>
              </a:rPr>
              <a:t>out.</a:t>
            </a:r>
            <a:endParaRPr sz="4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9029" y="8010525"/>
            <a:ext cx="15502890" cy="12801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415">
              <a:lnSpc>
                <a:spcPts val="4835"/>
              </a:lnSpc>
              <a:spcBef>
                <a:spcPts val="125"/>
              </a:spcBef>
            </a:pPr>
            <a:r>
              <a:rPr sz="4350" spc="-20" dirty="0">
                <a:solidFill>
                  <a:srgbClr val="282828"/>
                </a:solidFill>
                <a:latin typeface="Calibri"/>
                <a:cs typeface="Calibri"/>
              </a:rPr>
              <a:t>This</a:t>
            </a:r>
            <a:r>
              <a:rPr sz="4350" spc="-229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4350" spc="-10" dirty="0">
                <a:solidFill>
                  <a:srgbClr val="242424"/>
                </a:solidFill>
                <a:latin typeface="Calibri"/>
                <a:cs typeface="Calibri"/>
              </a:rPr>
              <a:t>is</a:t>
            </a:r>
            <a:r>
              <a:rPr sz="4350" spc="-34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4350" spc="-100" dirty="0">
                <a:solidFill>
                  <a:srgbClr val="2D2D2D"/>
                </a:solidFill>
                <a:latin typeface="Calibri"/>
                <a:cs typeface="Calibri"/>
              </a:rPr>
              <a:t>no</a:t>
            </a:r>
            <a:r>
              <a:rPr sz="4350" spc="-30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4350" spc="-100" dirty="0">
                <a:solidFill>
                  <a:srgbClr val="262626"/>
                </a:solidFill>
                <a:latin typeface="Calibri"/>
                <a:cs typeface="Calibri"/>
              </a:rPr>
              <a:t>longer</a:t>
            </a:r>
            <a:r>
              <a:rPr sz="4350" spc="-1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4350" spc="-30" dirty="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sz="4350" spc="-39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4350" spc="-75" dirty="0">
                <a:solidFill>
                  <a:srgbClr val="262626"/>
                </a:solidFill>
                <a:latin typeface="Calibri"/>
                <a:cs typeface="Calibri"/>
              </a:rPr>
              <a:t>historical</a:t>
            </a:r>
            <a:r>
              <a:rPr sz="4350" spc="-5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4350" spc="-95" dirty="0">
                <a:solidFill>
                  <a:srgbClr val="242424"/>
                </a:solidFill>
                <a:latin typeface="Calibri"/>
                <a:cs typeface="Calibri"/>
              </a:rPr>
              <a:t>analysis;</a:t>
            </a:r>
            <a:r>
              <a:rPr sz="4350" spc="-17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4350" spc="70" dirty="0">
                <a:solidFill>
                  <a:srgbClr val="282828"/>
                </a:solidFill>
                <a:latin typeface="Calibri"/>
                <a:cs typeface="Calibri"/>
              </a:rPr>
              <a:t>it</a:t>
            </a:r>
            <a:r>
              <a:rPr sz="4350" spc="-40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4350" spc="65" dirty="0">
                <a:solidFill>
                  <a:srgbClr val="2A2A2A"/>
                </a:solidFill>
                <a:latin typeface="Calibri"/>
                <a:cs typeface="Calibri"/>
              </a:rPr>
              <a:t>is</a:t>
            </a:r>
            <a:r>
              <a:rPr sz="4350" spc="-35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4350" spc="-30" dirty="0">
                <a:solidFill>
                  <a:srgbClr val="2A2A2A"/>
                </a:solidFill>
                <a:latin typeface="Calibri"/>
                <a:cs typeface="Calibri"/>
              </a:rPr>
              <a:t>a</a:t>
            </a:r>
            <a:r>
              <a:rPr sz="4350" spc="-39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4350" spc="-85" dirty="0">
                <a:solidFill>
                  <a:srgbClr val="2A2A2A"/>
                </a:solidFill>
                <a:latin typeface="Calibri"/>
                <a:cs typeface="Calibri"/>
              </a:rPr>
              <a:t>live,</a:t>
            </a:r>
            <a:r>
              <a:rPr sz="4350" spc="-36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en-PH" sz="4350" spc="-70" dirty="0">
                <a:solidFill>
                  <a:srgbClr val="282828"/>
                </a:solidFill>
                <a:latin typeface="Calibri"/>
                <a:cs typeface="Calibri"/>
              </a:rPr>
              <a:t>prioritized </a:t>
            </a:r>
            <a:r>
              <a:rPr sz="4350" spc="-10" dirty="0">
                <a:solidFill>
                  <a:srgbClr val="2A2A2A"/>
                </a:solidFill>
                <a:latin typeface="Calibri"/>
                <a:cs typeface="Calibri"/>
              </a:rPr>
              <a:t>list</a:t>
            </a:r>
            <a:r>
              <a:rPr sz="4350" spc="-31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4350" spc="-75" dirty="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r>
              <a:rPr sz="4350" spc="-2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4350" spc="-30" dirty="0">
                <a:solidFill>
                  <a:srgbClr val="2D2D2D"/>
                </a:solidFill>
                <a:latin typeface="Calibri"/>
                <a:cs typeface="Calibri"/>
              </a:rPr>
              <a:t>student</a:t>
            </a:r>
            <a:endParaRPr sz="4350" dirty="0">
              <a:latin typeface="Calibri"/>
              <a:cs typeface="Calibri"/>
            </a:endParaRPr>
          </a:p>
          <a:p>
            <a:pPr marL="12700">
              <a:lnSpc>
                <a:spcPts val="5015"/>
              </a:lnSpc>
            </a:pPr>
            <a:r>
              <a:rPr sz="4500" spc="-190" dirty="0">
                <a:solidFill>
                  <a:srgbClr val="212121"/>
                </a:solidFill>
                <a:latin typeface="Calibri"/>
                <a:cs typeface="Calibri"/>
              </a:rPr>
              <a:t>support</a:t>
            </a:r>
            <a:r>
              <a:rPr sz="45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4500" spc="-130" dirty="0">
                <a:solidFill>
                  <a:srgbClr val="262626"/>
                </a:solidFill>
                <a:latin typeface="Calibri"/>
                <a:cs typeface="Calibri"/>
              </a:rPr>
              <a:t>services</a:t>
            </a:r>
            <a:r>
              <a:rPr sz="4500" spc="-3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4500" spc="-165" dirty="0">
                <a:solidFill>
                  <a:srgbClr val="313131"/>
                </a:solidFill>
                <a:latin typeface="Calibri"/>
                <a:cs typeface="Calibri"/>
              </a:rPr>
              <a:t>to</a:t>
            </a:r>
            <a:r>
              <a:rPr sz="4500" spc="-34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4500" spc="-175" dirty="0">
                <a:solidFill>
                  <a:srgbClr val="232323"/>
                </a:solidFill>
                <a:latin typeface="Calibri"/>
                <a:cs typeface="Calibri"/>
              </a:rPr>
              <a:t>begin</a:t>
            </a:r>
            <a:r>
              <a:rPr sz="4500" spc="-1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4500" spc="-190" dirty="0">
                <a:solidFill>
                  <a:srgbClr val="282828"/>
                </a:solidFill>
                <a:latin typeface="Calibri"/>
                <a:cs typeface="Calibri"/>
              </a:rPr>
              <a:t>targeted</a:t>
            </a:r>
            <a:r>
              <a:rPr sz="4500" spc="-13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4500" spc="-175" dirty="0">
                <a:solidFill>
                  <a:srgbClr val="262626"/>
                </a:solidFill>
                <a:latin typeface="Calibri"/>
                <a:cs typeface="Calibri"/>
              </a:rPr>
              <a:t>outreach</a:t>
            </a:r>
            <a:r>
              <a:rPr sz="4500" spc="-5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4500" spc="-270" dirty="0">
                <a:solidFill>
                  <a:srgbClr val="282828"/>
                </a:solidFill>
                <a:latin typeface="Calibri"/>
                <a:cs typeface="Calibri"/>
              </a:rPr>
              <a:t>today.</a:t>
            </a:r>
            <a:endParaRPr sz="4500" dirty="0">
              <a:latin typeface="Calibri"/>
              <a:cs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0DD469-17C7-ADBD-ADE0-6DE07043B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200" y="2947232"/>
            <a:ext cx="6477000" cy="49258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619788" y="469899"/>
            <a:ext cx="7728583" cy="1487202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5240" marR="5080" indent="-3175">
              <a:lnSpc>
                <a:spcPts val="5550"/>
              </a:lnSpc>
              <a:spcBef>
                <a:spcPts val="650"/>
              </a:spcBef>
            </a:pPr>
            <a:r>
              <a:rPr sz="4400" dirty="0">
                <a:solidFill>
                  <a:srgbClr val="03284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Understanding</a:t>
            </a:r>
            <a:r>
              <a:rPr sz="4400" spc="835" dirty="0">
                <a:solidFill>
                  <a:srgbClr val="03284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85" dirty="0">
                <a:solidFill>
                  <a:srgbClr val="05264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the</a:t>
            </a:r>
            <a:r>
              <a:rPr sz="4400" spc="215" dirty="0">
                <a:solidFill>
                  <a:srgbClr val="05264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-10" dirty="0">
                <a:solidFill>
                  <a:srgbClr val="072D4F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‘Why’ </a:t>
            </a:r>
            <a:r>
              <a:rPr sz="4400" dirty="0">
                <a:solidFill>
                  <a:srgbClr val="01284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Behind</a:t>
            </a:r>
            <a:r>
              <a:rPr sz="4400" spc="175" dirty="0">
                <a:solidFill>
                  <a:srgbClr val="01284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130" dirty="0">
                <a:solidFill>
                  <a:srgbClr val="01233F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the</a:t>
            </a:r>
            <a:r>
              <a:rPr sz="4400" spc="10" dirty="0">
                <a:solidFill>
                  <a:srgbClr val="01233F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dirty="0">
                <a:solidFill>
                  <a:srgbClr val="012A4D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Risk</a:t>
            </a:r>
            <a:r>
              <a:rPr sz="4400" spc="265" dirty="0">
                <a:solidFill>
                  <a:srgbClr val="012A4D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120" dirty="0">
                <a:solidFill>
                  <a:srgbClr val="03284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at</a:t>
            </a:r>
            <a:r>
              <a:rPr sz="4400" spc="55" dirty="0">
                <a:solidFill>
                  <a:srgbClr val="03284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400" spc="70" dirty="0">
                <a:solidFill>
                  <a:srgbClr val="05233F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Scale</a:t>
            </a:r>
            <a:endParaRPr sz="44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5976" y="2057400"/>
            <a:ext cx="7719197" cy="1041119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 indent="3175">
              <a:lnSpc>
                <a:spcPct val="87700"/>
              </a:lnSpc>
              <a:spcBef>
                <a:spcPts val="515"/>
              </a:spcBef>
            </a:pPr>
            <a:r>
              <a:rPr sz="2400" spc="-125" dirty="0">
                <a:latin typeface="Calibri"/>
                <a:cs typeface="Calibri"/>
              </a:rPr>
              <a:t>The</a:t>
            </a:r>
            <a:r>
              <a:rPr sz="2400" spc="-280" dirty="0">
                <a:latin typeface="Calibri"/>
                <a:cs typeface="Calibri"/>
              </a:rPr>
              <a:t> </a:t>
            </a:r>
            <a:r>
              <a:rPr sz="2400" spc="-215" dirty="0">
                <a:latin typeface="Calibri"/>
                <a:cs typeface="Calibri"/>
              </a:rPr>
              <a:t>model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70" dirty="0">
                <a:latin typeface="Calibri"/>
                <a:cs typeface="Calibri"/>
              </a:rPr>
              <a:t>doesn't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-150" dirty="0">
                <a:latin typeface="Calibri"/>
                <a:cs typeface="Calibri"/>
              </a:rPr>
              <a:t>just</a:t>
            </a:r>
            <a:r>
              <a:rPr sz="2400" spc="-165" dirty="0">
                <a:latin typeface="Calibri"/>
                <a:cs typeface="Calibri"/>
              </a:rPr>
              <a:t> </a:t>
            </a:r>
            <a:r>
              <a:rPr sz="2400" spc="-110" dirty="0">
                <a:latin typeface="Calibri"/>
                <a:cs typeface="Calibri"/>
              </a:rPr>
              <a:t>tell</a:t>
            </a:r>
            <a:r>
              <a:rPr sz="2400" spc="-155" dirty="0">
                <a:latin typeface="Calibri"/>
                <a:cs typeface="Calibri"/>
              </a:rPr>
              <a:t> us</a:t>
            </a:r>
            <a:r>
              <a:rPr lang="en-PH" sz="2400" spc="-175" dirty="0">
                <a:latin typeface="Calibri"/>
                <a:cs typeface="Calibri"/>
              </a:rPr>
              <a:t> who </a:t>
            </a:r>
            <a:r>
              <a:rPr sz="2400" spc="-10" dirty="0">
                <a:latin typeface="Calibri"/>
                <a:cs typeface="Calibri"/>
              </a:rPr>
              <a:t>is</a:t>
            </a:r>
            <a:r>
              <a:rPr sz="2400" spc="-240" dirty="0">
                <a:latin typeface="Calibri"/>
                <a:cs typeface="Calibri"/>
              </a:rPr>
              <a:t> </a:t>
            </a:r>
            <a:r>
              <a:rPr sz="2400" spc="-135" dirty="0">
                <a:latin typeface="Calibri"/>
                <a:cs typeface="Calibri"/>
              </a:rPr>
              <a:t>at</a:t>
            </a:r>
            <a:r>
              <a:rPr sz="2400" spc="-170" dirty="0">
                <a:latin typeface="Calibri"/>
                <a:cs typeface="Calibri"/>
              </a:rPr>
              <a:t> </a:t>
            </a:r>
            <a:r>
              <a:rPr sz="2400" spc="-100" dirty="0">
                <a:latin typeface="Calibri"/>
                <a:cs typeface="Calibri"/>
              </a:rPr>
              <a:t>risk;</a:t>
            </a:r>
            <a:r>
              <a:rPr sz="2400" spc="-200" dirty="0">
                <a:latin typeface="Calibri"/>
                <a:cs typeface="Calibri"/>
              </a:rPr>
              <a:t> </a:t>
            </a:r>
            <a:r>
              <a:rPr sz="2400" spc="-160" dirty="0">
                <a:latin typeface="Calibri"/>
                <a:cs typeface="Calibri"/>
              </a:rPr>
              <a:t>using</a:t>
            </a:r>
            <a:r>
              <a:rPr sz="2400" spc="-35" dirty="0">
                <a:latin typeface="Calibri"/>
                <a:cs typeface="Calibri"/>
              </a:rPr>
              <a:t> SHAP </a:t>
            </a:r>
            <a:r>
              <a:rPr sz="2400" spc="-135" dirty="0">
                <a:latin typeface="Calibri"/>
                <a:cs typeface="Calibri"/>
              </a:rPr>
              <a:t>analysis,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it</a:t>
            </a:r>
            <a:r>
              <a:rPr sz="2400" spc="-210" dirty="0">
                <a:latin typeface="Calibri"/>
                <a:cs typeface="Calibri"/>
              </a:rPr>
              <a:t> </a:t>
            </a:r>
            <a:r>
              <a:rPr sz="2400" spc="-160" dirty="0">
                <a:latin typeface="Calibri"/>
                <a:cs typeface="Calibri"/>
              </a:rPr>
              <a:t>can </a:t>
            </a:r>
            <a:r>
              <a:rPr sz="2400" spc="-110" dirty="0">
                <a:latin typeface="Calibri"/>
                <a:cs typeface="Calibri"/>
              </a:rPr>
              <a:t>tell</a:t>
            </a:r>
            <a:r>
              <a:rPr sz="2400" spc="-260" dirty="0">
                <a:latin typeface="Calibri"/>
                <a:cs typeface="Calibri"/>
              </a:rPr>
              <a:t> </a:t>
            </a:r>
            <a:r>
              <a:rPr sz="2400" spc="-100" dirty="0">
                <a:latin typeface="Calibri"/>
                <a:cs typeface="Calibri"/>
              </a:rPr>
              <a:t>us</a:t>
            </a:r>
            <a:r>
              <a:rPr sz="2400" spc="-150" dirty="0">
                <a:latin typeface="Calibri"/>
                <a:cs typeface="Calibri"/>
              </a:rPr>
              <a:t> </a:t>
            </a:r>
            <a:r>
              <a:rPr sz="2400" spc="-190" dirty="0">
                <a:latin typeface="Calibri"/>
                <a:cs typeface="Calibri"/>
              </a:rPr>
              <a:t>why.</a:t>
            </a:r>
            <a:r>
              <a:rPr sz="2400" spc="-250" dirty="0">
                <a:latin typeface="Calibri"/>
                <a:cs typeface="Calibri"/>
              </a:rPr>
              <a:t> </a:t>
            </a:r>
            <a:r>
              <a:rPr sz="2400" spc="-114" dirty="0">
                <a:latin typeface="Calibri"/>
                <a:cs typeface="Calibri"/>
              </a:rPr>
              <a:t>This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70" dirty="0">
                <a:latin typeface="Calibri"/>
                <a:cs typeface="Calibri"/>
              </a:rPr>
              <a:t>allows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55" dirty="0">
                <a:latin typeface="Calibri"/>
                <a:cs typeface="Calibri"/>
              </a:rPr>
              <a:t>us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25" dirty="0">
                <a:latin typeface="Calibri"/>
                <a:cs typeface="Calibri"/>
              </a:rPr>
              <a:t>to</a:t>
            </a:r>
            <a:r>
              <a:rPr sz="2400" spc="-204" dirty="0">
                <a:latin typeface="Calibri"/>
                <a:cs typeface="Calibri"/>
              </a:rPr>
              <a:t> </a:t>
            </a:r>
            <a:r>
              <a:rPr sz="2400" spc="-180" dirty="0">
                <a:latin typeface="Calibri"/>
                <a:cs typeface="Calibri"/>
              </a:rPr>
              <a:t>see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55" dirty="0">
                <a:latin typeface="Calibri"/>
                <a:cs typeface="Calibri"/>
              </a:rPr>
              <a:t>systemic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135" dirty="0">
                <a:latin typeface="Calibri"/>
                <a:cs typeface="Calibri"/>
              </a:rPr>
              <a:t>factors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65" dirty="0">
                <a:latin typeface="Calibri"/>
                <a:cs typeface="Calibri"/>
              </a:rPr>
              <a:t>that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60" dirty="0">
                <a:latin typeface="Calibri"/>
                <a:cs typeface="Calibri"/>
              </a:rPr>
              <a:t>influence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spc="-165" dirty="0">
                <a:latin typeface="Calibri"/>
                <a:cs typeface="Calibri"/>
              </a:rPr>
              <a:t>student </a:t>
            </a:r>
            <a:r>
              <a:rPr sz="2400" spc="-120" dirty="0">
                <a:latin typeface="Calibri"/>
                <a:cs typeface="Calibri"/>
              </a:rPr>
              <a:t>success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across </a:t>
            </a:r>
            <a:r>
              <a:rPr sz="2400" spc="-165" dirty="0">
                <a:latin typeface="Calibri"/>
                <a:cs typeface="Calibri"/>
              </a:rPr>
              <a:t>the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45" dirty="0">
                <a:latin typeface="Calibri"/>
                <a:cs typeface="Calibri"/>
              </a:rPr>
              <a:t>entire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95" dirty="0">
                <a:latin typeface="Calibri"/>
                <a:cs typeface="Calibri"/>
              </a:rPr>
              <a:t>population.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9788" y="3276600"/>
            <a:ext cx="7728583" cy="376365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3240"/>
              </a:lnSpc>
              <a:spcBef>
                <a:spcPts val="114"/>
              </a:spcBef>
            </a:pPr>
            <a:r>
              <a:rPr sz="2900" b="1" spc="-155" dirty="0">
                <a:latin typeface="Calibri"/>
                <a:cs typeface="Calibri"/>
              </a:rPr>
              <a:t>How</a:t>
            </a:r>
            <a:r>
              <a:rPr sz="2900" b="1" spc="-135" dirty="0">
                <a:latin typeface="Calibri"/>
                <a:cs typeface="Calibri"/>
              </a:rPr>
              <a:t> </a:t>
            </a:r>
            <a:r>
              <a:rPr sz="2900" b="1" spc="-110" dirty="0">
                <a:latin typeface="Calibri"/>
                <a:cs typeface="Calibri"/>
              </a:rPr>
              <a:t>to</a:t>
            </a:r>
            <a:r>
              <a:rPr sz="2900" b="1" spc="-250" dirty="0">
                <a:latin typeface="Calibri"/>
                <a:cs typeface="Calibri"/>
              </a:rPr>
              <a:t> </a:t>
            </a:r>
            <a:r>
              <a:rPr sz="2900" b="1" spc="-175" dirty="0">
                <a:latin typeface="Calibri"/>
                <a:cs typeface="Calibri"/>
              </a:rPr>
              <a:t>Read</a:t>
            </a:r>
            <a:r>
              <a:rPr sz="2900" b="1" spc="-30" dirty="0">
                <a:latin typeface="Calibri"/>
                <a:cs typeface="Calibri"/>
              </a:rPr>
              <a:t> </a:t>
            </a:r>
            <a:r>
              <a:rPr sz="2900" b="1" spc="-170" dirty="0">
                <a:latin typeface="Calibri"/>
                <a:cs typeface="Calibri"/>
              </a:rPr>
              <a:t>the</a:t>
            </a:r>
            <a:r>
              <a:rPr sz="2900" b="1" spc="-315" dirty="0">
                <a:latin typeface="Calibri"/>
                <a:cs typeface="Calibri"/>
              </a:rPr>
              <a:t> </a:t>
            </a:r>
            <a:r>
              <a:rPr sz="2900" b="1" spc="-10" dirty="0">
                <a:latin typeface="Calibri"/>
                <a:cs typeface="Calibri"/>
              </a:rPr>
              <a:t>Chart</a:t>
            </a:r>
            <a:endParaRPr lang="en-PH" sz="2900" b="1" dirty="0">
              <a:latin typeface="Calibri"/>
              <a:cs typeface="Calibri"/>
            </a:endParaRPr>
          </a:p>
          <a:p>
            <a:pPr marL="469900" indent="-457200">
              <a:lnSpc>
                <a:spcPts val="3240"/>
              </a:lnSpc>
              <a:spcBef>
                <a:spcPts val="114"/>
              </a:spcBef>
              <a:buFont typeface="Arial" panose="020B0604020202020204" pitchFamily="34" charset="0"/>
              <a:buChar char="•"/>
            </a:pPr>
            <a:r>
              <a:rPr lang="en-US" sz="2400" spc="-180" dirty="0">
                <a:latin typeface="Calibri"/>
                <a:cs typeface="Calibri"/>
              </a:rPr>
              <a:t>Target class: Class 0 = Dropout</a:t>
            </a:r>
          </a:p>
          <a:p>
            <a:pPr marL="469900" indent="-457200">
              <a:lnSpc>
                <a:spcPts val="3240"/>
              </a:lnSpc>
              <a:spcBef>
                <a:spcPts val="114"/>
              </a:spcBef>
              <a:buFont typeface="Arial" panose="020B0604020202020204" pitchFamily="34" charset="0"/>
              <a:buChar char="•"/>
            </a:pPr>
            <a:r>
              <a:rPr lang="en-US" sz="2400" spc="-180" dirty="0">
                <a:latin typeface="Calibri"/>
                <a:cs typeface="Calibri"/>
              </a:rPr>
              <a:t>Y-axis: Features ranked by importance (top = most influential)</a:t>
            </a:r>
          </a:p>
          <a:p>
            <a:pPr marL="469900" indent="-457200">
              <a:lnSpc>
                <a:spcPts val="3240"/>
              </a:lnSpc>
              <a:spcBef>
                <a:spcPts val="114"/>
              </a:spcBef>
              <a:buFont typeface="Arial" panose="020B0604020202020204" pitchFamily="34" charset="0"/>
              <a:buChar char="•"/>
            </a:pPr>
            <a:r>
              <a:rPr lang="en-US" sz="2400" spc="-180" dirty="0">
                <a:latin typeface="Calibri"/>
                <a:cs typeface="Calibri"/>
              </a:rPr>
              <a:t>X-axis: SHAP value = impact on model output (positive = pushes toward dropout, negative = pushes away)</a:t>
            </a:r>
          </a:p>
          <a:p>
            <a:pPr marL="469900" indent="-457200">
              <a:lnSpc>
                <a:spcPts val="3240"/>
              </a:lnSpc>
              <a:spcBef>
                <a:spcPts val="114"/>
              </a:spcBef>
              <a:buFont typeface="Arial" panose="020B0604020202020204" pitchFamily="34" charset="0"/>
              <a:buChar char="•"/>
            </a:pPr>
            <a:r>
              <a:rPr lang="en-US" sz="2400" spc="-180" dirty="0">
                <a:latin typeface="Calibri"/>
                <a:cs typeface="Calibri"/>
              </a:rPr>
              <a:t>Dots: Each dot = one student</a:t>
            </a:r>
          </a:p>
          <a:p>
            <a:pPr marL="901700" indent="-457200">
              <a:lnSpc>
                <a:spcPts val="3240"/>
              </a:lnSpc>
              <a:spcBef>
                <a:spcPts val="114"/>
              </a:spcBef>
              <a:buFont typeface="Wingdings" panose="05000000000000000000" pitchFamily="2" charset="2"/>
              <a:buChar char="§"/>
            </a:pPr>
            <a:r>
              <a:rPr lang="en-US" sz="2400" spc="-180" dirty="0">
                <a:latin typeface="Calibri"/>
                <a:cs typeface="Calibri"/>
              </a:rPr>
              <a:t>Color: Feature value (blue = low, red = high)</a:t>
            </a:r>
          </a:p>
          <a:p>
            <a:pPr marL="901700" indent="-457200">
              <a:lnSpc>
                <a:spcPts val="3240"/>
              </a:lnSpc>
              <a:spcBef>
                <a:spcPts val="114"/>
              </a:spcBef>
              <a:buFont typeface="Wingdings" panose="05000000000000000000" pitchFamily="2" charset="2"/>
              <a:buChar char="§"/>
            </a:pPr>
            <a:r>
              <a:rPr lang="en-US" sz="2400" spc="-180" dirty="0">
                <a:latin typeface="Calibri"/>
                <a:cs typeface="Calibri"/>
              </a:rPr>
              <a:t>Position: SHAP value (left = pushes toward dropout, right = pushes away)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6819" y="7391400"/>
            <a:ext cx="7722711" cy="18460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60"/>
              </a:lnSpc>
              <a:spcBef>
                <a:spcPts val="95"/>
              </a:spcBef>
            </a:pPr>
            <a:r>
              <a:rPr sz="2850" b="1" spc="-100" dirty="0">
                <a:latin typeface="Calibri"/>
                <a:cs typeface="Calibri"/>
              </a:rPr>
              <a:t>Strategic</a:t>
            </a:r>
            <a:r>
              <a:rPr sz="2850" b="1" spc="5" dirty="0">
                <a:latin typeface="Calibri"/>
                <a:cs typeface="Calibri"/>
              </a:rPr>
              <a:t> </a:t>
            </a:r>
            <a:r>
              <a:rPr sz="2850" b="1" spc="-10" dirty="0">
                <a:latin typeface="Calibri"/>
                <a:cs typeface="Calibri"/>
              </a:rPr>
              <a:t>Insight</a:t>
            </a:r>
            <a:endParaRPr sz="2850" b="1" dirty="0">
              <a:latin typeface="Calibri"/>
              <a:cs typeface="Calibri"/>
            </a:endParaRPr>
          </a:p>
          <a:p>
            <a:pPr marL="22225" marR="5080" indent="-2540">
              <a:lnSpc>
                <a:spcPct val="90400"/>
              </a:lnSpc>
              <a:spcBef>
                <a:spcPts val="170"/>
              </a:spcBef>
            </a:pPr>
            <a:r>
              <a:rPr sz="2400" spc="-160" dirty="0">
                <a:latin typeface="Calibri"/>
                <a:cs typeface="Calibri"/>
              </a:rPr>
              <a:t>Poor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0" dirty="0">
                <a:latin typeface="Calibri"/>
                <a:cs typeface="Calibri"/>
              </a:rPr>
              <a:t>academic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-185" dirty="0">
                <a:latin typeface="Calibri"/>
                <a:cs typeface="Calibri"/>
              </a:rPr>
              <a:t>performance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140" dirty="0">
                <a:latin typeface="Calibri"/>
                <a:cs typeface="Calibri"/>
              </a:rPr>
              <a:t>in</a:t>
            </a:r>
            <a:r>
              <a:rPr sz="2400" spc="-210" dirty="0">
                <a:latin typeface="Calibri"/>
                <a:cs typeface="Calibri"/>
              </a:rPr>
              <a:t> </a:t>
            </a:r>
            <a:r>
              <a:rPr sz="2400" spc="-165" dirty="0">
                <a:latin typeface="Calibri"/>
                <a:cs typeface="Calibri"/>
              </a:rPr>
              <a:t>the</a:t>
            </a:r>
            <a:r>
              <a:rPr sz="2400" spc="-204" dirty="0">
                <a:latin typeface="Calibri"/>
                <a:cs typeface="Calibri"/>
              </a:rPr>
              <a:t> </a:t>
            </a:r>
            <a:r>
              <a:rPr sz="2400" spc="-175" dirty="0">
                <a:latin typeface="Calibri"/>
                <a:cs typeface="Calibri"/>
              </a:rPr>
              <a:t>second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85" dirty="0">
                <a:latin typeface="Calibri"/>
                <a:cs typeface="Calibri"/>
              </a:rPr>
              <a:t>semester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(e.g., </a:t>
            </a:r>
            <a:r>
              <a:rPr sz="2400" spc="-170" dirty="0">
                <a:latin typeface="Calibri"/>
                <a:cs typeface="Calibri"/>
              </a:rPr>
              <a:t>low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0" dirty="0">
                <a:latin typeface="Calibri"/>
                <a:cs typeface="Calibri"/>
              </a:rPr>
              <a:t>grades,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40" dirty="0">
                <a:latin typeface="Calibri"/>
                <a:cs typeface="Calibri"/>
              </a:rPr>
              <a:t>fewer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60" dirty="0">
                <a:latin typeface="Calibri"/>
                <a:cs typeface="Calibri"/>
              </a:rPr>
              <a:t>approved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5" dirty="0">
                <a:latin typeface="Calibri"/>
                <a:cs typeface="Calibri"/>
              </a:rPr>
              <a:t>units)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is</a:t>
            </a:r>
            <a:r>
              <a:rPr sz="2400" spc="-210" dirty="0">
                <a:latin typeface="Calibri"/>
                <a:cs typeface="Calibri"/>
              </a:rPr>
              <a:t> </a:t>
            </a:r>
            <a:r>
              <a:rPr sz="2400" spc="-95" dirty="0">
                <a:latin typeface="Calibri"/>
                <a:cs typeface="Calibri"/>
              </a:rPr>
              <a:t>consistently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25" dirty="0">
                <a:latin typeface="Calibri"/>
                <a:cs typeface="Calibri"/>
              </a:rPr>
              <a:t>strongest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14" dirty="0">
                <a:latin typeface="Calibri"/>
                <a:cs typeface="Calibri"/>
              </a:rPr>
              <a:t>factor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30" dirty="0">
                <a:latin typeface="Calibri"/>
                <a:cs typeface="Calibri"/>
              </a:rPr>
              <a:t>pushing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25" dirty="0">
                <a:latin typeface="Calibri"/>
                <a:cs typeface="Calibri"/>
              </a:rPr>
              <a:t>students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35" dirty="0">
                <a:latin typeface="Calibri"/>
                <a:cs typeface="Calibri"/>
              </a:rPr>
              <a:t>towards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45" dirty="0">
                <a:latin typeface="Calibri"/>
                <a:cs typeface="Calibri"/>
              </a:rPr>
              <a:t>dropping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10" dirty="0">
                <a:latin typeface="Calibri"/>
                <a:cs typeface="Calibri"/>
              </a:rPr>
              <a:t>out.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spc="-55" dirty="0">
                <a:latin typeface="Calibri"/>
                <a:cs typeface="Calibri"/>
              </a:rPr>
              <a:t>This</a:t>
            </a:r>
            <a:r>
              <a:rPr sz="2400" spc="-145" dirty="0">
                <a:latin typeface="Calibri"/>
                <a:cs typeface="Calibri"/>
              </a:rPr>
              <a:t> </a:t>
            </a:r>
            <a:r>
              <a:rPr sz="2400" spc="-75" dirty="0">
                <a:latin typeface="Calibri"/>
                <a:cs typeface="Calibri"/>
              </a:rPr>
              <a:t>suggests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85" dirty="0">
                <a:latin typeface="Calibri"/>
                <a:cs typeface="Calibri"/>
              </a:rPr>
              <a:t>focusing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95" dirty="0">
                <a:latin typeface="Calibri"/>
                <a:cs typeface="Calibri"/>
              </a:rPr>
              <a:t>intervention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spc="-85" dirty="0">
                <a:latin typeface="Calibri"/>
                <a:cs typeface="Calibri"/>
              </a:rPr>
              <a:t>resources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at</a:t>
            </a:r>
            <a:r>
              <a:rPr sz="2400" spc="-1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this</a:t>
            </a:r>
            <a:r>
              <a:rPr sz="2400" spc="675" dirty="0">
                <a:latin typeface="Calibri"/>
                <a:cs typeface="Calibri"/>
              </a:rPr>
              <a:t> </a:t>
            </a:r>
            <a:r>
              <a:rPr sz="2400" spc="-75" dirty="0">
                <a:latin typeface="Calibri"/>
                <a:cs typeface="Calibri"/>
              </a:rPr>
              <a:t>critical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juncture.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48A8223-5463-4B55-783A-A501846CC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156" y="469899"/>
            <a:ext cx="7534275" cy="895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227" y="373944"/>
            <a:ext cx="15626080" cy="872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50" spc="-210" dirty="0">
                <a:solidFill>
                  <a:srgbClr val="01264B"/>
                </a:solidFill>
              </a:rPr>
              <a:t>A</a:t>
            </a:r>
            <a:r>
              <a:rPr sz="5550" spc="-120" dirty="0">
                <a:solidFill>
                  <a:srgbClr val="01264B"/>
                </a:solidFill>
              </a:rPr>
              <a:t> </a:t>
            </a:r>
            <a:r>
              <a:rPr sz="5550" dirty="0">
                <a:solidFill>
                  <a:srgbClr val="032144"/>
                </a:solidFill>
              </a:rPr>
              <a:t>Case</a:t>
            </a:r>
            <a:r>
              <a:rPr sz="5550" spc="-105" dirty="0">
                <a:solidFill>
                  <a:srgbClr val="032144"/>
                </a:solidFill>
              </a:rPr>
              <a:t> </a:t>
            </a:r>
            <a:r>
              <a:rPr sz="5550" dirty="0">
                <a:solidFill>
                  <a:srgbClr val="01233F"/>
                </a:solidFill>
              </a:rPr>
              <a:t>Study:</a:t>
            </a:r>
            <a:r>
              <a:rPr sz="5550" spc="-155" dirty="0">
                <a:solidFill>
                  <a:srgbClr val="01233F"/>
                </a:solidFill>
              </a:rPr>
              <a:t> </a:t>
            </a:r>
            <a:r>
              <a:rPr sz="5550" spc="-75" dirty="0">
                <a:solidFill>
                  <a:srgbClr val="012649"/>
                </a:solidFill>
              </a:rPr>
              <a:t>Empowering</a:t>
            </a:r>
            <a:r>
              <a:rPr sz="5550" spc="340" dirty="0">
                <a:solidFill>
                  <a:srgbClr val="012649"/>
                </a:solidFill>
              </a:rPr>
              <a:t> </a:t>
            </a:r>
            <a:r>
              <a:rPr sz="5550" spc="-10" dirty="0">
                <a:solidFill>
                  <a:srgbClr val="011F41"/>
                </a:solidFill>
              </a:rPr>
              <a:t>Evidence-</a:t>
            </a:r>
            <a:r>
              <a:rPr sz="5550" dirty="0">
                <a:solidFill>
                  <a:srgbClr val="011F41"/>
                </a:solidFill>
              </a:rPr>
              <a:t>Based</a:t>
            </a:r>
            <a:r>
              <a:rPr sz="5550" spc="-160" dirty="0">
                <a:solidFill>
                  <a:srgbClr val="011F41"/>
                </a:solidFill>
              </a:rPr>
              <a:t> </a:t>
            </a:r>
            <a:r>
              <a:rPr sz="5550" spc="-40" dirty="0">
                <a:solidFill>
                  <a:srgbClr val="032A50"/>
                </a:solidFill>
              </a:rPr>
              <a:t>Advising</a:t>
            </a:r>
            <a:endParaRPr sz="5550"/>
          </a:p>
        </p:txBody>
      </p:sp>
      <p:sp>
        <p:nvSpPr>
          <p:cNvPr id="4" name="object 4"/>
          <p:cNvSpPr txBox="1"/>
          <p:nvPr/>
        </p:nvSpPr>
        <p:spPr>
          <a:xfrm>
            <a:off x="743621" y="1370894"/>
            <a:ext cx="15207615" cy="90424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3335" marR="5080" indent="-1270">
              <a:lnSpc>
                <a:spcPts val="3250"/>
              </a:lnSpc>
              <a:spcBef>
                <a:spcPts val="555"/>
              </a:spcBef>
            </a:pPr>
            <a:r>
              <a:rPr sz="3050" spc="-55" dirty="0">
                <a:latin typeface="Calibri"/>
                <a:cs typeface="Calibri"/>
              </a:rPr>
              <a:t>Consider</a:t>
            </a:r>
            <a:r>
              <a:rPr sz="3050" spc="40" dirty="0">
                <a:latin typeface="Calibri"/>
                <a:cs typeface="Calibri"/>
              </a:rPr>
              <a:t> </a:t>
            </a:r>
            <a:r>
              <a:rPr sz="3050" spc="-35" dirty="0">
                <a:latin typeface="Calibri"/>
                <a:cs typeface="Calibri"/>
              </a:rPr>
              <a:t>a</a:t>
            </a:r>
            <a:r>
              <a:rPr sz="3050" spc="-210" dirty="0">
                <a:latin typeface="Calibri"/>
                <a:cs typeface="Calibri"/>
              </a:rPr>
              <a:t> </a:t>
            </a:r>
            <a:r>
              <a:rPr sz="3050" spc="-85" dirty="0">
                <a:latin typeface="Calibri"/>
                <a:cs typeface="Calibri"/>
              </a:rPr>
              <a:t>single</a:t>
            </a:r>
            <a:r>
              <a:rPr sz="3050" spc="-114" dirty="0">
                <a:latin typeface="Calibri"/>
                <a:cs typeface="Calibri"/>
              </a:rPr>
              <a:t> </a:t>
            </a:r>
            <a:r>
              <a:rPr sz="3050" spc="-95" dirty="0">
                <a:latin typeface="Calibri"/>
                <a:cs typeface="Calibri"/>
              </a:rPr>
              <a:t>student</a:t>
            </a:r>
            <a:r>
              <a:rPr sz="3050" spc="-15" dirty="0">
                <a:latin typeface="Calibri"/>
                <a:cs typeface="Calibri"/>
              </a:rPr>
              <a:t> </a:t>
            </a:r>
            <a:r>
              <a:rPr sz="3050" spc="-90" dirty="0">
                <a:latin typeface="Calibri"/>
                <a:cs typeface="Calibri"/>
              </a:rPr>
              <a:t>flagged</a:t>
            </a:r>
            <a:r>
              <a:rPr sz="3050" spc="-20" dirty="0">
                <a:latin typeface="Calibri"/>
                <a:cs typeface="Calibri"/>
              </a:rPr>
              <a:t> </a:t>
            </a:r>
            <a:r>
              <a:rPr sz="3050" spc="-100" dirty="0">
                <a:latin typeface="Calibri"/>
                <a:cs typeface="Calibri"/>
              </a:rPr>
              <a:t>by</a:t>
            </a:r>
            <a:r>
              <a:rPr sz="3050" spc="-120" dirty="0">
                <a:latin typeface="Calibri"/>
                <a:cs typeface="Calibri"/>
              </a:rPr>
              <a:t> the</a:t>
            </a:r>
            <a:r>
              <a:rPr sz="3050" spc="-185" dirty="0">
                <a:latin typeface="Calibri"/>
                <a:cs typeface="Calibri"/>
              </a:rPr>
              <a:t> </a:t>
            </a:r>
            <a:r>
              <a:rPr sz="3050" spc="-155" dirty="0">
                <a:latin typeface="Calibri"/>
                <a:cs typeface="Calibri"/>
              </a:rPr>
              <a:t>model</a:t>
            </a:r>
            <a:r>
              <a:rPr sz="3050" spc="-65" dirty="0">
                <a:latin typeface="Calibri"/>
                <a:cs typeface="Calibri"/>
              </a:rPr>
              <a:t> </a:t>
            </a:r>
            <a:r>
              <a:rPr sz="3050" spc="-35" dirty="0">
                <a:latin typeface="Calibri"/>
                <a:cs typeface="Calibri"/>
              </a:rPr>
              <a:t>as</a:t>
            </a:r>
            <a:r>
              <a:rPr sz="3050" spc="-190" dirty="0">
                <a:latin typeface="Calibri"/>
                <a:cs typeface="Calibri"/>
              </a:rPr>
              <a:t> </a:t>
            </a:r>
            <a:r>
              <a:rPr sz="3050" spc="-105" dirty="0">
                <a:latin typeface="Calibri"/>
                <a:cs typeface="Calibri"/>
              </a:rPr>
              <a:t>being</a:t>
            </a:r>
            <a:r>
              <a:rPr sz="3050" spc="-80" dirty="0">
                <a:latin typeface="Calibri"/>
                <a:cs typeface="Calibri"/>
              </a:rPr>
              <a:t> </a:t>
            </a:r>
            <a:r>
              <a:rPr sz="3050" spc="-135" dirty="0">
                <a:latin typeface="Calibri"/>
                <a:cs typeface="Calibri"/>
              </a:rPr>
              <a:t>at</a:t>
            </a:r>
            <a:r>
              <a:rPr sz="3050" spc="-150" dirty="0">
                <a:latin typeface="Calibri"/>
                <a:cs typeface="Calibri"/>
              </a:rPr>
              <a:t> </a:t>
            </a:r>
            <a:r>
              <a:rPr sz="3050" spc="-90" dirty="0">
                <a:latin typeface="Calibri"/>
                <a:cs typeface="Calibri"/>
              </a:rPr>
              <a:t>high</a:t>
            </a:r>
            <a:r>
              <a:rPr sz="3050" spc="-120" dirty="0">
                <a:latin typeface="Calibri"/>
                <a:cs typeface="Calibri"/>
              </a:rPr>
              <a:t> </a:t>
            </a:r>
            <a:r>
              <a:rPr sz="3050" spc="-30" dirty="0">
                <a:latin typeface="Calibri"/>
                <a:cs typeface="Calibri"/>
              </a:rPr>
              <a:t>risk</a:t>
            </a:r>
            <a:r>
              <a:rPr sz="3050" spc="-110" dirty="0">
                <a:latin typeface="Calibri"/>
                <a:cs typeface="Calibri"/>
              </a:rPr>
              <a:t> of</a:t>
            </a:r>
            <a:r>
              <a:rPr sz="3050" spc="-140" dirty="0">
                <a:latin typeface="Calibri"/>
                <a:cs typeface="Calibri"/>
              </a:rPr>
              <a:t> </a:t>
            </a:r>
            <a:r>
              <a:rPr sz="3050" spc="-100" dirty="0">
                <a:latin typeface="Calibri"/>
                <a:cs typeface="Calibri"/>
              </a:rPr>
              <a:t>dropping</a:t>
            </a:r>
            <a:r>
              <a:rPr sz="3050" spc="-20" dirty="0">
                <a:latin typeface="Calibri"/>
                <a:cs typeface="Calibri"/>
              </a:rPr>
              <a:t> </a:t>
            </a:r>
            <a:r>
              <a:rPr sz="3050" spc="-110" dirty="0">
                <a:latin typeface="Calibri"/>
                <a:cs typeface="Calibri"/>
              </a:rPr>
              <a:t>out.</a:t>
            </a:r>
            <a:r>
              <a:rPr sz="3050" spc="-170" dirty="0">
                <a:latin typeface="Calibri"/>
                <a:cs typeface="Calibri"/>
              </a:rPr>
              <a:t> </a:t>
            </a:r>
            <a:r>
              <a:rPr sz="3050" spc="-90" dirty="0">
                <a:latin typeface="Calibri"/>
                <a:cs typeface="Calibri"/>
              </a:rPr>
              <a:t>Instead</a:t>
            </a:r>
            <a:r>
              <a:rPr sz="3050" spc="-195" dirty="0">
                <a:latin typeface="Calibri"/>
                <a:cs typeface="Calibri"/>
              </a:rPr>
              <a:t> </a:t>
            </a:r>
            <a:r>
              <a:rPr sz="3050" spc="-80" dirty="0">
                <a:latin typeface="Calibri"/>
                <a:cs typeface="Calibri"/>
              </a:rPr>
              <a:t>of</a:t>
            </a:r>
            <a:r>
              <a:rPr sz="3050" spc="-30" dirty="0">
                <a:latin typeface="Calibri"/>
                <a:cs typeface="Calibri"/>
              </a:rPr>
              <a:t> </a:t>
            </a:r>
            <a:r>
              <a:rPr sz="3050" spc="-35" dirty="0">
                <a:latin typeface="Calibri"/>
                <a:cs typeface="Calibri"/>
              </a:rPr>
              <a:t>a</a:t>
            </a:r>
            <a:r>
              <a:rPr sz="3050" spc="-27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generic </a:t>
            </a:r>
            <a:r>
              <a:rPr sz="3050" spc="-90" dirty="0">
                <a:latin typeface="Calibri"/>
                <a:cs typeface="Calibri"/>
              </a:rPr>
              <a:t>alert,</a:t>
            </a:r>
            <a:r>
              <a:rPr sz="3050" spc="-175" dirty="0">
                <a:latin typeface="Calibri"/>
                <a:cs typeface="Calibri"/>
              </a:rPr>
              <a:t> </a:t>
            </a:r>
            <a:r>
              <a:rPr sz="3050" spc="-95" dirty="0">
                <a:latin typeface="Calibri"/>
                <a:cs typeface="Calibri"/>
              </a:rPr>
              <a:t>the</a:t>
            </a:r>
            <a:r>
              <a:rPr sz="3050" spc="-175" dirty="0">
                <a:latin typeface="Calibri"/>
                <a:cs typeface="Calibri"/>
              </a:rPr>
              <a:t> </a:t>
            </a:r>
            <a:r>
              <a:rPr sz="3050" spc="-80" dirty="0">
                <a:latin typeface="Calibri"/>
                <a:cs typeface="Calibri"/>
              </a:rPr>
              <a:t>advisor</a:t>
            </a:r>
            <a:r>
              <a:rPr sz="3050" spc="-95" dirty="0">
                <a:latin typeface="Calibri"/>
                <a:cs typeface="Calibri"/>
              </a:rPr>
              <a:t> </a:t>
            </a:r>
            <a:r>
              <a:rPr sz="3050" spc="-65" dirty="0">
                <a:latin typeface="Calibri"/>
                <a:cs typeface="Calibri"/>
              </a:rPr>
              <a:t>receives</a:t>
            </a:r>
            <a:r>
              <a:rPr sz="3050" spc="-100" dirty="0">
                <a:latin typeface="Calibri"/>
                <a:cs typeface="Calibri"/>
              </a:rPr>
              <a:t> </a:t>
            </a:r>
            <a:r>
              <a:rPr sz="3050" spc="-35" dirty="0">
                <a:latin typeface="Calibri"/>
                <a:cs typeface="Calibri"/>
              </a:rPr>
              <a:t>a</a:t>
            </a:r>
            <a:r>
              <a:rPr sz="3050" spc="-330" dirty="0">
                <a:latin typeface="Calibri"/>
                <a:cs typeface="Calibri"/>
              </a:rPr>
              <a:t> </a:t>
            </a:r>
            <a:r>
              <a:rPr sz="3050" spc="-90" dirty="0">
                <a:latin typeface="Calibri"/>
                <a:cs typeface="Calibri"/>
              </a:rPr>
              <a:t>detailed</a:t>
            </a:r>
            <a:r>
              <a:rPr sz="3050" spc="-55" dirty="0">
                <a:latin typeface="Calibri"/>
                <a:cs typeface="Calibri"/>
              </a:rPr>
              <a:t> </a:t>
            </a:r>
            <a:r>
              <a:rPr sz="3050" spc="-75" dirty="0">
                <a:latin typeface="Calibri"/>
                <a:cs typeface="Calibri"/>
              </a:rPr>
              <a:t>diagnostic</a:t>
            </a:r>
            <a:r>
              <a:rPr sz="3050" spc="4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profile.</a:t>
            </a:r>
            <a:endParaRPr sz="305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66400" y="3164647"/>
            <a:ext cx="5806906" cy="4205605"/>
          </a:xfrm>
          <a:prstGeom prst="rect">
            <a:avLst/>
          </a:prstGeom>
          <a:noFill/>
        </p:spPr>
        <p:txBody>
          <a:bodyPr vert="horz" wrap="square" lIns="0" tIns="16700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315"/>
              </a:spcBef>
            </a:pPr>
            <a:r>
              <a:rPr sz="2900" spc="-120" dirty="0">
                <a:latin typeface="Calibri"/>
                <a:cs typeface="Calibri"/>
              </a:rPr>
              <a:t>The</a:t>
            </a:r>
            <a:r>
              <a:rPr sz="2900" spc="-225" dirty="0">
                <a:latin typeface="Calibri"/>
                <a:cs typeface="Calibri"/>
              </a:rPr>
              <a:t> </a:t>
            </a:r>
            <a:r>
              <a:rPr sz="2900" spc="-80" dirty="0">
                <a:latin typeface="Calibri"/>
                <a:cs typeface="Calibri"/>
              </a:rPr>
              <a:t>Diagnostic</a:t>
            </a:r>
            <a:r>
              <a:rPr sz="2900" spc="-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Insight:</a:t>
            </a:r>
            <a:endParaRPr sz="2900" dirty="0">
              <a:latin typeface="Calibri"/>
              <a:cs typeface="Calibri"/>
            </a:endParaRPr>
          </a:p>
          <a:p>
            <a:pPr marL="12700" marR="123189" indent="11430">
              <a:lnSpc>
                <a:spcPct val="92100"/>
              </a:lnSpc>
              <a:spcBef>
                <a:spcPts val="1440"/>
              </a:spcBef>
            </a:pPr>
            <a:r>
              <a:rPr sz="2850" spc="-125" dirty="0">
                <a:latin typeface="Calibri"/>
                <a:cs typeface="Calibri"/>
              </a:rPr>
              <a:t>The</a:t>
            </a:r>
            <a:r>
              <a:rPr sz="2850" spc="-100" dirty="0">
                <a:latin typeface="Calibri"/>
                <a:cs typeface="Calibri"/>
              </a:rPr>
              <a:t> </a:t>
            </a:r>
            <a:r>
              <a:rPr sz="2850" spc="-50" dirty="0">
                <a:latin typeface="Calibri"/>
                <a:cs typeface="Calibri"/>
              </a:rPr>
              <a:t>LIME</a:t>
            </a:r>
            <a:r>
              <a:rPr sz="2850" spc="-75" dirty="0">
                <a:latin typeface="Calibri"/>
                <a:cs typeface="Calibri"/>
              </a:rPr>
              <a:t> </a:t>
            </a:r>
            <a:r>
              <a:rPr sz="2850" spc="-100" dirty="0">
                <a:latin typeface="Calibri"/>
                <a:cs typeface="Calibri"/>
              </a:rPr>
              <a:t>analysis</a:t>
            </a:r>
            <a:r>
              <a:rPr sz="2850" spc="-20" dirty="0">
                <a:latin typeface="Calibri"/>
                <a:cs typeface="Calibri"/>
              </a:rPr>
              <a:t> </a:t>
            </a:r>
            <a:r>
              <a:rPr sz="2850" spc="-170" dirty="0">
                <a:latin typeface="Calibri"/>
                <a:cs typeface="Calibri"/>
              </a:rPr>
              <a:t>shows</a:t>
            </a:r>
            <a:r>
              <a:rPr sz="2850" spc="-50" dirty="0">
                <a:latin typeface="Calibri"/>
                <a:cs typeface="Calibri"/>
              </a:rPr>
              <a:t> </a:t>
            </a:r>
            <a:r>
              <a:rPr sz="2850" spc="-100" dirty="0">
                <a:latin typeface="Calibri"/>
                <a:cs typeface="Calibri"/>
              </a:rPr>
              <a:t>us</a:t>
            </a:r>
            <a:r>
              <a:rPr sz="2850" spc="-210" dirty="0">
                <a:latin typeface="Calibri"/>
                <a:cs typeface="Calibri"/>
              </a:rPr>
              <a:t> </a:t>
            </a:r>
            <a:r>
              <a:rPr sz="2850" spc="-70" dirty="0">
                <a:latin typeface="Calibri"/>
                <a:cs typeface="Calibri"/>
              </a:rPr>
              <a:t>exactly why</a:t>
            </a:r>
            <a:r>
              <a:rPr lang="en-PH" sz="2850" spc="-70" dirty="0">
                <a:latin typeface="Calibri"/>
                <a:cs typeface="Calibri"/>
              </a:rPr>
              <a:t> </a:t>
            </a:r>
            <a:r>
              <a:rPr sz="2850" spc="-70" dirty="0">
                <a:latin typeface="Calibri"/>
                <a:cs typeface="Calibri"/>
              </a:rPr>
              <a:t>this</a:t>
            </a:r>
            <a:r>
              <a:rPr sz="2850" spc="-40" dirty="0">
                <a:latin typeface="Calibri"/>
                <a:cs typeface="Calibri"/>
              </a:rPr>
              <a:t> </a:t>
            </a:r>
            <a:r>
              <a:rPr sz="2850" spc="-120" dirty="0">
                <a:latin typeface="Calibri"/>
                <a:cs typeface="Calibri"/>
              </a:rPr>
              <a:t>student</a:t>
            </a:r>
            <a:r>
              <a:rPr sz="2850" spc="-5" dirty="0">
                <a:latin typeface="Calibri"/>
                <a:cs typeface="Calibri"/>
              </a:rPr>
              <a:t> </a:t>
            </a:r>
            <a:r>
              <a:rPr sz="2850" spc="-10" dirty="0">
                <a:latin typeface="Calibri"/>
                <a:cs typeface="Calibri"/>
              </a:rPr>
              <a:t>is</a:t>
            </a:r>
            <a:r>
              <a:rPr sz="2850" spc="-245" dirty="0">
                <a:latin typeface="Calibri"/>
                <a:cs typeface="Calibri"/>
              </a:rPr>
              <a:t> </a:t>
            </a:r>
            <a:r>
              <a:rPr sz="2850" spc="-90" dirty="0">
                <a:latin typeface="Calibri"/>
                <a:cs typeface="Calibri"/>
              </a:rPr>
              <a:t>at</a:t>
            </a:r>
            <a:r>
              <a:rPr sz="2850" spc="-165" dirty="0">
                <a:latin typeface="Calibri"/>
                <a:cs typeface="Calibri"/>
              </a:rPr>
              <a:t> </a:t>
            </a:r>
            <a:r>
              <a:rPr sz="2850" spc="-70" dirty="0">
                <a:latin typeface="Calibri"/>
                <a:cs typeface="Calibri"/>
              </a:rPr>
              <a:t>risk.</a:t>
            </a:r>
            <a:r>
              <a:rPr sz="2850" spc="-170" dirty="0">
                <a:latin typeface="Calibri"/>
                <a:cs typeface="Calibri"/>
              </a:rPr>
              <a:t> </a:t>
            </a:r>
            <a:r>
              <a:rPr sz="2850" spc="-25" dirty="0">
                <a:latin typeface="Calibri"/>
                <a:cs typeface="Calibri"/>
              </a:rPr>
              <a:t>The </a:t>
            </a:r>
            <a:r>
              <a:rPr sz="2850" spc="-120" dirty="0">
                <a:latin typeface="Calibri"/>
                <a:cs typeface="Calibri"/>
              </a:rPr>
              <a:t>primary</a:t>
            </a:r>
            <a:r>
              <a:rPr sz="2850" dirty="0">
                <a:latin typeface="Calibri"/>
                <a:cs typeface="Calibri"/>
              </a:rPr>
              <a:t> </a:t>
            </a:r>
            <a:r>
              <a:rPr sz="2850" spc="-85" dirty="0">
                <a:latin typeface="Calibri"/>
                <a:cs typeface="Calibri"/>
              </a:rPr>
              <a:t>drivers</a:t>
            </a:r>
            <a:r>
              <a:rPr sz="2850" spc="-40" dirty="0">
                <a:latin typeface="Calibri"/>
                <a:cs typeface="Calibri"/>
              </a:rPr>
              <a:t> </a:t>
            </a:r>
            <a:r>
              <a:rPr sz="2850" spc="-20" dirty="0">
                <a:latin typeface="Calibri"/>
                <a:cs typeface="Calibri"/>
              </a:rPr>
              <a:t>are:</a:t>
            </a:r>
            <a:endParaRPr sz="2850" dirty="0">
              <a:latin typeface="Calibri"/>
              <a:cs typeface="Calibri"/>
            </a:endParaRPr>
          </a:p>
          <a:p>
            <a:pPr marL="210185" indent="-195580">
              <a:lnSpc>
                <a:spcPts val="3175"/>
              </a:lnSpc>
              <a:spcBef>
                <a:spcPts val="1280"/>
              </a:spcBef>
              <a:buChar char="-"/>
              <a:tabLst>
                <a:tab pos="210185" algn="l"/>
              </a:tabLst>
            </a:pPr>
            <a:r>
              <a:rPr sz="2750" spc="170" dirty="0">
                <a:latin typeface="Calibri"/>
                <a:cs typeface="Calibri"/>
              </a:rPr>
              <a:t>A</a:t>
            </a:r>
            <a:r>
              <a:rPr sz="2750" spc="-250" dirty="0">
                <a:latin typeface="Calibri"/>
                <a:cs typeface="Calibri"/>
              </a:rPr>
              <a:t> </a:t>
            </a:r>
            <a:r>
              <a:rPr sz="2750" spc="-65" dirty="0">
                <a:latin typeface="Calibri"/>
                <a:cs typeface="Calibri"/>
              </a:rPr>
              <a:t>low</a:t>
            </a:r>
            <a:r>
              <a:rPr sz="2750" spc="-204" dirty="0">
                <a:latin typeface="Calibri"/>
                <a:cs typeface="Calibri"/>
              </a:rPr>
              <a:t> </a:t>
            </a:r>
            <a:r>
              <a:rPr sz="2750" spc="-130" dirty="0">
                <a:latin typeface="Calibri"/>
                <a:cs typeface="Calibri"/>
              </a:rPr>
              <a:t>number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65" dirty="0">
                <a:latin typeface="Calibri"/>
                <a:cs typeface="Calibri"/>
              </a:rPr>
              <a:t>of</a:t>
            </a:r>
            <a:r>
              <a:rPr sz="2750" spc="-80" dirty="0">
                <a:latin typeface="Calibri"/>
                <a:cs typeface="Calibri"/>
              </a:rPr>
              <a:t> </a:t>
            </a:r>
            <a:r>
              <a:rPr sz="2750" spc="-110" dirty="0">
                <a:latin typeface="Calibri"/>
                <a:cs typeface="Calibri"/>
              </a:rPr>
              <a:t>approved</a:t>
            </a:r>
            <a:r>
              <a:rPr sz="2750" spc="-10" dirty="0">
                <a:latin typeface="Calibri"/>
                <a:cs typeface="Calibri"/>
              </a:rPr>
              <a:t> </a:t>
            </a:r>
            <a:r>
              <a:rPr sz="2750" spc="-65" dirty="0">
                <a:latin typeface="Calibri"/>
                <a:cs typeface="Calibri"/>
              </a:rPr>
              <a:t>units</a:t>
            </a:r>
            <a:r>
              <a:rPr sz="2750" spc="-9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in</a:t>
            </a:r>
            <a:endParaRPr sz="2750" dirty="0">
              <a:latin typeface="Calibri"/>
              <a:cs typeface="Calibri"/>
            </a:endParaRPr>
          </a:p>
          <a:p>
            <a:pPr marL="224154">
              <a:lnSpc>
                <a:spcPts val="3215"/>
              </a:lnSpc>
            </a:pPr>
            <a:r>
              <a:rPr sz="2900" spc="-165" dirty="0">
                <a:latin typeface="Calibri"/>
                <a:cs typeface="Calibri"/>
              </a:rPr>
              <a:t>the</a:t>
            </a:r>
            <a:r>
              <a:rPr sz="2900" spc="-145" dirty="0">
                <a:latin typeface="Calibri"/>
                <a:cs typeface="Calibri"/>
              </a:rPr>
              <a:t> </a:t>
            </a:r>
            <a:r>
              <a:rPr sz="2900" spc="-175" dirty="0">
                <a:latin typeface="Calibri"/>
                <a:cs typeface="Calibri"/>
              </a:rPr>
              <a:t>2nd</a:t>
            </a:r>
            <a:r>
              <a:rPr sz="2900" spc="-135" dirty="0">
                <a:latin typeface="Calibri"/>
                <a:cs typeface="Calibri"/>
              </a:rPr>
              <a:t> </a:t>
            </a:r>
            <a:r>
              <a:rPr sz="2900" spc="-65" dirty="0">
                <a:latin typeface="Calibri"/>
                <a:cs typeface="Calibri"/>
              </a:rPr>
              <a:t>semester.</a:t>
            </a:r>
            <a:endParaRPr sz="2900" dirty="0">
              <a:latin typeface="Calibri"/>
              <a:cs typeface="Calibri"/>
            </a:endParaRPr>
          </a:p>
          <a:p>
            <a:pPr marL="211454" indent="-196850">
              <a:lnSpc>
                <a:spcPts val="3145"/>
              </a:lnSpc>
              <a:buChar char="-"/>
              <a:tabLst>
                <a:tab pos="211454" algn="l"/>
              </a:tabLst>
            </a:pPr>
            <a:r>
              <a:rPr sz="2850" spc="-55" dirty="0">
                <a:latin typeface="Calibri"/>
                <a:cs typeface="Calibri"/>
              </a:rPr>
              <a:t>An</a:t>
            </a:r>
            <a:r>
              <a:rPr sz="2850" spc="-185" dirty="0">
                <a:latin typeface="Calibri"/>
                <a:cs typeface="Calibri"/>
              </a:rPr>
              <a:t> </a:t>
            </a:r>
            <a:r>
              <a:rPr sz="2850" spc="-145" dirty="0">
                <a:latin typeface="Calibri"/>
                <a:cs typeface="Calibri"/>
              </a:rPr>
              <a:t>enrolment</a:t>
            </a:r>
            <a:r>
              <a:rPr sz="2850" spc="30" dirty="0">
                <a:latin typeface="Calibri"/>
                <a:cs typeface="Calibri"/>
              </a:rPr>
              <a:t> </a:t>
            </a:r>
            <a:r>
              <a:rPr sz="2850" spc="-135" dirty="0">
                <a:latin typeface="Calibri"/>
                <a:cs typeface="Calibri"/>
              </a:rPr>
              <a:t>age</a:t>
            </a:r>
            <a:r>
              <a:rPr sz="2850" spc="-120" dirty="0">
                <a:latin typeface="Calibri"/>
                <a:cs typeface="Calibri"/>
              </a:rPr>
              <a:t> </a:t>
            </a:r>
            <a:r>
              <a:rPr sz="2850" spc="-114" dirty="0">
                <a:latin typeface="Calibri"/>
                <a:cs typeface="Calibri"/>
              </a:rPr>
              <a:t>greater</a:t>
            </a:r>
            <a:r>
              <a:rPr sz="2850" spc="10" dirty="0">
                <a:latin typeface="Calibri"/>
                <a:cs typeface="Calibri"/>
              </a:rPr>
              <a:t> </a:t>
            </a:r>
            <a:r>
              <a:rPr sz="2850" spc="-145" dirty="0">
                <a:latin typeface="Calibri"/>
                <a:cs typeface="Calibri"/>
              </a:rPr>
              <a:t>than</a:t>
            </a:r>
            <a:r>
              <a:rPr sz="2850" spc="-175" dirty="0">
                <a:latin typeface="Calibri"/>
                <a:cs typeface="Calibri"/>
              </a:rPr>
              <a:t> </a:t>
            </a:r>
            <a:r>
              <a:rPr sz="2850" spc="-25" dirty="0">
                <a:latin typeface="Calibri"/>
                <a:cs typeface="Calibri"/>
              </a:rPr>
              <a:t>27.</a:t>
            </a:r>
            <a:endParaRPr sz="2850" dirty="0">
              <a:latin typeface="Calibri"/>
              <a:cs typeface="Calibri"/>
            </a:endParaRPr>
          </a:p>
          <a:p>
            <a:pPr marL="212090" indent="-184785">
              <a:lnSpc>
                <a:spcPts val="3125"/>
              </a:lnSpc>
              <a:buChar char="-"/>
              <a:tabLst>
                <a:tab pos="212090" algn="l"/>
              </a:tabLst>
            </a:pPr>
            <a:r>
              <a:rPr sz="2850" spc="-120" dirty="0">
                <a:latin typeface="Calibri"/>
                <a:cs typeface="Calibri"/>
              </a:rPr>
              <a:t>Enrolment</a:t>
            </a:r>
            <a:r>
              <a:rPr sz="2850" spc="50" dirty="0">
                <a:latin typeface="Calibri"/>
                <a:cs typeface="Calibri"/>
              </a:rPr>
              <a:t> </a:t>
            </a:r>
            <a:r>
              <a:rPr sz="2850" spc="-75" dirty="0">
                <a:latin typeface="Calibri"/>
                <a:cs typeface="Calibri"/>
              </a:rPr>
              <a:t>in</a:t>
            </a:r>
            <a:r>
              <a:rPr sz="2850" spc="-229" dirty="0">
                <a:latin typeface="Calibri"/>
                <a:cs typeface="Calibri"/>
              </a:rPr>
              <a:t> </a:t>
            </a:r>
            <a:r>
              <a:rPr sz="2850" spc="-75" dirty="0">
                <a:latin typeface="Calibri"/>
                <a:cs typeface="Calibri"/>
              </a:rPr>
              <a:t>a</a:t>
            </a:r>
            <a:r>
              <a:rPr sz="2850" spc="-225" dirty="0">
                <a:latin typeface="Calibri"/>
                <a:cs typeface="Calibri"/>
              </a:rPr>
              <a:t> </a:t>
            </a:r>
            <a:r>
              <a:rPr sz="2850" spc="-95" dirty="0">
                <a:latin typeface="Calibri"/>
                <a:cs typeface="Calibri"/>
              </a:rPr>
              <a:t>specific</a:t>
            </a:r>
            <a:r>
              <a:rPr sz="2850" spc="-60" dirty="0">
                <a:latin typeface="Calibri"/>
                <a:cs typeface="Calibri"/>
              </a:rPr>
              <a:t> </a:t>
            </a:r>
            <a:r>
              <a:rPr sz="2850" spc="-10" dirty="0">
                <a:latin typeface="Calibri"/>
                <a:cs typeface="Calibri"/>
              </a:rPr>
              <a:t>course</a:t>
            </a:r>
            <a:endParaRPr sz="2850" dirty="0">
              <a:latin typeface="Calibri"/>
              <a:cs typeface="Calibri"/>
            </a:endParaRPr>
          </a:p>
          <a:p>
            <a:pPr marL="217804">
              <a:lnSpc>
                <a:spcPts val="3379"/>
              </a:lnSpc>
            </a:pPr>
            <a:r>
              <a:rPr sz="2950" spc="-10" dirty="0">
                <a:latin typeface="Calibri"/>
                <a:cs typeface="Calibri"/>
              </a:rPr>
              <a:t>(9556).</a:t>
            </a:r>
            <a:endParaRPr sz="295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7181" y="7918882"/>
            <a:ext cx="15815219" cy="128560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709930" indent="635">
              <a:lnSpc>
                <a:spcPts val="3150"/>
              </a:lnSpc>
              <a:spcBef>
                <a:spcPts val="425"/>
              </a:spcBef>
            </a:pPr>
            <a:r>
              <a:rPr sz="2850" spc="-50" dirty="0">
                <a:latin typeface="Calibri"/>
                <a:cs typeface="Calibri"/>
              </a:rPr>
              <a:t>The</a:t>
            </a:r>
            <a:r>
              <a:rPr sz="2850" spc="-120" dirty="0">
                <a:latin typeface="Calibri"/>
                <a:cs typeface="Calibri"/>
              </a:rPr>
              <a:t> </a:t>
            </a:r>
            <a:r>
              <a:rPr sz="2850" spc="-75" dirty="0">
                <a:latin typeface="Calibri"/>
                <a:cs typeface="Calibri"/>
              </a:rPr>
              <a:t>Actionable</a:t>
            </a:r>
            <a:r>
              <a:rPr sz="2850" spc="-55" dirty="0">
                <a:latin typeface="Calibri"/>
                <a:cs typeface="Calibri"/>
              </a:rPr>
              <a:t> </a:t>
            </a:r>
            <a:r>
              <a:rPr sz="2850" spc="-90" dirty="0">
                <a:latin typeface="Calibri"/>
                <a:cs typeface="Calibri"/>
              </a:rPr>
              <a:t>Outcome:</a:t>
            </a:r>
            <a:r>
              <a:rPr sz="2850" spc="10" dirty="0">
                <a:latin typeface="Calibri"/>
                <a:cs typeface="Calibri"/>
              </a:rPr>
              <a:t> </a:t>
            </a:r>
            <a:r>
              <a:rPr sz="2850" spc="-60" dirty="0">
                <a:latin typeface="Calibri"/>
                <a:cs typeface="Calibri"/>
              </a:rPr>
              <a:t>This</a:t>
            </a:r>
            <a:r>
              <a:rPr sz="2850" spc="-190" dirty="0">
                <a:latin typeface="Calibri"/>
                <a:cs typeface="Calibri"/>
              </a:rPr>
              <a:t> </a:t>
            </a:r>
            <a:r>
              <a:rPr sz="2850" spc="-110" dirty="0">
                <a:latin typeface="Calibri"/>
                <a:cs typeface="Calibri"/>
              </a:rPr>
              <a:t>allows</a:t>
            </a:r>
            <a:r>
              <a:rPr sz="2850" spc="35" dirty="0">
                <a:latin typeface="Calibri"/>
                <a:cs typeface="Calibri"/>
              </a:rPr>
              <a:t> </a:t>
            </a:r>
            <a:r>
              <a:rPr sz="2850" spc="-125" dirty="0">
                <a:latin typeface="Calibri"/>
                <a:cs typeface="Calibri"/>
              </a:rPr>
              <a:t>an</a:t>
            </a:r>
            <a:r>
              <a:rPr sz="2850" spc="-290" dirty="0">
                <a:latin typeface="Calibri"/>
                <a:cs typeface="Calibri"/>
              </a:rPr>
              <a:t> </a:t>
            </a:r>
            <a:r>
              <a:rPr sz="2850" spc="-95" dirty="0">
                <a:latin typeface="Calibri"/>
                <a:cs typeface="Calibri"/>
              </a:rPr>
              <a:t>advisor</a:t>
            </a:r>
            <a:r>
              <a:rPr sz="2850" spc="-40" dirty="0">
                <a:latin typeface="Calibri"/>
                <a:cs typeface="Calibri"/>
              </a:rPr>
              <a:t> </a:t>
            </a:r>
            <a:r>
              <a:rPr sz="2850" spc="-85" dirty="0">
                <a:latin typeface="Calibri"/>
                <a:cs typeface="Calibri"/>
              </a:rPr>
              <a:t>to</a:t>
            </a:r>
            <a:r>
              <a:rPr sz="2850" spc="-200" dirty="0">
                <a:latin typeface="Calibri"/>
                <a:cs typeface="Calibri"/>
              </a:rPr>
              <a:t> </a:t>
            </a:r>
            <a:r>
              <a:rPr sz="2850" spc="-165" dirty="0">
                <a:latin typeface="Calibri"/>
                <a:cs typeface="Calibri"/>
              </a:rPr>
              <a:t>have</a:t>
            </a:r>
            <a:r>
              <a:rPr sz="2850" spc="-135" dirty="0">
                <a:latin typeface="Calibri"/>
                <a:cs typeface="Calibri"/>
              </a:rPr>
              <a:t> </a:t>
            </a:r>
            <a:r>
              <a:rPr sz="2850" spc="65" dirty="0">
                <a:latin typeface="Calibri"/>
                <a:cs typeface="Calibri"/>
              </a:rPr>
              <a:t>a</a:t>
            </a:r>
            <a:r>
              <a:rPr sz="2850" spc="-350" dirty="0">
                <a:latin typeface="Calibri"/>
                <a:cs typeface="Calibri"/>
              </a:rPr>
              <a:t> </a:t>
            </a:r>
            <a:r>
              <a:rPr sz="2850" spc="-90" dirty="0">
                <a:latin typeface="Calibri"/>
                <a:cs typeface="Calibri"/>
              </a:rPr>
              <a:t>highly</a:t>
            </a:r>
            <a:r>
              <a:rPr sz="2850" spc="-45" dirty="0">
                <a:latin typeface="Calibri"/>
                <a:cs typeface="Calibri"/>
              </a:rPr>
              <a:t> </a:t>
            </a:r>
            <a:r>
              <a:rPr sz="2850" spc="-110" dirty="0">
                <a:latin typeface="Calibri"/>
                <a:cs typeface="Calibri"/>
              </a:rPr>
              <a:t>specific</a:t>
            </a:r>
            <a:r>
              <a:rPr sz="2850" spc="-45" dirty="0">
                <a:latin typeface="Calibri"/>
                <a:cs typeface="Calibri"/>
              </a:rPr>
              <a:t> </a:t>
            </a:r>
            <a:r>
              <a:rPr sz="2850" spc="-110" dirty="0">
                <a:latin typeface="Calibri"/>
                <a:cs typeface="Calibri"/>
              </a:rPr>
              <a:t>conversation</a:t>
            </a:r>
            <a:r>
              <a:rPr sz="2850" spc="15" dirty="0">
                <a:latin typeface="Calibri"/>
                <a:cs typeface="Calibri"/>
              </a:rPr>
              <a:t> </a:t>
            </a:r>
            <a:r>
              <a:rPr sz="2850" spc="-170" dirty="0">
                <a:latin typeface="Calibri"/>
                <a:cs typeface="Calibri"/>
              </a:rPr>
              <a:t>about</a:t>
            </a:r>
            <a:r>
              <a:rPr sz="2850" spc="35" dirty="0">
                <a:latin typeface="Calibri"/>
                <a:cs typeface="Calibri"/>
              </a:rPr>
              <a:t> </a:t>
            </a:r>
            <a:r>
              <a:rPr sz="2850" spc="-145" dirty="0">
                <a:latin typeface="Calibri"/>
                <a:cs typeface="Calibri"/>
              </a:rPr>
              <a:t>academic</a:t>
            </a:r>
            <a:r>
              <a:rPr sz="2850" spc="45" dirty="0">
                <a:latin typeface="Calibri"/>
                <a:cs typeface="Calibri"/>
              </a:rPr>
              <a:t> </a:t>
            </a:r>
            <a:r>
              <a:rPr sz="2850" spc="-150" dirty="0">
                <a:latin typeface="Calibri"/>
                <a:cs typeface="Calibri"/>
              </a:rPr>
              <a:t>load,</a:t>
            </a:r>
            <a:r>
              <a:rPr sz="2850" spc="-160" dirty="0">
                <a:latin typeface="Calibri"/>
                <a:cs typeface="Calibri"/>
              </a:rPr>
              <a:t> </a:t>
            </a:r>
            <a:r>
              <a:rPr sz="2850" spc="-65" dirty="0">
                <a:latin typeface="Calibri"/>
                <a:cs typeface="Calibri"/>
              </a:rPr>
              <a:t>potential </a:t>
            </a:r>
            <a:r>
              <a:rPr sz="2850" spc="-120" dirty="0">
                <a:latin typeface="Calibri"/>
                <a:cs typeface="Calibri"/>
              </a:rPr>
              <a:t>external</a:t>
            </a:r>
            <a:r>
              <a:rPr sz="2850" spc="-70" dirty="0">
                <a:latin typeface="Calibri"/>
                <a:cs typeface="Calibri"/>
              </a:rPr>
              <a:t> </a:t>
            </a:r>
            <a:r>
              <a:rPr sz="2850" spc="-105" dirty="0">
                <a:latin typeface="Calibri"/>
                <a:cs typeface="Calibri"/>
              </a:rPr>
              <a:t>pressures</a:t>
            </a:r>
            <a:r>
              <a:rPr sz="2850" spc="15" dirty="0">
                <a:latin typeface="Calibri"/>
                <a:cs typeface="Calibri"/>
              </a:rPr>
              <a:t> </a:t>
            </a:r>
            <a:r>
              <a:rPr sz="2850" spc="-100" dirty="0">
                <a:latin typeface="Calibri"/>
                <a:cs typeface="Calibri"/>
              </a:rPr>
              <a:t>related</a:t>
            </a:r>
            <a:r>
              <a:rPr sz="2850" spc="-90" dirty="0">
                <a:latin typeface="Calibri"/>
                <a:cs typeface="Calibri"/>
              </a:rPr>
              <a:t> </a:t>
            </a:r>
            <a:r>
              <a:rPr sz="2850" spc="-85" dirty="0">
                <a:latin typeface="Calibri"/>
                <a:cs typeface="Calibri"/>
              </a:rPr>
              <a:t>to</a:t>
            </a:r>
            <a:r>
              <a:rPr sz="2850" spc="-225" dirty="0">
                <a:latin typeface="Calibri"/>
                <a:cs typeface="Calibri"/>
              </a:rPr>
              <a:t> </a:t>
            </a:r>
            <a:r>
              <a:rPr sz="2850" spc="-140" dirty="0">
                <a:latin typeface="Calibri"/>
                <a:cs typeface="Calibri"/>
              </a:rPr>
              <a:t>age,</a:t>
            </a:r>
            <a:r>
              <a:rPr sz="2850" spc="-125" dirty="0">
                <a:latin typeface="Calibri"/>
                <a:cs typeface="Calibri"/>
              </a:rPr>
              <a:t> </a:t>
            </a:r>
            <a:r>
              <a:rPr sz="2850" spc="-170" dirty="0">
                <a:latin typeface="Calibri"/>
                <a:cs typeface="Calibri"/>
              </a:rPr>
              <a:t>and</a:t>
            </a:r>
            <a:r>
              <a:rPr sz="2850" spc="-145" dirty="0">
                <a:latin typeface="Calibri"/>
                <a:cs typeface="Calibri"/>
              </a:rPr>
              <a:t> </a:t>
            </a:r>
            <a:r>
              <a:rPr sz="2850" spc="-85" dirty="0">
                <a:latin typeface="Calibri"/>
                <a:cs typeface="Calibri"/>
              </a:rPr>
              <a:t>course-</a:t>
            </a:r>
            <a:r>
              <a:rPr sz="2850" spc="-75" dirty="0">
                <a:latin typeface="Calibri"/>
                <a:cs typeface="Calibri"/>
              </a:rPr>
              <a:t>specific</a:t>
            </a:r>
            <a:r>
              <a:rPr sz="2850" spc="-265" dirty="0">
                <a:latin typeface="Calibri"/>
                <a:cs typeface="Calibri"/>
              </a:rPr>
              <a:t> </a:t>
            </a:r>
            <a:r>
              <a:rPr sz="2850" spc="-145" dirty="0">
                <a:latin typeface="Calibri"/>
                <a:cs typeface="Calibri"/>
              </a:rPr>
              <a:t>support,</a:t>
            </a:r>
            <a:r>
              <a:rPr sz="2850" spc="5" dirty="0">
                <a:latin typeface="Calibri"/>
                <a:cs typeface="Calibri"/>
              </a:rPr>
              <a:t> </a:t>
            </a:r>
            <a:r>
              <a:rPr sz="2850" spc="-110" dirty="0">
                <a:latin typeface="Calibri"/>
                <a:cs typeface="Calibri"/>
              </a:rPr>
              <a:t>rather</a:t>
            </a:r>
            <a:r>
              <a:rPr sz="2850" spc="-95" dirty="0">
                <a:latin typeface="Calibri"/>
                <a:cs typeface="Calibri"/>
              </a:rPr>
              <a:t> </a:t>
            </a:r>
            <a:r>
              <a:rPr sz="2850" spc="-140" dirty="0">
                <a:latin typeface="Calibri"/>
                <a:cs typeface="Calibri"/>
              </a:rPr>
              <a:t>than </a:t>
            </a:r>
            <a:r>
              <a:rPr sz="2850" spc="-75" dirty="0">
                <a:latin typeface="Calibri"/>
                <a:cs typeface="Calibri"/>
              </a:rPr>
              <a:t>a</a:t>
            </a:r>
            <a:r>
              <a:rPr sz="2850" spc="-280" dirty="0">
                <a:latin typeface="Calibri"/>
                <a:cs typeface="Calibri"/>
              </a:rPr>
              <a:t> </a:t>
            </a:r>
            <a:r>
              <a:rPr sz="2850" spc="-70" dirty="0">
                <a:latin typeface="Calibri"/>
                <a:cs typeface="Calibri"/>
              </a:rPr>
              <a:t>generic“How</a:t>
            </a:r>
            <a:r>
              <a:rPr sz="2850" spc="130" dirty="0">
                <a:latin typeface="Calibri"/>
                <a:cs typeface="Calibri"/>
              </a:rPr>
              <a:t> </a:t>
            </a:r>
            <a:r>
              <a:rPr sz="2850" spc="-110" dirty="0">
                <a:latin typeface="Calibri"/>
                <a:cs typeface="Calibri"/>
              </a:rPr>
              <a:t>are</a:t>
            </a:r>
            <a:r>
              <a:rPr sz="2850" spc="-125" dirty="0">
                <a:latin typeface="Calibri"/>
                <a:cs typeface="Calibri"/>
              </a:rPr>
              <a:t> </a:t>
            </a:r>
            <a:r>
              <a:rPr sz="2850" spc="-114" dirty="0">
                <a:latin typeface="Calibri"/>
                <a:cs typeface="Calibri"/>
              </a:rPr>
              <a:t>things</a:t>
            </a:r>
            <a:r>
              <a:rPr sz="2850" spc="-70" dirty="0">
                <a:latin typeface="Calibri"/>
                <a:cs typeface="Calibri"/>
              </a:rPr>
              <a:t> </a:t>
            </a:r>
            <a:r>
              <a:rPr sz="2850" spc="-10" dirty="0">
                <a:latin typeface="Calibri"/>
                <a:cs typeface="Calibri"/>
              </a:rPr>
              <a:t>going?“</a:t>
            </a:r>
            <a:endParaRPr sz="2850" dirty="0">
              <a:latin typeface="Calibri"/>
              <a:cs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312DB60-DF43-72F2-168D-6669BD641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81" y="3126148"/>
            <a:ext cx="9456095" cy="45004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3500" y="2451100"/>
            <a:ext cx="1308100" cy="1574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1600" y="2438400"/>
            <a:ext cx="2032000" cy="1587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36600" y="2451100"/>
            <a:ext cx="1587500" cy="1574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54549" y="678391"/>
            <a:ext cx="15566101" cy="803852"/>
          </a:xfrm>
          <a:prstGeom prst="rect">
            <a:avLst/>
          </a:prstGeom>
        </p:spPr>
        <p:txBody>
          <a:bodyPr vert="horz" wrap="square" lIns="0" tIns="64558" rIns="0" bIns="0" rtlCol="0">
            <a:spAutoFit/>
          </a:bodyPr>
          <a:lstStyle/>
          <a:p>
            <a:pPr marL="444500">
              <a:lnSpc>
                <a:spcPct val="100000"/>
              </a:lnSpc>
              <a:spcBef>
                <a:spcPts val="125"/>
              </a:spcBef>
            </a:pPr>
            <a:r>
              <a:rPr sz="4800" spc="85" dirty="0">
                <a:solidFill>
                  <a:srgbClr val="082F5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The</a:t>
            </a:r>
            <a:r>
              <a:rPr sz="4800" spc="70" dirty="0">
                <a:solidFill>
                  <a:srgbClr val="082F5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800" spc="90" dirty="0">
                <a:solidFill>
                  <a:srgbClr val="012B4D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Result:</a:t>
            </a:r>
            <a:r>
              <a:rPr sz="4800" spc="165" dirty="0">
                <a:solidFill>
                  <a:srgbClr val="012B4D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800" spc="100" dirty="0">
                <a:solidFill>
                  <a:srgbClr val="032F54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</a:t>
            </a:r>
            <a:r>
              <a:rPr sz="4800" spc="70" dirty="0">
                <a:solidFill>
                  <a:srgbClr val="032F54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800" spc="95" dirty="0">
                <a:latin typeface="Biome" panose="020B0503030204020804" pitchFamily="34" charset="0"/>
                <a:cs typeface="Biome" panose="020B0503030204020804" pitchFamily="34" charset="0"/>
              </a:rPr>
              <a:t>Sustainable</a:t>
            </a:r>
            <a:r>
              <a:rPr sz="4800" spc="450" dirty="0"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800" spc="155" dirty="0">
                <a:solidFill>
                  <a:srgbClr val="032644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Strategic</a:t>
            </a:r>
            <a:r>
              <a:rPr sz="4800" spc="385" dirty="0">
                <a:solidFill>
                  <a:srgbClr val="032644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4800" spc="-10" dirty="0">
                <a:solidFill>
                  <a:srgbClr val="012444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Advantage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026163"/>
              </p:ext>
            </p:extLst>
          </p:nvPr>
        </p:nvGraphicFramePr>
        <p:xfrm>
          <a:off x="1044754" y="4290660"/>
          <a:ext cx="15468600" cy="4246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35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6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34745">
                <a:tc>
                  <a:txBody>
                    <a:bodyPr/>
                    <a:lstStyle/>
                    <a:p>
                      <a:pPr marL="972819" marR="1511935" indent="304800">
                        <a:lnSpc>
                          <a:spcPts val="3900"/>
                        </a:lnSpc>
                        <a:spcBef>
                          <a:spcPts val="245"/>
                        </a:spcBef>
                      </a:pPr>
                      <a:r>
                        <a:rPr sz="3200" b="1" spc="-10" dirty="0">
                          <a:solidFill>
                            <a:srgbClr val="072644"/>
                          </a:solidFill>
                          <a:latin typeface="Cambria"/>
                          <a:cs typeface="Cambria"/>
                        </a:rPr>
                        <a:t>Proactive </a:t>
                      </a:r>
                      <a:r>
                        <a:rPr sz="3200" b="1" spc="-10" dirty="0">
                          <a:solidFill>
                            <a:srgbClr val="072844"/>
                          </a:solidFill>
                          <a:latin typeface="Cambria"/>
                          <a:cs typeface="Cambria"/>
                        </a:rPr>
                        <a:t>Intervention</a:t>
                      </a:r>
                      <a:endParaRPr sz="3200" b="1" dirty="0">
                        <a:latin typeface="Cambria"/>
                        <a:cs typeface="Cambria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1778000" marR="767715" indent="-977900">
                        <a:lnSpc>
                          <a:spcPts val="3900"/>
                        </a:lnSpc>
                        <a:spcBef>
                          <a:spcPts val="245"/>
                        </a:spcBef>
                      </a:pPr>
                      <a:r>
                        <a:rPr sz="3200" b="1" dirty="0">
                          <a:solidFill>
                            <a:srgbClr val="052444"/>
                          </a:solidFill>
                          <a:latin typeface="Cambria"/>
                          <a:cs typeface="Cambria"/>
                        </a:rPr>
                        <a:t>Optimised</a:t>
                      </a:r>
                      <a:r>
                        <a:rPr sz="3200" b="1" spc="15" dirty="0">
                          <a:solidFill>
                            <a:srgbClr val="052444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3200" b="1" spc="-20" dirty="0">
                          <a:solidFill>
                            <a:srgbClr val="082848"/>
                          </a:solidFill>
                          <a:latin typeface="Cambria"/>
                          <a:cs typeface="Cambria"/>
                        </a:rPr>
                        <a:t>Resource </a:t>
                      </a:r>
                      <a:r>
                        <a:rPr sz="3200" b="1" spc="-10" dirty="0">
                          <a:solidFill>
                            <a:srgbClr val="052649"/>
                          </a:solidFill>
                          <a:latin typeface="Cambria"/>
                          <a:cs typeface="Cambria"/>
                        </a:rPr>
                        <a:t>Allocation</a:t>
                      </a:r>
                      <a:endParaRPr sz="3200" b="1" dirty="0">
                        <a:latin typeface="Cambria"/>
                        <a:cs typeface="Cambria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1389380" marR="514350" indent="-384175">
                        <a:lnSpc>
                          <a:spcPts val="3900"/>
                        </a:lnSpc>
                        <a:spcBef>
                          <a:spcPts val="245"/>
                        </a:spcBef>
                      </a:pPr>
                      <a:r>
                        <a:rPr sz="3200" b="1" dirty="0">
                          <a:solidFill>
                            <a:srgbClr val="03264B"/>
                          </a:solidFill>
                          <a:latin typeface="Cambria"/>
                          <a:cs typeface="Cambria"/>
                        </a:rPr>
                        <a:t>Maximised</a:t>
                      </a:r>
                      <a:r>
                        <a:rPr sz="3200" b="1" spc="55" dirty="0">
                          <a:solidFill>
                            <a:srgbClr val="03264B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3200" b="1" spc="-10" dirty="0">
                          <a:solidFill>
                            <a:srgbClr val="05233F"/>
                          </a:solidFill>
                          <a:latin typeface="Cambria"/>
                          <a:cs typeface="Cambria"/>
                        </a:rPr>
                        <a:t>Return </a:t>
                      </a:r>
                      <a:r>
                        <a:rPr sz="3200" b="1" dirty="0">
                          <a:solidFill>
                            <a:srgbClr val="072A49"/>
                          </a:solidFill>
                          <a:latin typeface="Cambria"/>
                          <a:cs typeface="Cambria"/>
                        </a:rPr>
                        <a:t>on</a:t>
                      </a:r>
                      <a:r>
                        <a:rPr sz="3200" b="1" spc="-114" dirty="0">
                          <a:solidFill>
                            <a:srgbClr val="072A4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3200" b="1" spc="-10" dirty="0">
                          <a:solidFill>
                            <a:srgbClr val="011F3D"/>
                          </a:solidFill>
                          <a:latin typeface="Cambria"/>
                          <a:cs typeface="Cambria"/>
                        </a:rPr>
                        <a:t>Investment</a:t>
                      </a:r>
                      <a:endParaRPr sz="3200" b="1" dirty="0">
                        <a:latin typeface="Cambria"/>
                        <a:cs typeface="Cambria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415">
                <a:tc>
                  <a:txBody>
                    <a:bodyPr/>
                    <a:lstStyle/>
                    <a:p>
                      <a:pPr marR="52070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3100" spc="-25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Shift</a:t>
                      </a:r>
                      <a:r>
                        <a:rPr sz="3100" spc="-150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14" dirty="0">
                          <a:solidFill>
                            <a:srgbClr val="0F0F0F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sz="3100" spc="-60" dirty="0">
                          <a:solidFill>
                            <a:srgbClr val="0F0F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75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waiting</a:t>
                      </a:r>
                      <a:r>
                        <a:rPr sz="3100" spc="-65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25" dirty="0">
                          <a:solidFill>
                            <a:srgbClr val="0C0C0C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6096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3100" spc="-30" dirty="0">
                          <a:solidFill>
                            <a:srgbClr val="0C0C0C"/>
                          </a:solidFill>
                          <a:latin typeface="Calibri"/>
                          <a:cs typeface="Calibri"/>
                        </a:rPr>
                        <a:t>Focus</a:t>
                      </a:r>
                      <a:r>
                        <a:rPr sz="3100" spc="-145" dirty="0">
                          <a:solidFill>
                            <a:srgbClr val="0C0C0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9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1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90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valuable</a:t>
                      </a:r>
                      <a:r>
                        <a:rPr sz="3100" spc="-30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5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3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25" dirty="0">
                          <a:solidFill>
                            <a:srgbClr val="110C0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47942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3100" spc="-25" dirty="0">
                          <a:latin typeface="Calibri"/>
                          <a:cs typeface="Calibri"/>
                        </a:rPr>
                        <a:t>Every</a:t>
                      </a:r>
                      <a:r>
                        <a:rPr sz="3100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10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student</a:t>
                      </a:r>
                      <a:r>
                        <a:rPr sz="3100" spc="-65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0" dirty="0">
                          <a:latin typeface="Calibri"/>
                          <a:cs typeface="Calibri"/>
                        </a:rPr>
                        <a:t>retained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31750">
                        <a:lnSpc>
                          <a:spcPts val="3100"/>
                        </a:lnSpc>
                      </a:pPr>
                      <a:r>
                        <a:rPr sz="3100" spc="-95" dirty="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students</a:t>
                      </a:r>
                      <a:r>
                        <a:rPr sz="3100" spc="-15" dirty="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40" dirty="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3100" spc="-35" dirty="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45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fail</a:t>
                      </a:r>
                      <a:r>
                        <a:rPr sz="3100" spc="-100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10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3100" spc="-65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0" dirty="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preventing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ts val="3100"/>
                        </a:lnSpc>
                      </a:pPr>
                      <a:r>
                        <a:rPr sz="3100" spc="-100" dirty="0">
                          <a:latin typeface="Calibri"/>
                          <a:cs typeface="Calibri"/>
                        </a:rPr>
                        <a:t>counsellors</a:t>
                      </a:r>
                      <a:r>
                        <a:rPr sz="3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05" dirty="0">
                          <a:solidFill>
                            <a:srgbClr val="0E0E0E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3100" spc="-70" dirty="0">
                          <a:solidFill>
                            <a:srgbClr val="0E0E0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95" dirty="0">
                          <a:latin typeface="Calibri"/>
                          <a:cs typeface="Calibri"/>
                        </a:rPr>
                        <a:t>support</a:t>
                      </a:r>
                      <a:r>
                        <a:rPr sz="3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0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staff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3234" algn="ctr">
                        <a:lnSpc>
                          <a:spcPts val="3100"/>
                        </a:lnSpc>
                      </a:pPr>
                      <a:r>
                        <a:rPr sz="3100" spc="-90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represents</a:t>
                      </a:r>
                      <a:r>
                        <a:rPr sz="3100" spc="-20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00" dirty="0">
                          <a:latin typeface="Calibri"/>
                          <a:cs typeface="Calibri"/>
                        </a:rPr>
                        <a:t>preserved</a:t>
                      </a:r>
                      <a:r>
                        <a:rPr sz="3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0" dirty="0">
                          <a:latin typeface="Calibri"/>
                          <a:cs typeface="Calibri"/>
                        </a:rPr>
                        <a:t>tuition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205104">
                        <a:lnSpc>
                          <a:spcPts val="3100"/>
                        </a:lnSpc>
                      </a:pPr>
                      <a:r>
                        <a:rPr sz="3100" spc="-110" dirty="0">
                          <a:latin typeface="Calibri"/>
                          <a:cs typeface="Calibri"/>
                        </a:rPr>
                        <a:t>failure.</a:t>
                      </a:r>
                      <a:r>
                        <a:rPr sz="3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85" dirty="0">
                          <a:latin typeface="Calibri"/>
                          <a:cs typeface="Calibri"/>
                        </a:rPr>
                        <a:t>Intervene</a:t>
                      </a:r>
                      <a:r>
                        <a:rPr sz="31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00" dirty="0">
                          <a:solidFill>
                            <a:srgbClr val="0F0F0F"/>
                          </a:solidFill>
                          <a:latin typeface="Calibri"/>
                          <a:cs typeface="Calibri"/>
                        </a:rPr>
                        <a:t>based</a:t>
                      </a:r>
                      <a:r>
                        <a:rPr sz="3100" spc="-75" dirty="0">
                          <a:solidFill>
                            <a:srgbClr val="0F0F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25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on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ts val="3100"/>
                        </a:lnSpc>
                      </a:pPr>
                      <a:r>
                        <a:rPr sz="3100" spc="-45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3100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00" dirty="0">
                          <a:solidFill>
                            <a:srgbClr val="0E0E0E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3100" spc="-75" dirty="0">
                          <a:solidFill>
                            <a:srgbClr val="0E0E0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364</a:t>
                      </a:r>
                      <a:r>
                        <a:rPr sz="3100" spc="-110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0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students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8790" algn="ctr">
                        <a:lnSpc>
                          <a:spcPts val="3100"/>
                        </a:lnSpc>
                      </a:pPr>
                      <a:r>
                        <a:rPr sz="3100" spc="-110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revenue.</a:t>
                      </a:r>
                      <a:r>
                        <a:rPr sz="3100" spc="-65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30" dirty="0">
                          <a:solidFill>
                            <a:srgbClr val="0E0E0E"/>
                          </a:solidFill>
                          <a:latin typeface="Calibri"/>
                          <a:cs typeface="Calibri"/>
                        </a:rPr>
                        <a:t>Every</a:t>
                      </a:r>
                      <a:r>
                        <a:rPr sz="3100" spc="-20" dirty="0">
                          <a:solidFill>
                            <a:srgbClr val="0E0E0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0" dirty="0">
                          <a:latin typeface="Calibri"/>
                          <a:cs typeface="Calibri"/>
                        </a:rPr>
                        <a:t>graduate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 marL="221615">
                        <a:lnSpc>
                          <a:spcPts val="3090"/>
                        </a:lnSpc>
                      </a:pPr>
                      <a:r>
                        <a:rPr sz="3050" spc="-55" dirty="0">
                          <a:latin typeface="Calibri"/>
                          <a:cs typeface="Calibri"/>
                        </a:rPr>
                        <a:t>predictive</a:t>
                      </a:r>
                      <a:r>
                        <a:rPr sz="30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45" dirty="0">
                          <a:latin typeface="Calibri"/>
                          <a:cs typeface="Calibri"/>
                        </a:rPr>
                        <a:t>risk,</a:t>
                      </a:r>
                      <a:r>
                        <a:rPr sz="3050" spc="-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40" dirty="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sz="3050" spc="-100" dirty="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0" dirty="0">
                          <a:latin typeface="Calibri"/>
                          <a:cs typeface="Calibri"/>
                        </a:rPr>
                        <a:t>lagging</a:t>
                      </a:r>
                      <a:endParaRPr sz="3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769" algn="ctr">
                        <a:lnSpc>
                          <a:spcPts val="3090"/>
                        </a:lnSpc>
                      </a:pPr>
                      <a:r>
                        <a:rPr sz="3050" spc="-65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identified </a:t>
                      </a:r>
                      <a:r>
                        <a:rPr sz="3050" dirty="0">
                          <a:solidFill>
                            <a:srgbClr val="0A0A0A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sz="3050" spc="-145" dirty="0">
                          <a:solidFill>
                            <a:srgbClr val="0A0A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70" dirty="0">
                          <a:latin typeface="Calibri"/>
                          <a:cs typeface="Calibri"/>
                        </a:rPr>
                        <a:t>needing</a:t>
                      </a:r>
                      <a:r>
                        <a:rPr sz="3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sz="3050" spc="-170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0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most,</a:t>
                      </a:r>
                      <a:endParaRPr sz="3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315" algn="ctr">
                        <a:lnSpc>
                          <a:spcPts val="3090"/>
                        </a:lnSpc>
                      </a:pPr>
                      <a:r>
                        <a:rPr sz="3050" spc="-25" dirty="0">
                          <a:latin typeface="Calibri"/>
                          <a:cs typeface="Calibri"/>
                        </a:rPr>
                        <a:t>boosts</a:t>
                      </a:r>
                      <a:r>
                        <a:rPr sz="3050" spc="-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65" dirty="0">
                          <a:solidFill>
                            <a:srgbClr val="0A0A0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3050" spc="-105" dirty="0">
                          <a:solidFill>
                            <a:srgbClr val="0A0A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65" dirty="0">
                          <a:latin typeface="Calibri"/>
                          <a:cs typeface="Calibri"/>
                        </a:rPr>
                        <a:t>institution's</a:t>
                      </a:r>
                      <a:r>
                        <a:rPr sz="30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50" spc="-10" dirty="0">
                          <a:latin typeface="Calibri"/>
                          <a:cs typeface="Calibri"/>
                        </a:rPr>
                        <a:t>official</a:t>
                      </a:r>
                      <a:endParaRPr sz="30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2065">
                <a:tc>
                  <a:txBody>
                    <a:bodyPr/>
                    <a:lstStyle/>
                    <a:p>
                      <a:pPr marR="627380" algn="ctr">
                        <a:lnSpc>
                          <a:spcPts val="3135"/>
                        </a:lnSpc>
                      </a:pPr>
                      <a:r>
                        <a:rPr sz="3100" spc="-25" dirty="0">
                          <a:latin typeface="Calibri"/>
                          <a:cs typeface="Calibri"/>
                        </a:rPr>
                        <a:t>indicators.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7535">
                        <a:lnSpc>
                          <a:spcPts val="2975"/>
                        </a:lnSpc>
                      </a:pPr>
                      <a:r>
                        <a:rPr sz="3100" spc="-80" dirty="0">
                          <a:latin typeface="Calibri"/>
                          <a:cs typeface="Calibri"/>
                        </a:rPr>
                        <a:t>increasing</a:t>
                      </a:r>
                      <a:r>
                        <a:rPr sz="31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25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3100" spc="-95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60" dirty="0">
                          <a:latin typeface="Calibri"/>
                          <a:cs typeface="Calibri"/>
                        </a:rPr>
                        <a:t>efficiency</a:t>
                      </a:r>
                      <a:r>
                        <a:rPr sz="310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25" dirty="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endParaRPr sz="3100">
                        <a:latin typeface="Calibri"/>
                        <a:cs typeface="Calibri"/>
                      </a:endParaRPr>
                    </a:p>
                    <a:p>
                      <a:pPr marL="673735">
                        <a:lnSpc>
                          <a:spcPts val="3560"/>
                        </a:lnSpc>
                      </a:pPr>
                      <a:r>
                        <a:rPr sz="3100" spc="-100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impact</a:t>
                      </a:r>
                      <a:r>
                        <a:rPr sz="3100" spc="-75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dirty="0">
                          <a:solidFill>
                            <a:srgbClr val="0C0C0C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3100" spc="-65" dirty="0">
                          <a:solidFill>
                            <a:srgbClr val="0C0C0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14" dirty="0">
                          <a:latin typeface="Calibri"/>
                          <a:cs typeface="Calibri"/>
                        </a:rPr>
                        <a:t>support</a:t>
                      </a:r>
                      <a:r>
                        <a:rPr sz="31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0" dirty="0">
                          <a:solidFill>
                            <a:srgbClr val="070707"/>
                          </a:solidFill>
                          <a:latin typeface="Calibri"/>
                          <a:cs typeface="Calibri"/>
                        </a:rPr>
                        <a:t>services.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92759" algn="ctr">
                        <a:lnSpc>
                          <a:spcPts val="2975"/>
                        </a:lnSpc>
                      </a:pPr>
                      <a:r>
                        <a:rPr sz="3100" spc="-130" dirty="0">
                          <a:latin typeface="Calibri"/>
                          <a:cs typeface="Calibri"/>
                        </a:rPr>
                        <a:t>graduation</a:t>
                      </a:r>
                      <a:r>
                        <a:rPr sz="31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75" dirty="0">
                          <a:latin typeface="Calibri"/>
                          <a:cs typeface="Calibri"/>
                        </a:rPr>
                        <a:t>rate</a:t>
                      </a:r>
                      <a:r>
                        <a:rPr sz="31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0" dirty="0">
                          <a:latin typeface="Calibri"/>
                          <a:cs typeface="Calibri"/>
                        </a:rPr>
                        <a:t>metrics,</a:t>
                      </a:r>
                      <a:endParaRPr sz="3100" dirty="0">
                        <a:latin typeface="Calibri"/>
                        <a:cs typeface="Calibri"/>
                      </a:endParaRPr>
                    </a:p>
                    <a:p>
                      <a:pPr marL="861060" marR="362585" algn="ctr">
                        <a:lnSpc>
                          <a:spcPts val="3400"/>
                        </a:lnSpc>
                        <a:spcBef>
                          <a:spcPts val="220"/>
                        </a:spcBef>
                      </a:pPr>
                      <a:r>
                        <a:rPr sz="3100" spc="-105" dirty="0">
                          <a:latin typeface="Calibri"/>
                          <a:cs typeface="Calibri"/>
                        </a:rPr>
                        <a:t>enhancing</a:t>
                      </a:r>
                      <a:r>
                        <a:rPr sz="31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114" dirty="0">
                          <a:latin typeface="Calibri"/>
                          <a:cs typeface="Calibri"/>
                        </a:rPr>
                        <a:t>reputation</a:t>
                      </a:r>
                      <a:r>
                        <a:rPr sz="3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100" spc="-55" dirty="0">
                          <a:solidFill>
                            <a:srgbClr val="0C0C0C"/>
                          </a:solidFill>
                          <a:latin typeface="Calibri"/>
                          <a:cs typeface="Calibri"/>
                        </a:rPr>
                        <a:t>and </a:t>
                      </a:r>
                      <a:r>
                        <a:rPr sz="3100" spc="-10" dirty="0">
                          <a:latin typeface="Calibri"/>
                          <a:cs typeface="Calibri"/>
                        </a:rPr>
                        <a:t>rankings.</a:t>
                      </a:r>
                      <a:endParaRPr sz="31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682597F-3A78-CCD3-0FAD-58D992D70B20}"/>
              </a:ext>
            </a:extLst>
          </p:cNvPr>
          <p:cNvSpPr/>
          <p:nvPr/>
        </p:nvSpPr>
        <p:spPr>
          <a:xfrm>
            <a:off x="11600182" y="3124200"/>
            <a:ext cx="5042545" cy="57912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27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A79D4F-B93E-8EDD-3B6B-0631147F2B1F}"/>
              </a:ext>
            </a:extLst>
          </p:cNvPr>
          <p:cNvSpPr/>
          <p:nvPr/>
        </p:nvSpPr>
        <p:spPr>
          <a:xfrm>
            <a:off x="6189982" y="3124200"/>
            <a:ext cx="5062218" cy="57912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27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7CCDC1-C696-3AA8-2904-BCC54EF0B4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2182" y="3124200"/>
            <a:ext cx="4986018" cy="57912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27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3100" y="4724400"/>
            <a:ext cx="990600" cy="1003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42500" y="4724400"/>
            <a:ext cx="965200" cy="1003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151100" y="4724400"/>
            <a:ext cx="990600" cy="1003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7900" y="4064000"/>
            <a:ext cx="15976600" cy="4699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89128" y="510822"/>
            <a:ext cx="14835072" cy="8470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400" spc="250" dirty="0">
                <a:solidFill>
                  <a:srgbClr val="01284D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Recommendations</a:t>
            </a:r>
            <a:r>
              <a:rPr sz="5400" spc="-470" dirty="0">
                <a:solidFill>
                  <a:srgbClr val="01284D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5400" spc="280" dirty="0">
                <a:solidFill>
                  <a:srgbClr val="00234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and</a:t>
            </a:r>
            <a:r>
              <a:rPr sz="5400" spc="590" dirty="0">
                <a:solidFill>
                  <a:srgbClr val="002342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5400" dirty="0">
                <a:solidFill>
                  <a:srgbClr val="01234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Next</a:t>
            </a:r>
            <a:r>
              <a:rPr sz="5400" spc="-175" dirty="0">
                <a:solidFill>
                  <a:srgbClr val="01234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sz="5400" spc="265" dirty="0">
                <a:solidFill>
                  <a:srgbClr val="012346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Steps</a:t>
            </a:r>
            <a:endParaRPr sz="54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3942" y="1736019"/>
            <a:ext cx="15069185" cy="229743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1590" marR="5080" indent="-9525">
              <a:lnSpc>
                <a:spcPts val="4100"/>
              </a:lnSpc>
              <a:spcBef>
                <a:spcPts val="500"/>
              </a:spcBef>
            </a:pPr>
            <a:r>
              <a:rPr sz="3650" spc="95" dirty="0">
                <a:solidFill>
                  <a:srgbClr val="282828"/>
                </a:solidFill>
                <a:latin typeface="Calibri"/>
                <a:cs typeface="Calibri"/>
              </a:rPr>
              <a:t>We</a:t>
            </a:r>
            <a:r>
              <a:rPr sz="3650" spc="-22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3650" spc="-10" dirty="0">
                <a:solidFill>
                  <a:srgbClr val="262626"/>
                </a:solidFill>
                <a:latin typeface="Calibri"/>
                <a:cs typeface="Calibri"/>
              </a:rPr>
              <a:t>recommend</a:t>
            </a:r>
            <a:r>
              <a:rPr sz="3650" spc="5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650" spc="50" dirty="0">
                <a:solidFill>
                  <a:srgbClr val="313131"/>
                </a:solidFill>
                <a:latin typeface="Calibri"/>
                <a:cs typeface="Calibri"/>
              </a:rPr>
              <a:t>a</a:t>
            </a:r>
            <a:r>
              <a:rPr sz="3650" spc="-254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650" dirty="0">
                <a:solidFill>
                  <a:srgbClr val="232323"/>
                </a:solidFill>
                <a:latin typeface="Calibri"/>
                <a:cs typeface="Calibri"/>
              </a:rPr>
              <a:t>phased</a:t>
            </a:r>
            <a:r>
              <a:rPr sz="365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650" spc="-10" dirty="0">
                <a:solidFill>
                  <a:srgbClr val="212121"/>
                </a:solidFill>
                <a:latin typeface="Calibri"/>
                <a:cs typeface="Calibri"/>
              </a:rPr>
              <a:t>implementation</a:t>
            </a:r>
            <a:r>
              <a:rPr sz="3650" spc="-19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650" dirty="0">
                <a:solidFill>
                  <a:srgbClr val="282828"/>
                </a:solidFill>
                <a:latin typeface="Calibri"/>
                <a:cs typeface="Calibri"/>
              </a:rPr>
              <a:t>to</a:t>
            </a:r>
            <a:r>
              <a:rPr sz="3650" spc="-21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3650" dirty="0">
                <a:solidFill>
                  <a:srgbClr val="232323"/>
                </a:solidFill>
                <a:latin typeface="Calibri"/>
                <a:cs typeface="Calibri"/>
              </a:rPr>
              <a:t>integrate</a:t>
            </a:r>
            <a:r>
              <a:rPr sz="365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650" dirty="0">
                <a:solidFill>
                  <a:srgbClr val="2A2A2A"/>
                </a:solidFill>
                <a:latin typeface="Calibri"/>
                <a:cs typeface="Calibri"/>
              </a:rPr>
              <a:t>this</a:t>
            </a:r>
            <a:r>
              <a:rPr sz="3650" spc="-8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3650" dirty="0">
                <a:solidFill>
                  <a:srgbClr val="282828"/>
                </a:solidFill>
                <a:latin typeface="Calibri"/>
                <a:cs typeface="Calibri"/>
              </a:rPr>
              <a:t>predictive</a:t>
            </a:r>
            <a:r>
              <a:rPr sz="3650" spc="10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3650" spc="-10" dirty="0">
                <a:solidFill>
                  <a:srgbClr val="242424"/>
                </a:solidFill>
                <a:latin typeface="Calibri"/>
                <a:cs typeface="Calibri"/>
              </a:rPr>
              <a:t>capability </a:t>
            </a:r>
            <a:r>
              <a:rPr sz="3650" dirty="0">
                <a:solidFill>
                  <a:srgbClr val="232323"/>
                </a:solidFill>
                <a:latin typeface="Calibri"/>
                <a:cs typeface="Calibri"/>
              </a:rPr>
              <a:t>into</a:t>
            </a:r>
            <a:r>
              <a:rPr sz="3650" spc="-11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650" dirty="0">
                <a:solidFill>
                  <a:srgbClr val="282828"/>
                </a:solidFill>
                <a:latin typeface="Calibri"/>
                <a:cs typeface="Calibri"/>
              </a:rPr>
              <a:t>our</a:t>
            </a:r>
            <a:r>
              <a:rPr sz="3650" spc="-9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3650" dirty="0">
                <a:solidFill>
                  <a:srgbClr val="232323"/>
                </a:solidFill>
                <a:latin typeface="Calibri"/>
                <a:cs typeface="Calibri"/>
              </a:rPr>
              <a:t>student</a:t>
            </a:r>
            <a:r>
              <a:rPr sz="365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650" dirty="0">
                <a:solidFill>
                  <a:srgbClr val="1F1F1F"/>
                </a:solidFill>
                <a:latin typeface="Calibri"/>
                <a:cs typeface="Calibri"/>
              </a:rPr>
              <a:t>support</a:t>
            </a:r>
            <a:r>
              <a:rPr sz="365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650" spc="-10" dirty="0">
                <a:solidFill>
                  <a:srgbClr val="262626"/>
                </a:solidFill>
                <a:latin typeface="Calibri"/>
                <a:cs typeface="Calibri"/>
              </a:rPr>
              <a:t>framework.</a:t>
            </a:r>
            <a:endParaRPr sz="36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3650" dirty="0">
              <a:latin typeface="Calibri"/>
              <a:cs typeface="Calibri"/>
            </a:endParaRPr>
          </a:p>
          <a:p>
            <a:pPr marL="1525270">
              <a:lnSpc>
                <a:spcPct val="100000"/>
              </a:lnSpc>
              <a:tabLst>
                <a:tab pos="6313170" algn="l"/>
                <a:tab pos="11634470" algn="l"/>
              </a:tabLst>
            </a:pPr>
            <a:r>
              <a:rPr sz="3550" b="1" spc="-10" dirty="0">
                <a:solidFill>
                  <a:srgbClr val="052649"/>
                </a:solidFill>
                <a:latin typeface="Calibri"/>
                <a:cs typeface="Calibri"/>
              </a:rPr>
              <a:t>Immediate</a:t>
            </a:r>
            <a:r>
              <a:rPr sz="3550" dirty="0">
                <a:solidFill>
                  <a:srgbClr val="052649"/>
                </a:solidFill>
                <a:latin typeface="Calibri"/>
                <a:cs typeface="Calibri"/>
              </a:rPr>
              <a:t>	</a:t>
            </a:r>
            <a:r>
              <a:rPr sz="3550" b="1" spc="-80" dirty="0">
                <a:solidFill>
                  <a:srgbClr val="052649"/>
                </a:solidFill>
                <a:latin typeface="Calibri"/>
                <a:cs typeface="Calibri"/>
              </a:rPr>
              <a:t>Next</a:t>
            </a:r>
            <a:r>
              <a:rPr sz="3550" b="1" spc="-90" dirty="0">
                <a:solidFill>
                  <a:srgbClr val="052649"/>
                </a:solidFill>
                <a:latin typeface="Calibri"/>
                <a:cs typeface="Calibri"/>
              </a:rPr>
              <a:t> </a:t>
            </a:r>
            <a:r>
              <a:rPr sz="3550" b="1" spc="-70" dirty="0">
                <a:solidFill>
                  <a:srgbClr val="052649"/>
                </a:solidFill>
                <a:latin typeface="Calibri"/>
                <a:cs typeface="Calibri"/>
              </a:rPr>
              <a:t>3-</a:t>
            </a:r>
            <a:r>
              <a:rPr sz="3550" b="1" spc="-80" dirty="0">
                <a:solidFill>
                  <a:srgbClr val="052649"/>
                </a:solidFill>
                <a:latin typeface="Calibri"/>
                <a:cs typeface="Calibri"/>
              </a:rPr>
              <a:t>6</a:t>
            </a:r>
            <a:r>
              <a:rPr sz="3550" b="1" spc="-155" dirty="0">
                <a:solidFill>
                  <a:srgbClr val="052649"/>
                </a:solidFill>
                <a:latin typeface="Calibri"/>
                <a:cs typeface="Calibri"/>
              </a:rPr>
              <a:t> </a:t>
            </a:r>
            <a:r>
              <a:rPr sz="3550" b="1" spc="-10" dirty="0">
                <a:solidFill>
                  <a:srgbClr val="052649"/>
                </a:solidFill>
                <a:latin typeface="Calibri"/>
                <a:cs typeface="Calibri"/>
              </a:rPr>
              <a:t>Months</a:t>
            </a:r>
            <a:r>
              <a:rPr sz="3550" dirty="0">
                <a:solidFill>
                  <a:srgbClr val="052649"/>
                </a:solidFill>
                <a:latin typeface="Calibri"/>
                <a:cs typeface="Calibri"/>
              </a:rPr>
              <a:t>	</a:t>
            </a:r>
            <a:r>
              <a:rPr sz="3550" b="1" dirty="0">
                <a:solidFill>
                  <a:srgbClr val="052649"/>
                </a:solidFill>
                <a:latin typeface="Calibri"/>
                <a:cs typeface="Calibri"/>
              </a:rPr>
              <a:t>Next</a:t>
            </a:r>
            <a:r>
              <a:rPr lang="en-PH" sz="3550" b="1" dirty="0">
                <a:solidFill>
                  <a:srgbClr val="052649"/>
                </a:solidFill>
                <a:latin typeface="Calibri"/>
                <a:cs typeface="Calibri"/>
              </a:rPr>
              <a:t> </a:t>
            </a:r>
            <a:r>
              <a:rPr sz="3550" b="1" dirty="0">
                <a:solidFill>
                  <a:srgbClr val="052649"/>
                </a:solidFill>
                <a:latin typeface="Calibri"/>
                <a:cs typeface="Calibri"/>
              </a:rPr>
              <a:t>6-9</a:t>
            </a:r>
            <a:r>
              <a:rPr sz="3550" b="1" spc="15" dirty="0">
                <a:solidFill>
                  <a:srgbClr val="052649"/>
                </a:solidFill>
                <a:latin typeface="Calibri"/>
                <a:cs typeface="Calibri"/>
              </a:rPr>
              <a:t> </a:t>
            </a:r>
            <a:r>
              <a:rPr sz="3550" b="1" spc="-10" dirty="0">
                <a:solidFill>
                  <a:srgbClr val="052649"/>
                </a:solidFill>
                <a:latin typeface="Calibri"/>
                <a:cs typeface="Calibri"/>
              </a:rPr>
              <a:t>Months</a:t>
            </a:r>
            <a:endParaRPr sz="3550" b="1" dirty="0">
              <a:solidFill>
                <a:srgbClr val="052649"/>
              </a:solidFill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2146" y="4642908"/>
            <a:ext cx="3977640" cy="363843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209">
              <a:lnSpc>
                <a:spcPts val="4205"/>
              </a:lnSpc>
              <a:spcBef>
                <a:spcPts val="90"/>
              </a:spcBef>
            </a:pPr>
            <a:r>
              <a:rPr sz="3500" b="1" spc="65" dirty="0">
                <a:solidFill>
                  <a:srgbClr val="08264B"/>
                </a:solidFill>
                <a:latin typeface="+mj-lt"/>
                <a:cs typeface="Times New Roman"/>
              </a:rPr>
              <a:t>Pilot</a:t>
            </a:r>
            <a:endParaRPr sz="3500" b="1" dirty="0">
              <a:latin typeface="+mj-lt"/>
              <a:cs typeface="Times New Roman"/>
            </a:endParaRPr>
          </a:p>
          <a:p>
            <a:pPr marL="28575">
              <a:lnSpc>
                <a:spcPts val="4445"/>
              </a:lnSpc>
            </a:pPr>
            <a:r>
              <a:rPr sz="3500" b="1" spc="-10" dirty="0">
                <a:solidFill>
                  <a:srgbClr val="052649"/>
                </a:solidFill>
                <a:latin typeface="+mj-lt"/>
                <a:cs typeface="Times New Roman"/>
              </a:rPr>
              <a:t>Program</a:t>
            </a:r>
            <a:endParaRPr sz="3500" b="1" dirty="0">
              <a:latin typeface="+mj-lt"/>
              <a:cs typeface="Times New Roman"/>
            </a:endParaRPr>
          </a:p>
          <a:p>
            <a:pPr marL="12700" marR="5080" indent="6985">
              <a:lnSpc>
                <a:spcPct val="89000"/>
              </a:lnSpc>
              <a:spcBef>
                <a:spcPts val="1865"/>
              </a:spcBef>
            </a:pPr>
            <a:r>
              <a:rPr lang="en-US" sz="2750" spc="-70" dirty="0">
                <a:latin typeface="Calibri"/>
                <a:cs typeface="Calibri"/>
              </a:rPr>
              <a:t>Launch</a:t>
            </a:r>
            <a:r>
              <a:rPr lang="en-US" sz="2750" spc="-60" dirty="0">
                <a:latin typeface="Calibri"/>
                <a:cs typeface="Calibri"/>
              </a:rPr>
              <a:t> </a:t>
            </a:r>
            <a:r>
              <a:rPr lang="en-US" sz="2750" spc="-20" dirty="0">
                <a:latin typeface="Calibri"/>
                <a:cs typeface="Calibri"/>
              </a:rPr>
              <a:t>a</a:t>
            </a:r>
            <a:r>
              <a:rPr lang="en-US" sz="2750" spc="-250" dirty="0">
                <a:latin typeface="Calibri"/>
                <a:cs typeface="Calibri"/>
              </a:rPr>
              <a:t> </a:t>
            </a:r>
            <a:r>
              <a:rPr lang="en-US" sz="2750" spc="-10" dirty="0">
                <a:latin typeface="Calibri"/>
                <a:cs typeface="Calibri"/>
              </a:rPr>
              <a:t>targeted </a:t>
            </a:r>
            <a:r>
              <a:rPr lang="en-US" sz="2750" spc="-85" dirty="0">
                <a:latin typeface="Calibri"/>
                <a:cs typeface="Calibri"/>
              </a:rPr>
              <a:t>intervention</a:t>
            </a:r>
            <a:r>
              <a:rPr lang="en-US" sz="2750" spc="25" dirty="0">
                <a:latin typeface="Calibri"/>
                <a:cs typeface="Calibri"/>
              </a:rPr>
              <a:t> </a:t>
            </a:r>
            <a:r>
              <a:rPr lang="en-US" sz="2750" spc="-60" dirty="0">
                <a:latin typeface="Calibri"/>
                <a:cs typeface="Calibri"/>
              </a:rPr>
              <a:t>pilot</a:t>
            </a:r>
            <a:r>
              <a:rPr lang="en-US" sz="2750" spc="-95" dirty="0">
                <a:latin typeface="Calibri"/>
                <a:cs typeface="Calibri"/>
              </a:rPr>
              <a:t> </a:t>
            </a:r>
            <a:r>
              <a:rPr lang="en-US" sz="2750" spc="-75" dirty="0">
                <a:latin typeface="Calibri"/>
                <a:cs typeface="Calibri"/>
              </a:rPr>
              <a:t>with</a:t>
            </a:r>
            <a:r>
              <a:rPr lang="en-US" sz="2750" spc="-155" dirty="0">
                <a:latin typeface="Calibri"/>
                <a:cs typeface="Calibri"/>
              </a:rPr>
              <a:t> </a:t>
            </a:r>
            <a:r>
              <a:rPr lang="en-US" sz="2750" spc="-25" dirty="0">
                <a:latin typeface="Calibri"/>
                <a:cs typeface="Calibri"/>
              </a:rPr>
              <a:t>the </a:t>
            </a:r>
            <a:r>
              <a:rPr lang="en-US" sz="2750" spc="-95" dirty="0">
                <a:latin typeface="Calibri"/>
                <a:cs typeface="Calibri"/>
              </a:rPr>
              <a:t>Student</a:t>
            </a:r>
            <a:r>
              <a:rPr lang="en-US" sz="2750" spc="-30" dirty="0">
                <a:latin typeface="Calibri"/>
                <a:cs typeface="Calibri"/>
              </a:rPr>
              <a:t> </a:t>
            </a:r>
            <a:r>
              <a:rPr lang="en-US" sz="2750" spc="-25" dirty="0">
                <a:latin typeface="Calibri"/>
                <a:cs typeface="Calibri"/>
              </a:rPr>
              <a:t>Affairs</a:t>
            </a:r>
            <a:r>
              <a:rPr lang="en-US" sz="2750" spc="-95" dirty="0">
                <a:latin typeface="Calibri"/>
                <a:cs typeface="Calibri"/>
              </a:rPr>
              <a:t> </a:t>
            </a:r>
            <a:r>
              <a:rPr lang="en-US" sz="2750" spc="-10" dirty="0">
                <a:latin typeface="Calibri"/>
                <a:cs typeface="Calibri"/>
              </a:rPr>
              <a:t>office, </a:t>
            </a:r>
            <a:r>
              <a:rPr lang="en-US" sz="2750" spc="-80" dirty="0">
                <a:latin typeface="Calibri"/>
                <a:cs typeface="Calibri"/>
              </a:rPr>
              <a:t>focusing</a:t>
            </a:r>
            <a:r>
              <a:rPr lang="en-US" sz="2750" spc="-20" dirty="0">
                <a:latin typeface="Calibri"/>
                <a:cs typeface="Calibri"/>
              </a:rPr>
              <a:t> </a:t>
            </a:r>
            <a:r>
              <a:rPr lang="en-US" sz="2750" spc="-95" dirty="0">
                <a:latin typeface="Calibri"/>
                <a:cs typeface="Calibri"/>
              </a:rPr>
              <a:t>on</a:t>
            </a:r>
            <a:r>
              <a:rPr lang="en-US" sz="2750" spc="-65" dirty="0">
                <a:latin typeface="Calibri"/>
                <a:cs typeface="Calibri"/>
              </a:rPr>
              <a:t> </a:t>
            </a:r>
            <a:r>
              <a:rPr lang="en-US" sz="2750" spc="-100" dirty="0">
                <a:latin typeface="Calibri"/>
                <a:cs typeface="Calibri"/>
              </a:rPr>
              <a:t>the</a:t>
            </a:r>
            <a:r>
              <a:rPr lang="en-US" sz="2750" spc="-204" dirty="0">
                <a:latin typeface="Calibri"/>
                <a:cs typeface="Calibri"/>
              </a:rPr>
              <a:t> </a:t>
            </a:r>
            <a:r>
              <a:rPr lang="en-US" sz="2750" dirty="0">
                <a:latin typeface="Calibri"/>
                <a:cs typeface="Calibri"/>
              </a:rPr>
              <a:t>364</a:t>
            </a:r>
            <a:r>
              <a:rPr lang="en-US" sz="2750" spc="-125" dirty="0">
                <a:latin typeface="Calibri"/>
                <a:cs typeface="Calibri"/>
              </a:rPr>
              <a:t> </a:t>
            </a:r>
            <a:r>
              <a:rPr lang="en-US" sz="2750" spc="-10" dirty="0">
                <a:latin typeface="Calibri"/>
                <a:cs typeface="Calibri"/>
              </a:rPr>
              <a:t>students </a:t>
            </a:r>
            <a:r>
              <a:rPr lang="en-US" sz="2900" spc="-140" dirty="0">
                <a:latin typeface="Calibri"/>
                <a:cs typeface="Calibri"/>
              </a:rPr>
              <a:t>identified</a:t>
            </a:r>
            <a:r>
              <a:rPr lang="en-US" sz="2900" spc="35" dirty="0">
                <a:latin typeface="Calibri"/>
                <a:cs typeface="Calibri"/>
              </a:rPr>
              <a:t> </a:t>
            </a:r>
            <a:r>
              <a:rPr lang="en-US" sz="2900" spc="-140" dirty="0">
                <a:latin typeface="Calibri"/>
                <a:cs typeface="Calibri"/>
              </a:rPr>
              <a:t>by</a:t>
            </a:r>
            <a:r>
              <a:rPr lang="en-US" sz="2900" spc="-160" dirty="0">
                <a:latin typeface="Calibri"/>
                <a:cs typeface="Calibri"/>
              </a:rPr>
              <a:t> </a:t>
            </a:r>
            <a:r>
              <a:rPr lang="en-US" sz="2900" spc="-170" dirty="0">
                <a:latin typeface="Calibri"/>
                <a:cs typeface="Calibri"/>
              </a:rPr>
              <a:t>the</a:t>
            </a:r>
            <a:r>
              <a:rPr lang="en-US" sz="2900" spc="-90" dirty="0">
                <a:latin typeface="Calibri"/>
                <a:cs typeface="Calibri"/>
              </a:rPr>
              <a:t> </a:t>
            </a:r>
            <a:r>
              <a:rPr lang="en-US" sz="2900" spc="-215" dirty="0">
                <a:latin typeface="Calibri"/>
                <a:cs typeface="Calibri"/>
              </a:rPr>
              <a:t>model.</a:t>
            </a:r>
            <a:r>
              <a:rPr lang="en-US" sz="2900" spc="-55" dirty="0">
                <a:latin typeface="Calibri"/>
                <a:cs typeface="Calibri"/>
              </a:rPr>
              <a:t> </a:t>
            </a:r>
            <a:r>
              <a:rPr lang="en-US" sz="2900" spc="-85" dirty="0">
                <a:latin typeface="Calibri"/>
                <a:cs typeface="Calibri"/>
              </a:rPr>
              <a:t>Track </a:t>
            </a:r>
            <a:r>
              <a:rPr lang="en-US" sz="2750" spc="-120" dirty="0">
                <a:latin typeface="Calibri"/>
                <a:cs typeface="Calibri"/>
              </a:rPr>
              <a:t>engagement</a:t>
            </a:r>
            <a:r>
              <a:rPr lang="en-US" sz="2750" spc="35" dirty="0">
                <a:latin typeface="Calibri"/>
                <a:cs typeface="Calibri"/>
              </a:rPr>
              <a:t> </a:t>
            </a:r>
            <a:r>
              <a:rPr lang="en-US" sz="2750" spc="-125" dirty="0">
                <a:latin typeface="Calibri"/>
                <a:cs typeface="Calibri"/>
              </a:rPr>
              <a:t>and</a:t>
            </a:r>
            <a:r>
              <a:rPr lang="en-US" sz="2750" spc="-130" dirty="0">
                <a:latin typeface="Calibri"/>
                <a:cs typeface="Calibri"/>
              </a:rPr>
              <a:t> </a:t>
            </a:r>
            <a:r>
              <a:rPr lang="en-US" sz="2750" spc="-10" dirty="0">
                <a:latin typeface="Calibri"/>
                <a:cs typeface="Calibri"/>
              </a:rPr>
              <a:t>outcomes.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38263" y="4649258"/>
            <a:ext cx="4116704" cy="361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5240" marR="1887220" indent="1905">
              <a:lnSpc>
                <a:spcPct val="100899"/>
              </a:lnSpc>
              <a:spcBef>
                <a:spcPts val="50"/>
              </a:spcBef>
            </a:pPr>
            <a:r>
              <a:rPr sz="3500" b="1" spc="-10" dirty="0">
                <a:solidFill>
                  <a:srgbClr val="032342"/>
                </a:solidFill>
                <a:latin typeface="+mj-lt"/>
                <a:ea typeface="Cambria" panose="02040503050406030204" pitchFamily="18" charset="0"/>
                <a:cs typeface="Cambria"/>
              </a:rPr>
              <a:t>System </a:t>
            </a:r>
            <a:r>
              <a:rPr sz="3500" b="1" spc="-10" dirty="0">
                <a:solidFill>
                  <a:srgbClr val="011F3F"/>
                </a:solidFill>
                <a:latin typeface="+mj-lt"/>
                <a:ea typeface="Cambria" panose="02040503050406030204" pitchFamily="18" charset="0"/>
                <a:cs typeface="Cambria"/>
              </a:rPr>
              <a:t>Integration</a:t>
            </a:r>
            <a:endParaRPr sz="3500" b="1" dirty="0">
              <a:latin typeface="+mj-lt"/>
              <a:ea typeface="Cambria" panose="02040503050406030204" pitchFamily="18" charset="0"/>
              <a:cs typeface="Cambria"/>
            </a:endParaRPr>
          </a:p>
          <a:p>
            <a:pPr marL="12700" marR="5080" indent="5715">
              <a:lnSpc>
                <a:spcPct val="90000"/>
              </a:lnSpc>
              <a:spcBef>
                <a:spcPts val="1870"/>
              </a:spcBef>
            </a:pPr>
            <a:r>
              <a:rPr sz="2750" spc="-50" dirty="0">
                <a:latin typeface="Calibri"/>
                <a:cs typeface="Calibri"/>
              </a:rPr>
              <a:t>Work</a:t>
            </a:r>
            <a:r>
              <a:rPr sz="2750" spc="-20" dirty="0">
                <a:latin typeface="Calibri"/>
                <a:cs typeface="Calibri"/>
              </a:rPr>
              <a:t> </a:t>
            </a:r>
            <a:r>
              <a:rPr sz="2750" spc="-85" dirty="0">
                <a:latin typeface="Calibri"/>
                <a:cs typeface="Calibri"/>
              </a:rPr>
              <a:t>with</a:t>
            </a:r>
            <a:r>
              <a:rPr sz="2750" spc="-4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IT</a:t>
            </a:r>
            <a:r>
              <a:rPr sz="2750" spc="-165" dirty="0">
                <a:latin typeface="Calibri"/>
                <a:cs typeface="Calibri"/>
              </a:rPr>
              <a:t> </a:t>
            </a:r>
            <a:r>
              <a:rPr sz="2750" spc="-105" dirty="0">
                <a:latin typeface="Calibri"/>
                <a:cs typeface="Calibri"/>
              </a:rPr>
              <a:t>to</a:t>
            </a:r>
            <a:r>
              <a:rPr sz="2750" spc="-16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integrate </a:t>
            </a:r>
            <a:r>
              <a:rPr sz="2750" spc="-140" dirty="0">
                <a:latin typeface="Calibri"/>
                <a:cs typeface="Calibri"/>
              </a:rPr>
              <a:t>model</a:t>
            </a:r>
            <a:r>
              <a:rPr sz="2750" spc="-50" dirty="0">
                <a:latin typeface="Calibri"/>
                <a:cs typeface="Calibri"/>
              </a:rPr>
              <a:t> </a:t>
            </a:r>
            <a:r>
              <a:rPr sz="2750" spc="-95" dirty="0">
                <a:latin typeface="Calibri"/>
                <a:cs typeface="Calibri"/>
              </a:rPr>
              <a:t>outputs</a:t>
            </a:r>
            <a:r>
              <a:rPr sz="2750" spc="-6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(risk</a:t>
            </a:r>
            <a:r>
              <a:rPr sz="2750" spc="-30" dirty="0">
                <a:latin typeface="Calibri"/>
                <a:cs typeface="Calibri"/>
              </a:rPr>
              <a:t> </a:t>
            </a:r>
            <a:r>
              <a:rPr sz="2750" spc="-55" dirty="0">
                <a:latin typeface="Calibri"/>
                <a:cs typeface="Calibri"/>
              </a:rPr>
              <a:t>scores</a:t>
            </a:r>
            <a:r>
              <a:rPr sz="2750" spc="-140" dirty="0">
                <a:latin typeface="Calibri"/>
                <a:cs typeface="Calibri"/>
              </a:rPr>
              <a:t> </a:t>
            </a:r>
            <a:r>
              <a:rPr sz="2750" spc="-45" dirty="0">
                <a:latin typeface="Calibri"/>
                <a:cs typeface="Calibri"/>
              </a:rPr>
              <a:t>and </a:t>
            </a:r>
            <a:r>
              <a:rPr sz="2750" spc="-85" dirty="0">
                <a:latin typeface="Calibri"/>
                <a:cs typeface="Calibri"/>
              </a:rPr>
              <a:t>key</a:t>
            </a:r>
            <a:r>
              <a:rPr sz="2750" spc="-6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risk</a:t>
            </a:r>
            <a:r>
              <a:rPr sz="2750" spc="-110" dirty="0">
                <a:latin typeface="Calibri"/>
                <a:cs typeface="Calibri"/>
              </a:rPr>
              <a:t> </a:t>
            </a:r>
            <a:r>
              <a:rPr sz="2750" spc="-75" dirty="0">
                <a:latin typeface="Calibri"/>
                <a:cs typeface="Calibri"/>
              </a:rPr>
              <a:t>factors)</a:t>
            </a:r>
            <a:r>
              <a:rPr sz="2750" spc="-45" dirty="0">
                <a:latin typeface="Calibri"/>
                <a:cs typeface="Calibri"/>
              </a:rPr>
              <a:t> </a:t>
            </a:r>
            <a:r>
              <a:rPr sz="2750" spc="-80" dirty="0">
                <a:latin typeface="Calibri"/>
                <a:cs typeface="Calibri"/>
              </a:rPr>
              <a:t>into </a:t>
            </a:r>
            <a:r>
              <a:rPr sz="2750" spc="-25" dirty="0">
                <a:latin typeface="Calibri"/>
                <a:cs typeface="Calibri"/>
              </a:rPr>
              <a:t>the </a:t>
            </a:r>
            <a:r>
              <a:rPr sz="2750" spc="-35" dirty="0">
                <a:latin typeface="Calibri"/>
                <a:cs typeface="Calibri"/>
              </a:rPr>
              <a:t>existing</a:t>
            </a:r>
            <a:r>
              <a:rPr sz="2750" spc="-95" dirty="0">
                <a:latin typeface="Calibri"/>
                <a:cs typeface="Calibri"/>
              </a:rPr>
              <a:t> </a:t>
            </a:r>
            <a:r>
              <a:rPr sz="2750" spc="-90" dirty="0">
                <a:latin typeface="Calibri"/>
                <a:cs typeface="Calibri"/>
              </a:rPr>
              <a:t>student</a:t>
            </a:r>
            <a:r>
              <a:rPr sz="2750" spc="-3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advisory </a:t>
            </a:r>
            <a:r>
              <a:rPr sz="2750" spc="-85" dirty="0">
                <a:latin typeface="Calibri"/>
                <a:cs typeface="Calibri"/>
              </a:rPr>
              <a:t>dashboard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spc="-105" dirty="0">
                <a:latin typeface="Calibri"/>
                <a:cs typeface="Calibri"/>
              </a:rPr>
              <a:t>to</a:t>
            </a:r>
            <a:r>
              <a:rPr sz="2750" spc="-195" dirty="0">
                <a:latin typeface="Calibri"/>
                <a:cs typeface="Calibri"/>
              </a:rPr>
              <a:t> </a:t>
            </a:r>
            <a:r>
              <a:rPr sz="2750" spc="-114" dirty="0">
                <a:latin typeface="Calibri"/>
                <a:cs typeface="Calibri"/>
              </a:rPr>
              <a:t>make</a:t>
            </a:r>
            <a:r>
              <a:rPr sz="2750" spc="-50" dirty="0">
                <a:latin typeface="Calibri"/>
                <a:cs typeface="Calibri"/>
              </a:rPr>
              <a:t> </a:t>
            </a:r>
            <a:r>
              <a:rPr sz="2750" spc="-70" dirty="0">
                <a:latin typeface="Calibri"/>
                <a:cs typeface="Calibri"/>
              </a:rPr>
              <a:t>this</a:t>
            </a:r>
            <a:r>
              <a:rPr sz="2750" spc="-18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data </a:t>
            </a:r>
            <a:r>
              <a:rPr sz="2750" spc="-55" dirty="0">
                <a:latin typeface="Calibri"/>
                <a:cs typeface="Calibri"/>
              </a:rPr>
              <a:t>accessible</a:t>
            </a:r>
            <a:r>
              <a:rPr sz="2750" spc="-35" dirty="0">
                <a:latin typeface="Calibri"/>
                <a:cs typeface="Calibri"/>
              </a:rPr>
              <a:t> </a:t>
            </a:r>
            <a:r>
              <a:rPr sz="2750" spc="-30" dirty="0">
                <a:latin typeface="Calibri"/>
                <a:cs typeface="Calibri"/>
              </a:rPr>
              <a:t>in</a:t>
            </a:r>
            <a:r>
              <a:rPr sz="2750" spc="-285" dirty="0">
                <a:latin typeface="Calibri"/>
                <a:cs typeface="Calibri"/>
              </a:rPr>
              <a:t> </a:t>
            </a:r>
            <a:r>
              <a:rPr sz="2750" spc="-85" dirty="0">
                <a:latin typeface="Calibri"/>
                <a:cs typeface="Calibri"/>
              </a:rPr>
              <a:t>real-</a:t>
            </a:r>
            <a:r>
              <a:rPr sz="2750" spc="-10" dirty="0">
                <a:latin typeface="Calibri"/>
                <a:cs typeface="Calibri"/>
              </a:rPr>
              <a:t>time.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03632" y="4640438"/>
            <a:ext cx="4081779" cy="399669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57785" marR="2043430">
              <a:lnSpc>
                <a:spcPts val="4300"/>
              </a:lnSpc>
              <a:spcBef>
                <a:spcPts val="270"/>
              </a:spcBef>
            </a:pPr>
            <a:r>
              <a:rPr sz="3500" b="1" spc="-10" dirty="0">
                <a:solidFill>
                  <a:srgbClr val="072849"/>
                </a:solidFill>
                <a:latin typeface="+mj-lt"/>
                <a:cs typeface="Cambria"/>
              </a:rPr>
              <a:t>Develop </a:t>
            </a:r>
            <a:r>
              <a:rPr sz="3500" b="1" spc="-45" dirty="0">
                <a:solidFill>
                  <a:srgbClr val="05233F"/>
                </a:solidFill>
                <a:latin typeface="+mj-lt"/>
                <a:cs typeface="Cambria"/>
              </a:rPr>
              <a:t>Playbooks</a:t>
            </a:r>
            <a:endParaRPr lang="en-PH" sz="3500" b="1" spc="-45" dirty="0">
              <a:solidFill>
                <a:srgbClr val="05233F"/>
              </a:solidFill>
              <a:latin typeface="+mj-lt"/>
              <a:cs typeface="Cambria"/>
            </a:endParaRPr>
          </a:p>
          <a:p>
            <a:pPr marL="12700" marR="5080" indent="55244">
              <a:lnSpc>
                <a:spcPct val="89300"/>
              </a:lnSpc>
              <a:spcBef>
                <a:spcPts val="1655"/>
              </a:spcBef>
            </a:pPr>
            <a:r>
              <a:rPr lang="en-US" sz="2850" spc="-80" dirty="0">
                <a:latin typeface="Calibri"/>
                <a:cs typeface="Calibri"/>
              </a:rPr>
              <a:t>Create</a:t>
            </a:r>
            <a:r>
              <a:rPr lang="en-US" sz="2850" spc="-35" dirty="0">
                <a:latin typeface="Calibri"/>
                <a:cs typeface="Calibri"/>
              </a:rPr>
              <a:t> </a:t>
            </a:r>
            <a:r>
              <a:rPr lang="en-US" sz="2850" spc="-120" dirty="0">
                <a:latin typeface="Calibri"/>
                <a:cs typeface="Calibri"/>
              </a:rPr>
              <a:t>targeted</a:t>
            </a:r>
            <a:r>
              <a:rPr lang="en-US" sz="2850" spc="-110" dirty="0">
                <a:latin typeface="Calibri"/>
                <a:cs typeface="Calibri"/>
              </a:rPr>
              <a:t> </a:t>
            </a:r>
            <a:r>
              <a:rPr lang="en-US" sz="2850" spc="-35" dirty="0">
                <a:latin typeface="Calibri"/>
                <a:cs typeface="Calibri"/>
              </a:rPr>
              <a:t>intervention </a:t>
            </a:r>
            <a:r>
              <a:rPr lang="en-US" sz="2750" dirty="0">
                <a:latin typeface="Calibri"/>
                <a:cs typeface="Calibri"/>
              </a:rPr>
              <a:t>playbooks for</a:t>
            </a:r>
            <a:r>
              <a:rPr lang="en-US" sz="2750" spc="-285" dirty="0">
                <a:latin typeface="Calibri"/>
                <a:cs typeface="Calibri"/>
              </a:rPr>
              <a:t> </a:t>
            </a:r>
            <a:r>
              <a:rPr lang="en-US" sz="2750" spc="-40" dirty="0">
                <a:latin typeface="Calibri"/>
                <a:cs typeface="Calibri"/>
              </a:rPr>
              <a:t>advisors</a:t>
            </a:r>
            <a:r>
              <a:rPr lang="en-US" sz="2750" spc="120" dirty="0">
                <a:latin typeface="Calibri"/>
                <a:cs typeface="Calibri"/>
              </a:rPr>
              <a:t> </a:t>
            </a:r>
            <a:r>
              <a:rPr lang="en-US" sz="2750" spc="-65" dirty="0">
                <a:latin typeface="Calibri"/>
                <a:cs typeface="Calibri"/>
              </a:rPr>
              <a:t>based </a:t>
            </a:r>
            <a:r>
              <a:rPr lang="en-US" sz="2750" spc="-95" dirty="0">
                <a:latin typeface="Calibri"/>
                <a:cs typeface="Calibri"/>
              </a:rPr>
              <a:t>on</a:t>
            </a:r>
            <a:r>
              <a:rPr lang="en-US" sz="2750" spc="-170" dirty="0">
                <a:latin typeface="Calibri"/>
                <a:cs typeface="Calibri"/>
              </a:rPr>
              <a:t> </a:t>
            </a:r>
            <a:r>
              <a:rPr lang="en-US" sz="2750" spc="-100" dirty="0">
                <a:latin typeface="Calibri"/>
                <a:cs typeface="Calibri"/>
              </a:rPr>
              <a:t>the</a:t>
            </a:r>
            <a:r>
              <a:rPr lang="en-US" sz="2750" spc="-165" dirty="0">
                <a:latin typeface="Calibri"/>
                <a:cs typeface="Calibri"/>
              </a:rPr>
              <a:t> </a:t>
            </a:r>
            <a:r>
              <a:rPr lang="en-US" sz="2750" spc="-80" dirty="0">
                <a:latin typeface="Calibri"/>
                <a:cs typeface="Calibri"/>
              </a:rPr>
              <a:t>primary</a:t>
            </a:r>
            <a:r>
              <a:rPr lang="en-US" sz="2750" spc="-100" dirty="0">
                <a:latin typeface="Calibri"/>
                <a:cs typeface="Calibri"/>
              </a:rPr>
              <a:t> </a:t>
            </a:r>
            <a:r>
              <a:rPr lang="en-US" sz="2750" dirty="0">
                <a:latin typeface="Calibri"/>
                <a:cs typeface="Calibri"/>
              </a:rPr>
              <a:t>risk</a:t>
            </a:r>
            <a:r>
              <a:rPr lang="en-US" sz="2750" spc="-125" dirty="0">
                <a:latin typeface="Calibri"/>
                <a:cs typeface="Calibri"/>
              </a:rPr>
              <a:t> </a:t>
            </a:r>
            <a:r>
              <a:rPr lang="en-US" sz="2750" spc="-10" dirty="0">
                <a:latin typeface="Calibri"/>
                <a:cs typeface="Calibri"/>
              </a:rPr>
              <a:t>factors </a:t>
            </a:r>
            <a:r>
              <a:rPr lang="en-US" sz="2750" spc="-70" dirty="0">
                <a:latin typeface="Calibri"/>
                <a:cs typeface="Calibri"/>
              </a:rPr>
              <a:t>identified</a:t>
            </a:r>
            <a:r>
              <a:rPr lang="en-US" sz="2750" spc="-15" dirty="0">
                <a:latin typeface="Calibri"/>
                <a:cs typeface="Calibri"/>
              </a:rPr>
              <a:t> </a:t>
            </a:r>
            <a:r>
              <a:rPr lang="en-US" sz="2750" spc="-125" dirty="0">
                <a:latin typeface="Calibri"/>
                <a:cs typeface="Calibri"/>
              </a:rPr>
              <a:t>by</a:t>
            </a:r>
            <a:r>
              <a:rPr lang="en-US" sz="2750" spc="-20" dirty="0">
                <a:latin typeface="Calibri"/>
                <a:cs typeface="Calibri"/>
              </a:rPr>
              <a:t> </a:t>
            </a:r>
            <a:r>
              <a:rPr lang="en-US" sz="2750" spc="-100" dirty="0">
                <a:latin typeface="Calibri"/>
                <a:cs typeface="Calibri"/>
              </a:rPr>
              <a:t>the</a:t>
            </a:r>
            <a:r>
              <a:rPr lang="en-US" sz="2750" spc="-185" dirty="0">
                <a:latin typeface="Calibri"/>
                <a:cs typeface="Calibri"/>
              </a:rPr>
              <a:t> </a:t>
            </a:r>
            <a:r>
              <a:rPr lang="en-US" sz="2750" spc="-130" dirty="0">
                <a:latin typeface="Calibri"/>
                <a:cs typeface="Calibri"/>
              </a:rPr>
              <a:t>model</a:t>
            </a:r>
            <a:r>
              <a:rPr lang="en-US" sz="2750" dirty="0">
                <a:latin typeface="Calibri"/>
                <a:cs typeface="Calibri"/>
              </a:rPr>
              <a:t> </a:t>
            </a:r>
            <a:r>
              <a:rPr lang="en-US" sz="2750" spc="-10" dirty="0">
                <a:latin typeface="Calibri"/>
                <a:cs typeface="Calibri"/>
              </a:rPr>
              <a:t>(e.g., </a:t>
            </a:r>
            <a:r>
              <a:rPr lang="en-US" sz="2750" spc="-65" dirty="0">
                <a:latin typeface="Calibri"/>
                <a:cs typeface="Calibri"/>
              </a:rPr>
              <a:t>specific</a:t>
            </a:r>
            <a:r>
              <a:rPr lang="en-US" sz="2750" spc="-55" dirty="0">
                <a:latin typeface="Calibri"/>
                <a:cs typeface="Calibri"/>
              </a:rPr>
              <a:t> </a:t>
            </a:r>
            <a:r>
              <a:rPr lang="en-US" sz="2750" spc="-70" dirty="0">
                <a:latin typeface="Calibri"/>
                <a:cs typeface="Calibri"/>
              </a:rPr>
              <a:t>protocols</a:t>
            </a:r>
            <a:r>
              <a:rPr lang="en-US" sz="2750" spc="-5" dirty="0">
                <a:latin typeface="Calibri"/>
                <a:cs typeface="Calibri"/>
              </a:rPr>
              <a:t> </a:t>
            </a:r>
            <a:r>
              <a:rPr lang="en-US" sz="2750" spc="-25" dirty="0">
                <a:latin typeface="Calibri"/>
                <a:cs typeface="Calibri"/>
              </a:rPr>
              <a:t>for </a:t>
            </a:r>
            <a:r>
              <a:rPr lang="en-US" sz="2850" spc="-125" dirty="0">
                <a:latin typeface="Calibri"/>
                <a:cs typeface="Calibri"/>
              </a:rPr>
              <a:t>academic load </a:t>
            </a:r>
            <a:r>
              <a:rPr lang="en-US" sz="2850" spc="-100" dirty="0">
                <a:latin typeface="Calibri"/>
                <a:cs typeface="Calibri"/>
              </a:rPr>
              <a:t>issues</a:t>
            </a:r>
            <a:r>
              <a:rPr lang="en-US" sz="2850" spc="-65" dirty="0">
                <a:latin typeface="Calibri"/>
                <a:cs typeface="Calibri"/>
              </a:rPr>
              <a:t> </a:t>
            </a:r>
            <a:r>
              <a:rPr lang="en-US" sz="2850" spc="-25" dirty="0">
                <a:latin typeface="Calibri"/>
                <a:cs typeface="Calibri"/>
              </a:rPr>
              <a:t>vs. </a:t>
            </a:r>
            <a:r>
              <a:rPr lang="en-US" sz="2750" spc="-60" dirty="0">
                <a:latin typeface="Calibri"/>
                <a:cs typeface="Calibri"/>
              </a:rPr>
              <a:t>financial</a:t>
            </a:r>
            <a:r>
              <a:rPr lang="en-US" sz="2750" spc="-85" dirty="0">
                <a:latin typeface="Calibri"/>
                <a:cs typeface="Calibri"/>
              </a:rPr>
              <a:t> </a:t>
            </a:r>
            <a:r>
              <a:rPr lang="en-US" sz="2750" spc="-10" dirty="0">
                <a:latin typeface="Calibri"/>
                <a:cs typeface="Calibri"/>
              </a:rPr>
              <a:t>pressures).</a:t>
            </a:r>
            <a:endParaRPr lang="en-US" sz="27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xfrm>
            <a:off x="2561522" y="1889682"/>
            <a:ext cx="12352154" cy="7064223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R="9525" algn="ctr">
              <a:lnSpc>
                <a:spcPct val="100000"/>
              </a:lnSpc>
              <a:spcBef>
                <a:spcPts val="1040"/>
              </a:spcBef>
            </a:pPr>
            <a:r>
              <a:rPr dirty="0">
                <a:solidFill>
                  <a:srgbClr val="012642"/>
                </a:solidFill>
                <a:latin typeface="Berlin Sans FB Demi" panose="020E0802020502020306" pitchFamily="34" charset="0"/>
              </a:rPr>
              <a:t>From</a:t>
            </a:r>
            <a:r>
              <a:rPr spc="5" dirty="0">
                <a:solidFill>
                  <a:srgbClr val="012642"/>
                </a:solidFill>
                <a:latin typeface="Berlin Sans FB Demi" panose="020E0802020502020306" pitchFamily="34" charset="0"/>
              </a:rPr>
              <a:t> </a:t>
            </a:r>
            <a:r>
              <a:rPr spc="110" dirty="0">
                <a:latin typeface="Berlin Sans FB Demi" panose="020E0802020502020306" pitchFamily="34" charset="0"/>
              </a:rPr>
              <a:t>Insight</a:t>
            </a:r>
            <a:r>
              <a:rPr spc="550" dirty="0">
                <a:latin typeface="Berlin Sans FB Demi" panose="020E0802020502020306" pitchFamily="34" charset="0"/>
              </a:rPr>
              <a:t> </a:t>
            </a:r>
            <a:r>
              <a:rPr spc="114" dirty="0">
                <a:solidFill>
                  <a:srgbClr val="002B4B"/>
                </a:solidFill>
                <a:latin typeface="Berlin Sans FB Demi" panose="020E0802020502020306" pitchFamily="34" charset="0"/>
              </a:rPr>
              <a:t>to</a:t>
            </a:r>
            <a:r>
              <a:rPr spc="-185" dirty="0">
                <a:solidFill>
                  <a:srgbClr val="002B4B"/>
                </a:solidFill>
                <a:latin typeface="Berlin Sans FB Demi" panose="020E0802020502020306" pitchFamily="34" charset="0"/>
              </a:rPr>
              <a:t> </a:t>
            </a:r>
            <a:r>
              <a:rPr spc="-10" dirty="0">
                <a:solidFill>
                  <a:srgbClr val="002644"/>
                </a:solidFill>
                <a:latin typeface="Berlin Sans FB Demi" panose="020E0802020502020306" pitchFamily="34" charset="0"/>
              </a:rPr>
              <a:t>Impact</a:t>
            </a:r>
          </a:p>
          <a:p>
            <a:pPr marR="5080" algn="ctr">
              <a:lnSpc>
                <a:spcPct val="94200"/>
              </a:lnSpc>
              <a:spcBef>
                <a:spcPts val="720"/>
              </a:spcBef>
            </a:pPr>
            <a:endParaRPr lang="en-PH" sz="4150" spc="-114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R="5080" algn="ctr">
              <a:lnSpc>
                <a:spcPct val="94200"/>
              </a:lnSpc>
              <a:spcBef>
                <a:spcPts val="720"/>
              </a:spcBef>
            </a:pPr>
            <a:r>
              <a:rPr sz="4150" spc="-114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4150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150" spc="-145" dirty="0">
                <a:solidFill>
                  <a:srgbClr val="000000"/>
                </a:solidFill>
                <a:latin typeface="Calibri"/>
                <a:cs typeface="Calibri"/>
              </a:rPr>
              <a:t>Student</a:t>
            </a:r>
            <a:r>
              <a:rPr sz="415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150" spc="-75" dirty="0">
                <a:solidFill>
                  <a:srgbClr val="000000"/>
                </a:solidFill>
                <a:latin typeface="Calibri"/>
                <a:cs typeface="Calibri"/>
              </a:rPr>
              <a:t>Success</a:t>
            </a:r>
            <a:r>
              <a:rPr sz="4150" spc="-1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150" spc="-135" dirty="0">
                <a:solidFill>
                  <a:srgbClr val="000000"/>
                </a:solidFill>
                <a:latin typeface="Calibri"/>
                <a:cs typeface="Calibri"/>
              </a:rPr>
              <a:t>Prediction</a:t>
            </a:r>
            <a:r>
              <a:rPr sz="4150" spc="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150" spc="-190" dirty="0">
                <a:solidFill>
                  <a:srgbClr val="000000"/>
                </a:solidFill>
                <a:latin typeface="Calibri"/>
                <a:cs typeface="Calibri"/>
              </a:rPr>
              <a:t>Model</a:t>
            </a:r>
            <a:r>
              <a:rPr sz="415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150" spc="-130" dirty="0">
                <a:solidFill>
                  <a:srgbClr val="000000"/>
                </a:solidFill>
                <a:latin typeface="Calibri"/>
                <a:cs typeface="Calibri"/>
              </a:rPr>
              <a:t>provides</a:t>
            </a:r>
            <a:r>
              <a:rPr sz="415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150" spc="-18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4150" spc="-1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150" spc="-85" dirty="0">
                <a:solidFill>
                  <a:srgbClr val="000000"/>
                </a:solidFill>
                <a:latin typeface="Calibri"/>
                <a:cs typeface="Calibri"/>
              </a:rPr>
              <a:t>university </a:t>
            </a:r>
            <a:r>
              <a:rPr sz="4000" spc="-80" dirty="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sz="4000" spc="-1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4000" spc="-2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75" dirty="0">
                <a:solidFill>
                  <a:srgbClr val="000000"/>
                </a:solidFill>
                <a:latin typeface="Calibri"/>
                <a:cs typeface="Calibri"/>
              </a:rPr>
              <a:t>powerful</a:t>
            </a:r>
            <a:r>
              <a:rPr sz="4000" spc="-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85" dirty="0">
                <a:solidFill>
                  <a:srgbClr val="000000"/>
                </a:solidFill>
                <a:latin typeface="Calibri"/>
                <a:cs typeface="Calibri"/>
              </a:rPr>
              <a:t>new</a:t>
            </a:r>
            <a:r>
              <a:rPr sz="4000" spc="-1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70" dirty="0">
                <a:solidFill>
                  <a:srgbClr val="000000"/>
                </a:solidFill>
                <a:latin typeface="Calibri"/>
                <a:cs typeface="Calibri"/>
              </a:rPr>
              <a:t>capability.</a:t>
            </a:r>
            <a:r>
              <a:rPr sz="40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00"/>
                </a:solidFill>
                <a:latin typeface="Calibri"/>
                <a:cs typeface="Calibri"/>
              </a:rPr>
              <a:t>It</a:t>
            </a:r>
            <a:r>
              <a:rPr sz="4000" spc="-2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60" dirty="0">
                <a:solidFill>
                  <a:srgbClr val="000000"/>
                </a:solidFill>
                <a:latin typeface="Calibri"/>
                <a:cs typeface="Calibri"/>
              </a:rPr>
              <a:t>allows</a:t>
            </a:r>
            <a:r>
              <a:rPr sz="400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00"/>
                </a:solidFill>
                <a:latin typeface="Calibri"/>
                <a:cs typeface="Calibri"/>
              </a:rPr>
              <a:t>us</a:t>
            </a:r>
            <a:r>
              <a:rPr sz="400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95" dirty="0">
                <a:solidFill>
                  <a:srgbClr val="0A0A0A"/>
                </a:solidFill>
                <a:latin typeface="Calibri"/>
                <a:cs typeface="Calibri"/>
              </a:rPr>
              <a:t>to</a:t>
            </a:r>
            <a:r>
              <a:rPr sz="4000" spc="-13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4000" spc="-85" dirty="0">
                <a:solidFill>
                  <a:srgbClr val="000000"/>
                </a:solidFill>
                <a:latin typeface="Calibri"/>
                <a:cs typeface="Calibri"/>
              </a:rPr>
              <a:t>move</a:t>
            </a:r>
            <a:r>
              <a:rPr sz="4000" spc="-1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000000"/>
                </a:solidFill>
                <a:latin typeface="Calibri"/>
                <a:cs typeface="Calibri"/>
              </a:rPr>
              <a:t>beyond </a:t>
            </a:r>
            <a:r>
              <a:rPr sz="4000" spc="-90" dirty="0">
                <a:solidFill>
                  <a:srgbClr val="000000"/>
                </a:solidFill>
                <a:latin typeface="Calibri"/>
                <a:cs typeface="Calibri"/>
              </a:rPr>
              <a:t>intuition</a:t>
            </a:r>
            <a:r>
              <a:rPr sz="4000" spc="-1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75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4000" spc="-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85" dirty="0">
                <a:solidFill>
                  <a:srgbClr val="000000"/>
                </a:solidFill>
                <a:latin typeface="Calibri"/>
                <a:cs typeface="Calibri"/>
              </a:rPr>
              <a:t>traditional</a:t>
            </a:r>
            <a:r>
              <a:rPr sz="400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95" dirty="0">
                <a:solidFill>
                  <a:srgbClr val="000000"/>
                </a:solidFill>
                <a:latin typeface="Calibri"/>
                <a:cs typeface="Calibri"/>
              </a:rPr>
              <a:t>metrics</a:t>
            </a:r>
            <a:r>
              <a:rPr sz="40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8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4000" spc="-1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E0E0E"/>
                </a:solidFill>
                <a:latin typeface="Calibri"/>
                <a:cs typeface="Calibri"/>
              </a:rPr>
              <a:t>a</a:t>
            </a:r>
            <a:r>
              <a:rPr sz="4000" spc="-22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4000" spc="-65" dirty="0">
                <a:solidFill>
                  <a:srgbClr val="000000"/>
                </a:solidFill>
                <a:latin typeface="Calibri"/>
                <a:cs typeface="Calibri"/>
              </a:rPr>
              <a:t>truly</a:t>
            </a:r>
            <a:r>
              <a:rPr sz="4000" spc="-1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130" dirty="0">
                <a:solidFill>
                  <a:srgbClr val="000000"/>
                </a:solidFill>
                <a:latin typeface="Calibri"/>
                <a:cs typeface="Calibri"/>
              </a:rPr>
              <a:t>data-</a:t>
            </a:r>
            <a:r>
              <a:rPr sz="4000" spc="-60" dirty="0">
                <a:solidFill>
                  <a:srgbClr val="000000"/>
                </a:solidFill>
                <a:latin typeface="Calibri"/>
                <a:cs typeface="Calibri"/>
              </a:rPr>
              <a:t>driven</a:t>
            </a:r>
            <a:r>
              <a:rPr sz="4000" spc="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000000"/>
                </a:solidFill>
                <a:latin typeface="Calibri"/>
                <a:cs typeface="Calibri"/>
              </a:rPr>
              <a:t>strategy </a:t>
            </a:r>
            <a:r>
              <a:rPr sz="4000" spc="-75"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sz="4000" spc="-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130" dirty="0">
                <a:solidFill>
                  <a:srgbClr val="000000"/>
                </a:solidFill>
                <a:latin typeface="Calibri"/>
                <a:cs typeface="Calibri"/>
              </a:rPr>
              <a:t>student</a:t>
            </a:r>
            <a:r>
              <a:rPr sz="400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120" dirty="0">
                <a:solidFill>
                  <a:srgbClr val="000000"/>
                </a:solidFill>
                <a:latin typeface="Calibri"/>
                <a:cs typeface="Calibri"/>
              </a:rPr>
              <a:t>retention.</a:t>
            </a:r>
            <a:r>
              <a:rPr sz="400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00"/>
                </a:solidFill>
                <a:latin typeface="Calibri"/>
                <a:cs typeface="Calibri"/>
              </a:rPr>
              <a:t>By</a:t>
            </a:r>
            <a:r>
              <a:rPr sz="400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125" dirty="0">
                <a:solidFill>
                  <a:srgbClr val="000000"/>
                </a:solidFill>
                <a:latin typeface="Calibri"/>
                <a:cs typeface="Calibri"/>
              </a:rPr>
              <a:t>understanding</a:t>
            </a:r>
            <a:r>
              <a:rPr sz="4000" spc="2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100" dirty="0">
                <a:solidFill>
                  <a:srgbClr val="000000"/>
                </a:solidFill>
                <a:latin typeface="Calibri"/>
                <a:cs typeface="Calibri"/>
              </a:rPr>
              <a:t>not </a:t>
            </a:r>
            <a:r>
              <a:rPr sz="4000" spc="-60" dirty="0">
                <a:solidFill>
                  <a:srgbClr val="000000"/>
                </a:solidFill>
                <a:latin typeface="Calibri"/>
                <a:cs typeface="Calibri"/>
              </a:rPr>
              <a:t>just</a:t>
            </a:r>
            <a:r>
              <a:rPr sz="4000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b="1" i="1" spc="-310" dirty="0">
                <a:solidFill>
                  <a:srgbClr val="000000"/>
                </a:solidFill>
                <a:latin typeface="Calibri"/>
                <a:cs typeface="Calibri"/>
              </a:rPr>
              <a:t>who</a:t>
            </a:r>
            <a:r>
              <a:rPr sz="40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4000" spc="-1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70" dirty="0">
                <a:solidFill>
                  <a:srgbClr val="000000"/>
                </a:solidFill>
                <a:latin typeface="Calibri"/>
                <a:cs typeface="Calibri"/>
              </a:rPr>
              <a:t>at</a:t>
            </a:r>
            <a:r>
              <a:rPr sz="4000" spc="-1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000000"/>
                </a:solidFill>
                <a:latin typeface="Calibri"/>
                <a:cs typeface="Calibri"/>
              </a:rPr>
              <a:t>risk, </a:t>
            </a:r>
            <a:r>
              <a:rPr sz="4000" spc="-125" dirty="0">
                <a:solidFill>
                  <a:srgbClr val="000000"/>
                </a:solidFill>
                <a:latin typeface="Calibri"/>
                <a:cs typeface="Calibri"/>
              </a:rPr>
              <a:t>but</a:t>
            </a:r>
            <a:r>
              <a:rPr sz="400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PH" sz="4000" b="1" i="1" spc="-185" dirty="0">
                <a:solidFill>
                  <a:srgbClr val="000000"/>
                </a:solidFill>
                <a:latin typeface="Calibri"/>
                <a:cs typeface="Calibri"/>
              </a:rPr>
              <a:t>why</a:t>
            </a:r>
            <a:r>
              <a:rPr sz="4000" i="1" spc="-185" dirty="0">
                <a:solidFill>
                  <a:srgbClr val="000000"/>
                </a:solidFill>
                <a:latin typeface="Calibri"/>
                <a:cs typeface="Calibri"/>
              </a:rPr>
              <a:t>, </a:t>
            </a:r>
            <a:r>
              <a:rPr sz="4000" spc="-105" dirty="0">
                <a:solidFill>
                  <a:srgbClr val="000000"/>
                </a:solidFill>
                <a:latin typeface="Calibri"/>
                <a:cs typeface="Calibri"/>
              </a:rPr>
              <a:t>we</a:t>
            </a:r>
            <a:r>
              <a:rPr sz="4000" spc="-1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70" dirty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sz="4000" spc="-1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120" dirty="0">
                <a:solidFill>
                  <a:srgbClr val="000000"/>
                </a:solidFill>
                <a:latin typeface="Calibri"/>
                <a:cs typeface="Calibri"/>
              </a:rPr>
              <a:t>ensure</a:t>
            </a:r>
            <a:r>
              <a:rPr sz="400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114" dirty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sz="4000" spc="-110" dirty="0">
                <a:solidFill>
                  <a:srgbClr val="000000"/>
                </a:solidFill>
                <a:latin typeface="Calibri"/>
                <a:cs typeface="Calibri"/>
              </a:rPr>
              <a:t> every</a:t>
            </a:r>
            <a:r>
              <a:rPr sz="4000" spc="-1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130" dirty="0">
                <a:solidFill>
                  <a:srgbClr val="000000"/>
                </a:solidFill>
                <a:latin typeface="Calibri"/>
                <a:cs typeface="Calibri"/>
              </a:rPr>
              <a:t>student</a:t>
            </a:r>
            <a:r>
              <a:rPr sz="400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40" dirty="0">
                <a:solidFill>
                  <a:srgbClr val="000000"/>
                </a:solidFill>
                <a:latin typeface="Calibri"/>
                <a:cs typeface="Calibri"/>
              </a:rPr>
              <a:t>has</a:t>
            </a:r>
            <a:r>
              <a:rPr sz="40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135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400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000000"/>
                </a:solidFill>
                <a:latin typeface="Calibri"/>
                <a:cs typeface="Calibri"/>
              </a:rPr>
              <a:t>optimal </a:t>
            </a:r>
            <a:r>
              <a:rPr sz="3950" spc="-65" dirty="0">
                <a:solidFill>
                  <a:srgbClr val="000000"/>
                </a:solidFill>
                <a:latin typeface="Calibri"/>
                <a:cs typeface="Calibri"/>
              </a:rPr>
              <a:t>support</a:t>
            </a:r>
            <a:r>
              <a:rPr sz="3950" spc="-80" dirty="0">
                <a:solidFill>
                  <a:srgbClr val="000000"/>
                </a:solidFill>
                <a:latin typeface="Calibri"/>
                <a:cs typeface="Calibri"/>
              </a:rPr>
              <a:t> structure</a:t>
            </a:r>
            <a:r>
              <a:rPr sz="3950" spc="-1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95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3950" spc="-2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950" spc="-10" dirty="0">
                <a:solidFill>
                  <a:srgbClr val="000000"/>
                </a:solidFill>
                <a:latin typeface="Calibri"/>
                <a:cs typeface="Calibri"/>
              </a:rPr>
              <a:t>succeed.</a:t>
            </a:r>
            <a:endParaRPr sz="39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90</TotalTime>
  <Words>1356</Words>
  <Application>Microsoft Office PowerPoint</Application>
  <PresentationFormat>Custom</PresentationFormat>
  <Paragraphs>151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Aptos</vt:lpstr>
      <vt:lpstr>Arial</vt:lpstr>
      <vt:lpstr>Arial MT</vt:lpstr>
      <vt:lpstr>Berlin Sans FB Demi</vt:lpstr>
      <vt:lpstr>Biome</vt:lpstr>
      <vt:lpstr>Biome Light</vt:lpstr>
      <vt:lpstr>Calibri</vt:lpstr>
      <vt:lpstr>Cambria</vt:lpstr>
      <vt:lpstr>Consolas</vt:lpstr>
      <vt:lpstr>Times New Roman</vt:lpstr>
      <vt:lpstr>Wingdings</vt:lpstr>
      <vt:lpstr>Office Theme</vt:lpstr>
      <vt:lpstr>Predictive Analytics for Strategic Student Retention Reducing Dropout Rates and Maximizing Institutional ROI</vt:lpstr>
      <vt:lpstr>The Challenge: Student Attrition Represents a Significant Institutional Risk</vt:lpstr>
      <vt:lpstr>The Opportunity: A Proactive, Data-Driven Approach to Student Success</vt:lpstr>
      <vt:lpstr>Our Solution: The Student Success Prediction Model</vt:lpstr>
      <vt:lpstr>The Foundation: Built on a Rich, Multi-Modal Student Dataset</vt:lpstr>
      <vt:lpstr>Uncovering the Key Predictors of Success</vt:lpstr>
      <vt:lpstr>Engineering the Optimal Model Through Rigorous Evaluation</vt:lpstr>
      <vt:lpstr>Performance in Focus: Accuracy We Can Trust for Intervention</vt:lpstr>
      <vt:lpstr>From Prediction to Actionable Intelligence</vt:lpstr>
      <vt:lpstr>Understanding the ‘Why’ Behind the Risk at Scale</vt:lpstr>
      <vt:lpstr>A Case Study: Empowering Evidence-Based Advising</vt:lpstr>
      <vt:lpstr>The Result: A Sustainable Strategic Advantage</vt:lpstr>
      <vt:lpstr>Recommendations and Next Steps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OOSA_Jomar</dc:creator>
  <cp:lastModifiedBy>OOSA_Jomar</cp:lastModifiedBy>
  <cp:revision>39</cp:revision>
  <dcterms:created xsi:type="dcterms:W3CDTF">2026-01-11T03:05:18Z</dcterms:created>
  <dcterms:modified xsi:type="dcterms:W3CDTF">2026-01-11T05:46:53Z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2026-01-11T00:00:00Z</vt:filetime>
  </property>
  <property fmtid="{D5CDD505-2E9C-101B-9397-08002B2CF9AE}" pid="3" name="LastSaved">
    <vt:filetime>2026-01-11T00:00:00Z</vt:filetime>
  </property>
</Properties>
</file>